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335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5750" y="1524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Production Architecture — AWS Multi-AZ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50" y="476250"/>
            <a:ext cx="8572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Environment: prod • Region: ap-northeast-1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6250" y="952500"/>
            <a:ext cx="1238250" cy="571500"/>
          </a:xfrm>
          <a:prstGeom prst="roundRect">
            <a:avLst/>
          </a:prstGeom>
          <a:solidFill>
            <a:srgbClr val="E9D5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Route 53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DNS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0750" y="952500"/>
            <a:ext cx="1428750" cy="571500"/>
          </a:xfrm>
          <a:prstGeom prst="roundRect">
            <a:avLst/>
          </a:prstGeom>
          <a:solidFill>
            <a:srgbClr val="FDE68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CloudFront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CDN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95750" y="952500"/>
            <a:ext cx="1238250" cy="571500"/>
          </a:xfrm>
          <a:prstGeom prst="rect">
            <a:avLst/>
          </a:prstGeom>
          <a:solidFill>
            <a:srgbClr val="D1FAE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S3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Static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15750" y="952500"/>
            <a:ext cx="1238250" cy="571500"/>
          </a:xfrm>
          <a:prstGeom prst="roundRect">
            <a:avLst/>
          </a:prstGeom>
          <a:solidFill>
            <a:srgbClr val="FBCFE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IAM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15750" y="1714500"/>
            <a:ext cx="1238250" cy="571500"/>
          </a:xfrm>
          <a:prstGeom prst="roundRect">
            <a:avLst/>
          </a:prstGeom>
          <a:solidFill>
            <a:srgbClr val="FBCFE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CloudWatch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Logs/Metrics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6250" y="2000250"/>
            <a:ext cx="10953750" cy="0"/>
          </a:xfrm>
          <a:prstGeom prst="line">
            <a:avLst/>
          </a:prstGeom>
          <a:ln w="28575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6250" y="7810500"/>
            <a:ext cx="10953750" cy="0"/>
          </a:xfrm>
          <a:prstGeom prst="line">
            <a:avLst/>
          </a:prstGeom>
          <a:ln w="28575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6250" y="2000250"/>
            <a:ext cx="0" cy="5810250"/>
          </a:xfrm>
          <a:prstGeom prst="line">
            <a:avLst/>
          </a:prstGeom>
          <a:ln w="28575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430000" y="2000250"/>
            <a:ext cx="0" cy="5810250"/>
          </a:xfrm>
          <a:prstGeom prst="line">
            <a:avLst/>
          </a:prstGeom>
          <a:ln w="28575">
            <a:solidFill>
              <a:srgbClr val="7C3A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0550" y="2057400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VPC: 10.0.0.0/16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4375" y="2476500"/>
            <a:ext cx="5191125" cy="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4375" y="7620000"/>
            <a:ext cx="5191125" cy="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4375" y="2476500"/>
            <a:ext cx="0" cy="514350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05500" y="2476500"/>
            <a:ext cx="0" cy="514350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6000" y="2476500"/>
            <a:ext cx="5143500" cy="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6000" y="7620000"/>
            <a:ext cx="5143500" cy="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6000" y="2476500"/>
            <a:ext cx="0" cy="514350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39500" y="2476500"/>
            <a:ext cx="0" cy="5143500"/>
          </a:xfrm>
          <a:prstGeom prst="line">
            <a:avLst/>
          </a:prstGeom>
          <a:ln w="19050">
            <a:solidFill>
              <a:srgbClr val="0891B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9625" y="251460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Arial"/>
              </a:rPr>
              <a:t>AZ-a (ap-northeast-1a)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1250" y="2514600"/>
            <a:ext cx="2857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891B2"/>
                </a:solidFill>
                <a:latin typeface="Arial"/>
              </a:rPr>
              <a:t>AZ-b (ap-northeast-1c)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4875" y="2809875"/>
            <a:ext cx="4810125" cy="952500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86500" y="2809875"/>
            <a:ext cx="4762500" cy="952500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1075" y="2828925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3A8A"/>
                </a:solidFill>
                <a:latin typeface="Arial"/>
              </a:rPr>
              <a:t>Public Subnet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2828925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3A8A"/>
                </a:solidFill>
                <a:latin typeface="Arial"/>
              </a:rPr>
              <a:t>Public Subnet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5875" y="3095625"/>
            <a:ext cx="1524000" cy="523875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ALB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(AZ-a)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500" y="3095625"/>
            <a:ext cx="1524000" cy="523875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ALB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(AZ-b)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71875" y="3095625"/>
            <a:ext cx="1428750" cy="523875"/>
          </a:xfrm>
          <a:prstGeom prst="rect">
            <a:avLst/>
          </a:prstGeom>
          <a:solidFill>
            <a:srgbClr val="FEF3C7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NAT GW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(AZ-a)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53500" y="3095625"/>
            <a:ext cx="1428750" cy="523875"/>
          </a:xfrm>
          <a:prstGeom prst="rect">
            <a:avLst/>
          </a:prstGeom>
          <a:solidFill>
            <a:srgbClr val="FEF3C7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NAT GW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(AZ-b)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4875" y="4000500"/>
            <a:ext cx="4810125" cy="142875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286500" y="4000500"/>
            <a:ext cx="4762500" cy="1428750"/>
          </a:xfrm>
          <a:prstGeom prst="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81075" y="4019550"/>
            <a:ext cx="2476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3F12"/>
                </a:solidFill>
                <a:latin typeface="Arial"/>
              </a:rPr>
              <a:t>Private Subnet (App)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2700" y="4019550"/>
            <a:ext cx="2476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3F12"/>
                </a:solidFill>
                <a:latin typeface="Arial"/>
              </a:rPr>
              <a:t>Private Subnet (App)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5875" y="4381500"/>
            <a:ext cx="1809750" cy="857250"/>
          </a:xfrm>
          <a:prstGeom prst="roundRect">
            <a:avLst/>
          </a:prstGeom>
          <a:solidFill>
            <a:srgbClr val="FED7A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ECS Fargate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App Service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(AZ-a)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500" y="4381500"/>
            <a:ext cx="1809750" cy="857250"/>
          </a:xfrm>
          <a:prstGeom prst="roundRect">
            <a:avLst/>
          </a:prstGeom>
          <a:solidFill>
            <a:srgbClr val="FED7A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ECS Fargate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App Service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(AZ-b)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67125" y="4476750"/>
            <a:ext cx="1524000" cy="666750"/>
          </a:xfrm>
          <a:prstGeom prst="roundRect">
            <a:avLst/>
          </a:prstGeom>
          <a:solidFill>
            <a:srgbClr val="FECAC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ElastiCache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Redis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8750" y="4476750"/>
            <a:ext cx="1524000" cy="666750"/>
          </a:xfrm>
          <a:prstGeom prst="roundRect">
            <a:avLst/>
          </a:prstGeom>
          <a:solidFill>
            <a:srgbClr val="FECAC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ElastiCache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Redis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4875" y="5667375"/>
            <a:ext cx="4810125" cy="1762125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286500" y="5667375"/>
            <a:ext cx="4762500" cy="1762125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81075" y="5686425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Arial"/>
              </a:rPr>
              <a:t>DB Subnet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2700" y="5686425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532D"/>
                </a:solidFill>
                <a:latin typeface="Arial"/>
              </a:rPr>
              <a:t>DB Subnet</a:t>
            </a:r>
          </a:p>
        </p:txBody>
      </p:sp>
      <p:sp>
        <p:nvSpPr>
          <p:cNvPr id="44" name="Can 43"/>
          <p:cNvSpPr/>
          <p:nvPr/>
        </p:nvSpPr>
        <p:spPr>
          <a:xfrm>
            <a:off x="1857375" y="6143625"/>
            <a:ext cx="1714500" cy="952500"/>
          </a:xfrm>
          <a:prstGeom prst="can">
            <a:avLst/>
          </a:prstGeom>
          <a:solidFill>
            <a:srgbClr val="BBF7D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RDS PostgreSQL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Primary</a:t>
            </a:r>
          </a:p>
        </p:txBody>
      </p:sp>
      <p:sp>
        <p:nvSpPr>
          <p:cNvPr id="45" name="Can 44"/>
          <p:cNvSpPr/>
          <p:nvPr/>
        </p:nvSpPr>
        <p:spPr>
          <a:xfrm>
            <a:off x="7239000" y="6143625"/>
            <a:ext cx="1714500" cy="952500"/>
          </a:xfrm>
          <a:prstGeom prst="can">
            <a:avLst/>
          </a:prstGeom>
          <a:solidFill>
            <a:srgbClr val="BBF7D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RDS PostgreSQL</a:t>
            </a:r>
          </a:p>
          <a:p>
            <a:pPr algn="ctr"/>
            <a:r>
              <a:rPr sz="1100" b="1">
                <a:solidFill>
                  <a:srgbClr val="000000"/>
                </a:solidFill>
              </a:rPr>
              <a:t>Read Replica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14500" y="1238250"/>
            <a:ext cx="47625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619500" y="1238250"/>
            <a:ext cx="47625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667125" y="800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origin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2047875" y="1524000"/>
            <a:ext cx="857250" cy="1571625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905125" y="1524000"/>
            <a:ext cx="4524375" cy="1571625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095500" y="16002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HTTPS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047875" y="3619500"/>
            <a:ext cx="142875" cy="76200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429500" y="3619500"/>
            <a:ext cx="142875" cy="76200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095625" y="4810125"/>
            <a:ext cx="57150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477250" y="4810125"/>
            <a:ext cx="57150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143250" y="447675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GET/SET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190750" y="5238750"/>
            <a:ext cx="523875" cy="904875"/>
          </a:xfrm>
          <a:prstGeom prst="line">
            <a:avLst/>
          </a:prstGeom>
          <a:ln w="444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3381375" y="5238750"/>
            <a:ext cx="3667125" cy="904875"/>
          </a:xfrm>
          <a:prstGeom prst="line">
            <a:avLst/>
          </a:prstGeom>
          <a:ln w="317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809875" y="5614987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rial"/>
              </a:rPr>
              <a:t>write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572375" y="5238750"/>
            <a:ext cx="523875" cy="904875"/>
          </a:xfrm>
          <a:prstGeom prst="line">
            <a:avLst/>
          </a:prstGeom>
          <a:ln w="4445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524750" y="5614987"/>
            <a:ext cx="95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891B2"/>
                </a:solidFill>
                <a:latin typeface="Arial"/>
              </a:rPr>
              <a:t>read-only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286250" y="2714625"/>
            <a:ext cx="0" cy="38100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667875" y="2714625"/>
            <a:ext cx="0" cy="381000"/>
          </a:xfrm>
          <a:prstGeom prst="line">
            <a:avLst/>
          </a:prstGeom>
          <a:ln w="222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667125" y="2543175"/>
            <a:ext cx="952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Outbound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2190750" y="2000250"/>
            <a:ext cx="9525000" cy="323850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572375" y="2000250"/>
            <a:ext cx="4143375" cy="323850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047875" y="2000250"/>
            <a:ext cx="9667875" cy="161925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76250" y="8096250"/>
            <a:ext cx="9144000" cy="3429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590550" y="8191500"/>
            <a:ext cx="190500" cy="152400"/>
          </a:xfrm>
          <a:prstGeom prst="rect">
            <a:avLst/>
          </a:prstGeom>
          <a:solidFill>
            <a:srgbClr val="DBEAFE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38200" y="81915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Public Subnet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33575" y="8191500"/>
            <a:ext cx="190500" cy="152400"/>
          </a:xfrm>
          <a:prstGeom prst="rect">
            <a:avLst/>
          </a:prstGeom>
          <a:solidFill>
            <a:srgbClr val="FEF9C3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2181225" y="81915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Private Subnet (App)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3325" y="8191500"/>
            <a:ext cx="190500" cy="152400"/>
          </a:xfrm>
          <a:prstGeom prst="rect">
            <a:avLst/>
          </a:prstGeom>
          <a:solidFill>
            <a:srgbClr val="DCFCE7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990975" y="81915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DB Subnet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19650" y="8191500"/>
            <a:ext cx="190500" cy="152400"/>
          </a:xfrm>
          <a:prstGeom prst="rect">
            <a:avLst/>
          </a:prstGeom>
          <a:solidFill>
            <a:srgbClr val="E9D5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067300" y="81915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External / DNS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29350" y="8191500"/>
            <a:ext cx="190500" cy="152400"/>
          </a:xfrm>
          <a:prstGeom prst="rect">
            <a:avLst/>
          </a:prstGeom>
          <a:solidFill>
            <a:srgbClr val="FECACA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477000" y="8191500"/>
            <a:ext cx="171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