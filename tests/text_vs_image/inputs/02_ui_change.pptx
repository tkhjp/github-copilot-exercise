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7810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14300"/>
            <a:ext cx="857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Arial"/>
              </a:rPr>
              <a:t>UI Change Request — ShopApp Product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191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Reviewer: PM / Design — 2026-04-10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742950"/>
            <a:ext cx="1173480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81000" y="857250"/>
            <a:ext cx="7048500" cy="6381750"/>
          </a:xfrm>
          <a:prstGeom prst="rect">
            <a:avLst/>
          </a:prstGeom>
          <a:solidFill>
            <a:srgbClr val="FFFFFF"/>
          </a:solidFill>
          <a:ln w="190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81000" y="857250"/>
            <a:ext cx="7048500" cy="47625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71500" y="981075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ShopApp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6477000" y="971550"/>
            <a:ext cx="762000" cy="247650"/>
          </a:xfrm>
          <a:prstGeom prst="rect">
            <a:avLst/>
          </a:prstGeom>
          <a:solidFill>
            <a:srgbClr val="374151"/>
          </a:solidFill>
          <a:ln w="952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77000" y="99060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Login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524000"/>
            <a:ext cx="55245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66750" y="1600200"/>
            <a:ext cx="2857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Arial"/>
              </a:rPr>
              <a:t>Search products...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1250" y="1524000"/>
            <a:ext cx="952500" cy="342900"/>
          </a:xfrm>
          <a:prstGeom prst="rect">
            <a:avLst/>
          </a:prstGeom>
          <a:solidFill>
            <a:srgbClr val="2563EB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191250" y="1600200"/>
            <a:ext cx="95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2190750"/>
            <a:ext cx="1714500" cy="276225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5800" y="2286000"/>
            <a:ext cx="1524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Filters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850" y="2667000"/>
            <a:ext cx="152400" cy="152400"/>
          </a:xfrm>
          <a:prstGeom prst="rect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3450" y="2647950"/>
            <a:ext cx="1143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Electronics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850" y="2971800"/>
            <a:ext cx="152400" cy="152400"/>
          </a:xfrm>
          <a:prstGeom prst="rect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3450" y="2952750"/>
            <a:ext cx="1143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Books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850" y="3276600"/>
            <a:ext cx="152400" cy="152400"/>
          </a:xfrm>
          <a:prstGeom prst="rect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3450" y="3257550"/>
            <a:ext cx="1143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Clothing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714750"/>
            <a:ext cx="1524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Price range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4850" y="4095750"/>
            <a:ext cx="1447800" cy="0"/>
          </a:xfrm>
          <a:prstGeom prst="line">
            <a:avLst/>
          </a:prstGeom>
          <a:ln w="3175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57250" y="4038600"/>
            <a:ext cx="114300" cy="1143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Oval 24"/>
          <p:cNvSpPr/>
          <p:nvPr/>
        </p:nvSpPr>
        <p:spPr>
          <a:xfrm>
            <a:off x="1885950" y="4038600"/>
            <a:ext cx="114300" cy="1143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5800" y="4238625"/>
            <a:ext cx="1524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¥0 - ¥50,000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76500" y="2190750"/>
            <a:ext cx="4762500" cy="381000"/>
          </a:xfrm>
          <a:prstGeom prst="rect">
            <a:avLst/>
          </a:prstGeom>
          <a:solidFill>
            <a:srgbClr val="E5E7EB"/>
          </a:solidFill>
          <a:ln w="952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571750" y="2286000"/>
            <a:ext cx="20002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Product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7250" y="2286000"/>
            <a:ext cx="95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Price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228600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Stock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76500" y="2571750"/>
            <a:ext cx="47625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571750" y="2667000"/>
            <a:ext cx="20002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Wireless Headphones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7250" y="2667000"/>
            <a:ext cx="95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¥12,800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0" y="266700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42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76500" y="2952750"/>
            <a:ext cx="4762500" cy="3810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2571750" y="3048000"/>
            <a:ext cx="20002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USB-C Hub (7-in-1)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7250" y="3048000"/>
            <a:ext cx="95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¥4,500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5000" y="304800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118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76500" y="3333750"/>
            <a:ext cx="47625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2571750" y="3429000"/>
            <a:ext cx="20002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Mech. Keyboard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7250" y="3429000"/>
            <a:ext cx="95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¥15,200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0" y="342900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33825" y="3905250"/>
            <a:ext cx="3238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933825" y="3962400"/>
            <a:ext cx="3238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Arial"/>
              </a:rPr>
              <a:t>&lt;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14825" y="3905250"/>
            <a:ext cx="323850" cy="285750"/>
          </a:xfrm>
          <a:prstGeom prst="rect">
            <a:avLst/>
          </a:prstGeom>
          <a:solidFill>
            <a:srgbClr val="2563EB"/>
          </a:solidFill>
          <a:ln w="952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314825" y="3962400"/>
            <a:ext cx="3238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5825" y="3905250"/>
            <a:ext cx="3238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695825" y="3962400"/>
            <a:ext cx="3238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Arial"/>
              </a:rPr>
              <a:t>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76825" y="3905250"/>
            <a:ext cx="3238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076825" y="3962400"/>
            <a:ext cx="3238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Arial"/>
              </a:rPr>
              <a:t>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57825" y="3905250"/>
            <a:ext cx="3238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457825" y="3962400"/>
            <a:ext cx="3238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Arial"/>
              </a:rPr>
              <a:t>&gt;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810500" y="1143000"/>
            <a:ext cx="2476500" cy="904875"/>
          </a:xfrm>
          <a:prstGeom prst="roundRect">
            <a:avLst/>
          </a:prstGeom>
          <a:solidFill>
            <a:srgbClr val="FEF2F2"/>
          </a:solidFill>
          <a:ln w="222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5250" rIns="95250" tIns="76200" bIns="76200"/>
          <a:lstStyle/>
          <a:p>
            <a:pPr algn="l"/>
            <a:r>
              <a:rPr sz="1100" b="1">
                <a:solidFill>
                  <a:srgbClr val="991B1B"/>
                </a:solidFill>
              </a:rPr>
              <a:t>1. Add a "Remember last search" checkbox below the search bar.</a:t>
            </a:r>
          </a:p>
        </p:txBody>
      </p:sp>
      <p:cxnSp>
        <p:nvCxnSpPr>
          <p:cNvPr id="54" name="Connector 53"/>
          <p:cNvCxnSpPr/>
          <p:nvPr/>
        </p:nvCxnSpPr>
        <p:spPr>
          <a:xfrm flipH="1">
            <a:off x="2000250" y="1595437"/>
            <a:ext cx="7048500" cy="309563"/>
          </a:xfrm>
          <a:prstGeom prst="line">
            <a:avLst/>
          </a:prstGeom>
          <a:ln w="22225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7810500" y="2190750"/>
            <a:ext cx="2476500" cy="904875"/>
          </a:xfrm>
          <a:prstGeom prst="roundRect">
            <a:avLst/>
          </a:prstGeom>
          <a:solidFill>
            <a:srgbClr val="FEF2F2"/>
          </a:solidFill>
          <a:ln w="222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5250" rIns="95250" tIns="76200" bIns="76200"/>
          <a:lstStyle/>
          <a:p>
            <a:pPr algn="l"/>
            <a:r>
              <a:rPr sz="1100" b="1">
                <a:solidFill>
                  <a:srgbClr val="991B1B"/>
                </a:solidFill>
              </a:rPr>
              <a:t>2. Change the Search button color from blue to green.</a:t>
            </a:r>
          </a:p>
        </p:txBody>
      </p:sp>
      <p:cxnSp>
        <p:nvCxnSpPr>
          <p:cNvPr id="56" name="Connector 55"/>
          <p:cNvCxnSpPr/>
          <p:nvPr/>
        </p:nvCxnSpPr>
        <p:spPr>
          <a:xfrm flipH="1" flipV="1">
            <a:off x="6667500" y="1695450"/>
            <a:ext cx="2381250" cy="947737"/>
          </a:xfrm>
          <a:prstGeom prst="line">
            <a:avLst/>
          </a:prstGeom>
          <a:ln w="22225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7810500" y="3429000"/>
            <a:ext cx="2476500" cy="904875"/>
          </a:xfrm>
          <a:prstGeom prst="roundRect">
            <a:avLst/>
          </a:prstGeom>
          <a:solidFill>
            <a:srgbClr val="FEF2F2"/>
          </a:solidFill>
          <a:ln w="222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5250" rIns="95250" tIns="76200" bIns="76200"/>
          <a:lstStyle/>
          <a:p>
            <a:pPr algn="l"/>
            <a:r>
              <a:rPr sz="1100" b="1">
                <a:solidFill>
                  <a:srgbClr val="991B1B"/>
                </a:solidFill>
              </a:rPr>
              <a:t>3. Add a CSV export button on the results table top-right corner.</a:t>
            </a:r>
          </a:p>
        </p:txBody>
      </p:sp>
      <p:cxnSp>
        <p:nvCxnSpPr>
          <p:cNvPr id="58" name="Connector 57"/>
          <p:cNvCxnSpPr/>
          <p:nvPr/>
        </p:nvCxnSpPr>
        <p:spPr>
          <a:xfrm flipH="1" flipV="1">
            <a:off x="7048500" y="2333625"/>
            <a:ext cx="2000250" cy="1547812"/>
          </a:xfrm>
          <a:prstGeom prst="line">
            <a:avLst/>
          </a:prstGeom>
          <a:ln w="22225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7810500" y="4667250"/>
            <a:ext cx="2476500" cy="904875"/>
          </a:xfrm>
          <a:prstGeom prst="roundRect">
            <a:avLst/>
          </a:prstGeom>
          <a:solidFill>
            <a:srgbClr val="FEF2F2"/>
          </a:solidFill>
          <a:ln w="222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5250" rIns="95250" tIns="76200" bIns="76200"/>
          <a:lstStyle/>
          <a:p>
            <a:pPr algn="l"/>
            <a:r>
              <a:rPr sz="1100" b="1">
                <a:solidFill>
                  <a:srgbClr val="991B1B"/>
                </a:solidFill>
              </a:rPr>
              <a:t>4. Show 20 items per page instead of the current 10.</a:t>
            </a:r>
          </a:p>
        </p:txBody>
      </p:sp>
      <p:cxnSp>
        <p:nvCxnSpPr>
          <p:cNvPr id="60" name="Connector 59"/>
          <p:cNvCxnSpPr/>
          <p:nvPr/>
        </p:nvCxnSpPr>
        <p:spPr>
          <a:xfrm flipH="1" flipV="1">
            <a:off x="4857750" y="4048125"/>
            <a:ext cx="4191000" cy="1071562"/>
          </a:xfrm>
          <a:prstGeom prst="line">
            <a:avLst/>
          </a:prstGeom>
          <a:ln w="22225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7810500" y="6191250"/>
            <a:ext cx="2286000" cy="857250"/>
          </a:xfrm>
          <a:prstGeom prst="rect">
            <a:avLst/>
          </a:prstGeom>
          <a:solidFill>
            <a:srgbClr val="FEFCE8"/>
          </a:solidFill>
          <a:ln w="9525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924800" y="626745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854D0E"/>
                </a:solidFill>
                <a:latin typeface="Arial"/>
              </a:rPr>
              <a:t>Legend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924800" y="6572250"/>
            <a:ext cx="285750" cy="0"/>
          </a:xfrm>
          <a:prstGeom prst="line">
            <a:avLst/>
          </a:prstGeom>
          <a:ln w="22225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8286750" y="6477000"/>
            <a:ext cx="1714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54D0E"/>
                </a:solidFill>
                <a:latin typeface="Arial"/>
              </a:rPr>
              <a:t>Red = change request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924800" y="6724650"/>
            <a:ext cx="285750" cy="17145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8286750" y="6743700"/>
            <a:ext cx="1714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54D0E"/>
                </a:solidFill>
                <a:latin typeface="Arial"/>
              </a:rPr>
              <a:t>Gray = existing UI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