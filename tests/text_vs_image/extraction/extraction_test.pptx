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勤怠アプリ画面レビュー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勤怠管理 v3.2 - 田中太郎 | Screen-ID: TS-042 | 部署: 営業 1 課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047750"/>
            <a:ext cx="9144000" cy="67627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" y="1047750"/>
            <a:ext cx="91440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04900"/>
            <a:ext cx="2857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勤怠管理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1123950"/>
            <a:ext cx="3238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</a:rPr>
              <a:t>田中 太郎 さん    🔔(3) ⚙ ⏻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1428750"/>
            <a:ext cx="495300" cy="285750"/>
          </a:xfrm>
          <a:prstGeom prst="rect">
            <a:avLst/>
          </a:prstGeom>
          <a:solidFill>
            <a:srgbClr val="2563EB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1495425"/>
            <a:ext cx="4953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今月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1495425"/>
            <a:ext cx="4953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先月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1495425"/>
            <a:ext cx="6286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</a:rPr>
              <a:t>全期間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0500" y="1447800"/>
            <a:ext cx="1504950" cy="247650"/>
          </a:xfrm>
          <a:prstGeom prst="rect">
            <a:avLst/>
          </a:prstGeom>
          <a:solidFill>
            <a:srgbClr val="F9FAFB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7650" y="1495425"/>
            <a:ext cx="1409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部署: すべて 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1828800"/>
            <a:ext cx="1428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19050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日付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2150" y="1828800"/>
            <a:ext cx="666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9300" y="19050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出勤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8900" y="1828800"/>
            <a:ext cx="666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86050" y="19050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退勤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5650" y="1828800"/>
            <a:ext cx="666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2800" y="19050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実働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2400" y="1828800"/>
            <a:ext cx="666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19550" y="19050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残業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29150" y="1828800"/>
            <a:ext cx="95250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6300" y="19050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ステータス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81650" y="1828800"/>
            <a:ext cx="266700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38800" y="19050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備考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3400" y="2133600"/>
            <a:ext cx="1428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550" y="22098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2026-04-01 (水)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2150" y="21336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9300" y="22098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09:02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28900" y="21336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86050" y="22098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18:15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5650" y="21336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2800" y="22098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08:13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62400" y="21336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19550" y="22098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00:13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9150" y="21336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6300" y="22098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承認済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81650" y="2133600"/>
            <a:ext cx="26670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8800" y="22098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533400" y="2438400"/>
            <a:ext cx="1428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0550" y="25146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2026-04-02 (木)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62150" y="24384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19300" y="25146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08:58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28900" y="24384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86050" y="25146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19:40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95650" y="24384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52800" y="25146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09:42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62400" y="24384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19550" y="25146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01:42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29150" y="24384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86300" y="25146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承認待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81650" y="2438400"/>
            <a:ext cx="26670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38800" y="25146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533400" y="2743200"/>
            <a:ext cx="1428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0550" y="28194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2026-04-03 (金)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62150" y="27432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19300" y="28194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09:15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28900" y="27432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86050" y="28194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17:50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95650" y="27432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52800" y="28194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07:35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62400" y="27432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19550" y="28194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29150" y="27432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86300" y="28194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要修正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81650" y="2743200"/>
            <a:ext cx="26670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38800" y="28194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代休消化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3400" y="3048000"/>
            <a:ext cx="1428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0550" y="31242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2026-04-06 (月)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62150" y="30480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19300" y="31242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09:00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28900" y="30480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86050" y="31242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18:00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95650" y="30480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352800" y="31242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08:00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62400" y="30480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019550" y="31242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00:00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29150" y="30480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86300" y="31242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承認済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581650" y="3048000"/>
            <a:ext cx="26670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638800" y="31242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533400" y="3352800"/>
            <a:ext cx="1428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0550" y="34290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2026-04-07 (火)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62150" y="33528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19300" y="34290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08:50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28900" y="33528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86050" y="34290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20:30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95650" y="33528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52800" y="34290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10:40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962400" y="33528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19550" y="34290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02:40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629150" y="33528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86300" y="34290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承認待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81650" y="3352800"/>
            <a:ext cx="26670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38800" y="34290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外出多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3400" y="3657600"/>
            <a:ext cx="1428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0550" y="37338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2026-04-08 (水)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62150" y="36576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019300" y="37338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09:05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628900" y="36576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86050" y="37338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18:20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95650" y="36576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52800" y="37338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08:15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62400" y="36576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019550" y="37338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00:15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29150" y="36576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86300" y="37338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承認済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81650" y="3657600"/>
            <a:ext cx="26670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38800" y="37338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113" name="Rectangle 112"/>
          <p:cNvSpPr/>
          <p:nvPr/>
        </p:nvSpPr>
        <p:spPr>
          <a:xfrm>
            <a:off x="533400" y="3962400"/>
            <a:ext cx="1428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90550" y="40386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2026-04-09 (木)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62150" y="39624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19300" y="40386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09:00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628900" y="39624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86050" y="40386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17:30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95650" y="39624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52800" y="40386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07:30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962400" y="3962400"/>
            <a:ext cx="666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019550" y="40386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29150" y="39624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686300" y="40386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要修正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581650" y="3962400"/>
            <a:ext cx="26670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638800" y="40386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半休 (午後)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33400" y="4267200"/>
            <a:ext cx="1428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90550" y="43434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2026-04-10 (金)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962150" y="42672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019300" y="43434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08:55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28900" y="42672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686050" y="43434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18:45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95650" y="42672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352800" y="43434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08:50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962400" y="4267200"/>
            <a:ext cx="666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019550" y="43434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00:50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629150" y="42672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4686300" y="43434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承認待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581650" y="4267200"/>
            <a:ext cx="26670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638800" y="43434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/>
            </a:r>
          </a:p>
        </p:txBody>
      </p:sp>
      <p:sp>
        <p:nvSpPr>
          <p:cNvPr id="141" name="Rectangle 140"/>
          <p:cNvSpPr/>
          <p:nvPr/>
        </p:nvSpPr>
        <p:spPr>
          <a:xfrm>
            <a:off x="533400" y="4572000"/>
            <a:ext cx="1428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90550" y="464820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</a:rPr>
              <a:t>合計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962150" y="4572000"/>
            <a:ext cx="666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019300" y="46482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</a:rPr>
              <a:t>—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628900" y="4572000"/>
            <a:ext cx="666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86050" y="46482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</a:rPr>
              <a:t>—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295650" y="4572000"/>
            <a:ext cx="666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352800" y="46482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</a:rPr>
              <a:t>60:25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962400" y="4572000"/>
            <a:ext cx="666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019550" y="46482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</a:rPr>
              <a:t>5:25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29150" y="4572000"/>
            <a:ext cx="95250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686300" y="4648200"/>
            <a:ext cx="8382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581650" y="4572000"/>
            <a:ext cx="266700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638800" y="464820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11827"/>
                </a:solidFill>
              </a:rPr>
              <a:t>8 営業日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33400" y="5067300"/>
            <a:ext cx="1009650" cy="28575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33400" y="5133975"/>
            <a:ext cx="10096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エクスポート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619250" y="5067300"/>
            <a:ext cx="742950" cy="28575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619250" y="513397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新規追加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438400" y="5067300"/>
            <a:ext cx="476250" cy="28575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438400" y="5133975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編集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990850" y="5067300"/>
            <a:ext cx="476250" cy="28575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990850" y="5133975"/>
            <a:ext cx="476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削除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9906000" y="1238250"/>
            <a:ext cx="4762500" cy="76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020300" y="131445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020300" y="1581150"/>
            <a:ext cx="4533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1B1B"/>
                </a:solidFill>
              </a:rPr>
              <a:t>目立たせて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906000" y="2152650"/>
            <a:ext cx="4762500" cy="76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020300" y="222885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020300" y="2495550"/>
            <a:ext cx="4533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1B1B"/>
                </a:solidFill>
              </a:rPr>
              <a:t>警告つけて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906000" y="3067050"/>
            <a:ext cx="4762500" cy="76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020300" y="314325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020300" y="3409950"/>
            <a:ext cx="4533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1B1B"/>
                </a:solidFill>
              </a:rPr>
              <a:t>→ 右へ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9906000" y="3981450"/>
            <a:ext cx="4762500" cy="76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020300" y="405765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020300" y="4324350"/>
            <a:ext cx="4533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1B1B"/>
                </a:solidFill>
              </a:rPr>
              <a:t>曜日いらん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906000" y="4895850"/>
            <a:ext cx="4762500" cy="76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0020300" y="497205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020300" y="5238750"/>
            <a:ext cx="4533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1B1B"/>
                </a:solidFill>
              </a:rPr>
              <a:t>ソート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9906000" y="5810250"/>
            <a:ext cx="4762500" cy="76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020300" y="5886450"/>
            <a:ext cx="4533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</a:rPr>
              <a:t>C6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0020300" y="6153150"/>
            <a:ext cx="45339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91B1B"/>
                </a:solidFill>
              </a:rPr>
              <a:t>月次出力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© 2026 ACME Corp. / Confidential / Last sync: 2026-04-10 20:48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検索画面 Before / After 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TICKET-8421 | Review: 2026-03-15 | 鈴木 (UX Lead) | Diff scope: search-ui 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5750" y="1047750"/>
            <a:ext cx="7191375" cy="62865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5750" y="1047750"/>
            <a:ext cx="7191375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050" y="1104900"/>
            <a:ext cx="69627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Before (現行 v2.4)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050" y="1409700"/>
            <a:ext cx="6962775" cy="20955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7800"/>
            <a:ext cx="68484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Home | Search | Help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" y="1714500"/>
            <a:ext cx="6238875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1175"/>
            <a:ext cx="61436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キーワード入力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9875" y="1714500"/>
            <a:ext cx="742950" cy="285750"/>
          </a:xfrm>
          <a:prstGeom prst="rect">
            <a:avLst/>
          </a:prstGeom>
          <a:solidFill>
            <a:srgbClr val="2563EB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9875" y="178117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" y="20764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Filters: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50" y="224790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Books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050" y="241935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Electronics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50" y="259080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Clothing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50" y="2800350"/>
            <a:ext cx="69627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¥0 - ¥50,000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" y="3048000"/>
            <a:ext cx="69627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結果: 12 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0050" y="3257550"/>
            <a:ext cx="6962775" cy="3429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295650"/>
            <a:ext cx="68484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Wireless Headphones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48050"/>
            <a:ext cx="6848475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¥12,800  /  在庫 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0050" y="3638550"/>
            <a:ext cx="6962775" cy="3429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76650"/>
            <a:ext cx="68484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USB-C Hub (7-in-1)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829050"/>
            <a:ext cx="6848475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¥4,500  /  在庫 118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" y="4019550"/>
            <a:ext cx="6962775" cy="3429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57650"/>
            <a:ext cx="68484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Mech. Keyboard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10050"/>
            <a:ext cx="6848475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¥15,200  /  在庫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50" y="4476750"/>
            <a:ext cx="696277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&lt; 1 2 3 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0050" y="7067550"/>
            <a:ext cx="69627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利用規約  |  プライバシー  |  FAQ  |  お問い合わせ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62875" y="1047750"/>
            <a:ext cx="7191375" cy="62865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62875" y="1047750"/>
            <a:ext cx="7191375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77175" y="1104900"/>
            <a:ext cx="696277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After (改修後 v3.0)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77175" y="1409700"/>
            <a:ext cx="6962775" cy="20955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34325" y="1447800"/>
            <a:ext cx="68484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Home | Search | お気に入り ⭐ | 履歴 ⏱ | Help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77175" y="1714500"/>
            <a:ext cx="6238875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4325" y="1781175"/>
            <a:ext cx="61436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キーワードまたは商品コード (例: ABC-123)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097000" y="1714500"/>
            <a:ext cx="742950" cy="285750"/>
          </a:xfrm>
          <a:prstGeom prst="rect">
            <a:avLst/>
          </a:prstGeom>
          <a:solidFill>
            <a:srgbClr val="2563EB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97000" y="1781175"/>
            <a:ext cx="7429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🔍 検索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77175" y="2076450"/>
            <a:ext cx="6962775" cy="2286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34325" y="2124075"/>
            <a:ext cx="68484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並び順: 関連度順 ▼ (関連度 / 価格昇 / 新着 / 評価)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7175" y="23431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Filters: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77175" y="251460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Books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77175" y="268605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  └ Programming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7175" y="285750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  └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77175" y="302895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Electronics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77175" y="320040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  └ Audio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77175" y="337185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  └ PC 周辺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77175" y="3543300"/>
            <a:ext cx="69627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☐ Clothing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77175" y="3752850"/>
            <a:ext cx="69627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¥0 ─●━━━●─ ¥50,000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7175" y="3924300"/>
            <a:ext cx="69627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ブランド: Sony / Logitech / Apple / その他 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77175" y="4114800"/>
            <a:ext cx="69627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☑ 在庫あり のみ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77175" y="4381500"/>
            <a:ext cx="69627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結果: 12 件 / 並び順: 関連度順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77175" y="4591050"/>
            <a:ext cx="6962775" cy="3429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34325" y="4629150"/>
            <a:ext cx="68484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Wireless Headphones (Sony WH-1000XM5)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4325" y="4781550"/>
            <a:ext cx="6848475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¥12,800  /  在庫 42 / ⭐ 4.5 (1,240 件)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77175" y="4972050"/>
            <a:ext cx="6962775" cy="3429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34325" y="5010150"/>
            <a:ext cx="68484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USB-C Hub (7-in-1) - Logitech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34325" y="5162550"/>
            <a:ext cx="6848475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¥4,500  /  在庫 118 / ⭐ 4.2 (820 件)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77175" y="5353050"/>
            <a:ext cx="6962775" cy="3429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34325" y="5391150"/>
            <a:ext cx="6848475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Mech. Keyboard (Tactile Brown)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34325" y="5543550"/>
            <a:ext cx="6848475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¥15,200  /  在庫 7 / ⭐ 4.7 (510 件)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77175" y="5810250"/>
            <a:ext cx="696277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&lt; 1 2 3 4 5 … 20 &gt;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77175" y="7067550"/>
            <a:ext cx="6962775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利用規約  |  プライバシー  |  FAQ  |  お問い合わせ  |  サイトマップ  |  API ドキュメント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1000" y="7410450"/>
            <a:ext cx="2667000" cy="2667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7477125"/>
            <a:ext cx="25146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D1 入力ヒント追加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7410450"/>
            <a:ext cx="2667000" cy="2667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76600" y="7477125"/>
            <a:ext cx="25146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D2 フィルタ細かく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1000" y="7715250"/>
            <a:ext cx="2667000" cy="2667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7781925"/>
            <a:ext cx="25146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D3 並び替え追加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0" y="7715250"/>
            <a:ext cx="2667000" cy="2667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76600" y="7781925"/>
            <a:ext cx="25146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D4 メニュー増えた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1000" y="8020050"/>
            <a:ext cx="2667000" cy="2667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8086725"/>
            <a:ext cx="25146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D5 ページ拡張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Design Review Doc v1.2 / Internal / Sprint 24 / Page 7 of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購入フロー 5 画面操作手順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UI Build ui-v2.1 | Session timeout: 30 min | Updated 2026-04-10 | Browser: Chrome 124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400175" y="1085850"/>
            <a:ext cx="457200" cy="2667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00175" y="1123950"/>
            <a:ext cx="457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7" name="Rectangle 6"/>
          <p:cNvSpPr/>
          <p:nvPr/>
        </p:nvSpPr>
        <p:spPr>
          <a:xfrm>
            <a:off x="285750" y="1428750"/>
            <a:ext cx="2686050" cy="5715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5750" y="1428750"/>
            <a:ext cx="268605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000" y="1485900"/>
            <a:ext cx="2495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ログイン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18478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メール: taro@example.com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20574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パスワード: ●●●●●●●●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22669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[ ログイン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24765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→ パスワードを忘れた?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26860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ソーシャル: Google / Apple / LINE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9900" y="4286250"/>
            <a:ext cx="228600" cy="0"/>
          </a:xfrm>
          <a:prstGeom prst="line">
            <a:avLst/>
          </a:prstGeom>
          <a:ln w="381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391025" y="1085850"/>
            <a:ext cx="457200" cy="2667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1025" y="1123950"/>
            <a:ext cx="457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6600" y="1428750"/>
            <a:ext cx="2686050" cy="5715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76600" y="1428750"/>
            <a:ext cx="268605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1850" y="1485900"/>
            <a:ext cx="2495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商品選択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1850" y="18478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🔍 検索バー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1850" y="20574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カテゴリ: Books &gt; Programming &gt;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71850" y="22669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商品 1: Python 入門 第3版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1850" y="24765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  ¥4,200 / 在庫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1850" y="26860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商品 2: 実践 Django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71850" y="28956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  ¥3,500 / 在庫 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1850" y="31051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商品 3: マイクロサービス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1850" y="33147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  ¥2,800 / 在庫 ×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00750" y="4286250"/>
            <a:ext cx="228600" cy="0"/>
          </a:xfrm>
          <a:prstGeom prst="line">
            <a:avLst/>
          </a:prstGeom>
          <a:ln w="381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381875" y="1085850"/>
            <a:ext cx="457200" cy="2667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1875" y="1123950"/>
            <a:ext cx="457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7450" y="1428750"/>
            <a:ext cx="2686050" cy="5715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7450" y="1428750"/>
            <a:ext cx="268605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2700" y="1485900"/>
            <a:ext cx="2495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カート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2700" y="18478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Python 入門 第3版 ×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2700" y="20574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  ¥4,200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2700" y="22669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実践 Django ×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2700" y="24765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  ¥3,500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2700" y="26860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─────────────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2700" y="28956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商品計: ¥7,700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2700" y="31051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配送料: ¥500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2700" y="33147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小計: ¥8,200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2700" y="35242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消費税 (10%): ¥820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62700" y="37338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合計: ¥9,020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991600" y="4286250"/>
            <a:ext cx="228600" cy="0"/>
          </a:xfrm>
          <a:prstGeom prst="line">
            <a:avLst/>
          </a:prstGeom>
          <a:ln w="381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10372725" y="1085850"/>
            <a:ext cx="457200" cy="2667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72725" y="1123950"/>
            <a:ext cx="457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58300" y="1428750"/>
            <a:ext cx="2686050" cy="5715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8300" y="1428750"/>
            <a:ext cx="268605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53550" y="1485900"/>
            <a:ext cx="2495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決済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53550" y="18478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💳 クレジットカード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53550" y="20574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番号: **** **** **** 1234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53550" y="22669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有効期限: 12/28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53550" y="24765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CVV: ●●●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53550" y="26860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名義: TARO YAMADA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53550" y="28956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3D セキュア: 本人認証 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53550" y="31051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[ ¥9,020 を支払う ]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982450" y="4286250"/>
            <a:ext cx="228600" cy="0"/>
          </a:xfrm>
          <a:prstGeom prst="line">
            <a:avLst/>
          </a:prstGeom>
          <a:ln w="3810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3363575" y="1085850"/>
            <a:ext cx="457200" cy="266700"/>
          </a:xfrm>
          <a:prstGeom prst="rect">
            <a:avLst/>
          </a:prstGeom>
          <a:solidFill>
            <a:srgbClr val="2563EB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363575" y="1123950"/>
            <a:ext cx="4572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249150" y="1428750"/>
            <a:ext cx="2686050" cy="5715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2249150" y="1428750"/>
            <a:ext cx="268605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344400" y="1485900"/>
            <a:ext cx="2495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完了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344400" y="18478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✓ ご注文ありがとうございました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344400" y="20574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注文番号: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44400" y="22669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  ORD-2026-04-13579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0" y="24765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確認メール送信先: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344400" y="26860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  taro@example.com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344400" y="289560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配送予定: 2026-04-18 (土)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344400" y="3105150"/>
            <a:ext cx="24955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[ マイページへ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User Research Team / Page 1 of 4 / © 2026 ACME Corp.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2026 通年 売上ダッシュボード (注釈付き)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Period: 2026 (FY) | Data as of 2026-12-31 23:59 JST | Source: CRM + GA4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5750" y="1047750"/>
            <a:ext cx="828675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150" y="112395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月別売上 (百万円)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050" y="2371725"/>
            <a:ext cx="571500" cy="65722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950" y="2200275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Jan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9700" y="2571750"/>
            <a:ext cx="5715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40030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970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Feb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38350" y="2152650"/>
            <a:ext cx="571500" cy="876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0250" y="198120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835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Mar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7000" y="2238375"/>
            <a:ext cx="571500" cy="7905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900" y="2066925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700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Apr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5650" y="2324100"/>
            <a:ext cx="571500" cy="7048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57550" y="215265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565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May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24300" y="2076450"/>
            <a:ext cx="571500" cy="952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190500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2430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Jun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2950" y="2152650"/>
            <a:ext cx="571500" cy="8763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4850" y="198120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295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Jul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81600" y="2428875"/>
            <a:ext cx="571500" cy="6000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43500" y="2257425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Aug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10250" y="1962150"/>
            <a:ext cx="571500" cy="1066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72150" y="179070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1025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Sep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38900" y="2047875"/>
            <a:ext cx="571500" cy="9810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1876425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180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890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Oct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67550" y="1828800"/>
            <a:ext cx="571500" cy="12001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9450" y="165735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220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755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Nov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6200" y="1657350"/>
            <a:ext cx="57150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58100" y="1485900"/>
            <a:ext cx="6477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250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96200" y="306705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>
                <a:solidFill>
                  <a:srgbClr val="111827"/>
                </a:solidFill>
              </a:rPr>
              <a:t>Dec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63000" y="1047750"/>
            <a:ext cx="6191250" cy="2286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5400" y="112395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地域別売上構成 (%)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1466850"/>
            <a:ext cx="171450" cy="1714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3050" y="14859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関東  28%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5400" y="1695450"/>
            <a:ext cx="171450" cy="17145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3050" y="17145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関西  18%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15400" y="1924050"/>
            <a:ext cx="171450" cy="17145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63050" y="19431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中部  12%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2152650"/>
            <a:ext cx="171450" cy="17145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63050" y="21717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九州  11%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2381250"/>
            <a:ext cx="171450" cy="17145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63050" y="24003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東北  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15400" y="2609850"/>
            <a:ext cx="171450" cy="17145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63050" y="26289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北海道  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15400" y="2838450"/>
            <a:ext cx="171450" cy="17145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3050" y="28575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中国  7%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15400" y="3067050"/>
            <a:ext cx="171450" cy="17145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63050" y="3086100"/>
            <a:ext cx="571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四国  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5750" y="3486150"/>
            <a:ext cx="3581400" cy="10477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0050" y="3581400"/>
            <a:ext cx="33528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売上合計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0050" y="379095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1,830 MJPY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0050" y="415290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目標 1,800 / 達成率 102%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81450" y="3486150"/>
            <a:ext cx="3581400" cy="10477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95750" y="3581400"/>
            <a:ext cx="33528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新規顧客数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95750" y="379095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26,800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95750" y="415290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目標 25,000 / 達成率 107%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77150" y="3486150"/>
            <a:ext cx="3581400" cy="10477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91450" y="3581400"/>
            <a:ext cx="33528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解約率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91450" y="379095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2.8%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91450" y="415290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目標 3.0% / ✓ 改善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372850" y="3486150"/>
            <a:ext cx="3581400" cy="10477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487150" y="3581400"/>
            <a:ext cx="33528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客単価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87150" y="379095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¥45,200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487150" y="415290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目標 ¥45,000 / 達成率 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5750" y="4648200"/>
            <a:ext cx="3581400" cy="10477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0050" y="4743450"/>
            <a:ext cx="33528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リテンション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0050" y="495300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87.3%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0050" y="53149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目標 85% / +2.3pt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981450" y="4648200"/>
            <a:ext cx="3581400" cy="10477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95750" y="4743450"/>
            <a:ext cx="33528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NPS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95750" y="495300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52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95750" y="53149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目標 50 / ✓ 達成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677150" y="4648200"/>
            <a:ext cx="3581400" cy="10477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91450" y="4743450"/>
            <a:ext cx="33528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CAC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91450" y="4953000"/>
            <a:ext cx="33528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</a:rPr>
              <a:t>¥21,500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91450" y="5314950"/>
            <a:ext cx="33528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目標 ¥23,000 / -¥1,500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85750" y="5905500"/>
            <a:ext cx="14668500" cy="2286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1000" y="5953125"/>
            <a:ext cx="1447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A1 夏場低調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5750" y="6191250"/>
            <a:ext cx="14668500" cy="2286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1000" y="6238875"/>
            <a:ext cx="1447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A2 Q4 大爆発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5750" y="6477000"/>
            <a:ext cx="14668500" cy="2286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81000" y="6524625"/>
            <a:ext cx="1447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A3 東京以外も伸び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5750" y="6762750"/>
            <a:ext cx="14668500" cy="2286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1000" y="6810375"/>
            <a:ext cx="1447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A4 リテンション◎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85750" y="7048500"/>
            <a:ext cx="14668500" cy="2286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81000" y="7096125"/>
            <a:ext cx="14478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A5 CAC 下降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Finance Team / Monthly Report / 2026 FY Issue /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決済システム 階層ドリルダウン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env: production-apac | Owner: Platform Team | Last audit: 2026-03-15 | v2.7.3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5750" y="10477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5750" y="12192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認証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8500" y="10477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38500" y="12192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商品カタログ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10477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1250" y="12192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在庫管理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047750"/>
            <a:ext cx="2838450" cy="533400"/>
          </a:xfrm>
          <a:prstGeom prst="rect">
            <a:avLst/>
          </a:prstGeom>
          <a:solidFill>
            <a:srgbClr val="F9FAFB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2192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決済コア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96750" y="10477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96750" y="12192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通知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" y="16573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750" y="18288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8500" y="16573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8500" y="18288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レポート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1250" y="16573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1250" y="18288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管理者UI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6573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8288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監査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096750" y="1657350"/>
            <a:ext cx="2838450" cy="533400"/>
          </a:xfrm>
          <a:prstGeom prst="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096750" y="1828800"/>
            <a:ext cx="28384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サポート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620000" y="1581150"/>
            <a:ext cx="2943225" cy="857250"/>
          </a:xfrm>
          <a:prstGeom prst="line">
            <a:avLst/>
          </a:prstGeom>
          <a:ln w="381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85750" y="2476500"/>
            <a:ext cx="6381750" cy="4572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5750" y="2476500"/>
            <a:ext cx="638175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050" y="2533650"/>
            <a:ext cx="61912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拡大: 決済コア のサブモジュール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6250" y="2952750"/>
            <a:ext cx="2905125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250" y="3286125"/>
            <a:ext cx="29051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PG アダプタ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71875" y="2952750"/>
            <a:ext cx="2905125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71875" y="3286125"/>
            <a:ext cx="29051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手数料計算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6250" y="3905250"/>
            <a:ext cx="2905125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6250" y="4238625"/>
            <a:ext cx="29051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リトライ制御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71875" y="3905250"/>
            <a:ext cx="2905125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71875" y="4238625"/>
            <a:ext cx="29051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ログ/監査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6250" y="4857750"/>
            <a:ext cx="2905125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6250" y="5191125"/>
            <a:ext cx="29051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ハンドラ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71875" y="4857750"/>
            <a:ext cx="2905125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71875" y="5191125"/>
            <a:ext cx="29051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Webhook 配信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6250" y="5810250"/>
            <a:ext cx="2905125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250" y="6143625"/>
            <a:ext cx="29051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為替換算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71875" y="5810250"/>
            <a:ext cx="2905125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71875" y="6143625"/>
            <a:ext cx="2905125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</a:rPr>
              <a:t>不正検知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476500"/>
            <a:ext cx="8096250" cy="4572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0" y="2476500"/>
            <a:ext cx="809625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72300" y="2533650"/>
            <a:ext cx="3810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設定パラメータ (12 項目)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72300" y="2857500"/>
            <a:ext cx="323850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29450" y="29337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パラメータ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10800" y="2857500"/>
            <a:ext cx="95250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67950" y="29337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単位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163300" y="2857500"/>
            <a:ext cx="1047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220450" y="29337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現行値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211050" y="2857500"/>
            <a:ext cx="1047750" cy="304800"/>
          </a:xfrm>
          <a:prstGeom prst="rect">
            <a:avLst/>
          </a:prstGeom>
          <a:solidFill>
            <a:srgbClr val="E5E7E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268200" y="29337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推奨値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2300" y="3162300"/>
            <a:ext cx="3238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29450" y="32385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retry_max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210800" y="31623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67950" y="32385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回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163300" y="31623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220450" y="32385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2211050" y="31623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268200" y="32385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72300" y="3467100"/>
            <a:ext cx="3238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29450" y="35433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timeout_sec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10800" y="34671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67950" y="35433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秒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163300" y="34671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20450" y="35433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2211050" y="34671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268200" y="35433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72300" y="3771900"/>
            <a:ext cx="3238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29450" y="38481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idempotency_key_ttl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10800" y="37719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67950" y="38481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時間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163300" y="37719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220450" y="38481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2211050" y="37719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2268200" y="38481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72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972300" y="4076700"/>
            <a:ext cx="3238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29450" y="41529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log_retention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210800" y="40767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267950" y="41529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163300" y="40767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20450" y="41529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30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2211050" y="40767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268200" y="41529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180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72300" y="4381500"/>
            <a:ext cx="3238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29450" y="44577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webhook_max_concurrent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210800" y="43815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67950" y="44577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同時数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163300" y="43815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220450" y="44577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2211050" y="43815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268200" y="44577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30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972300" y="4686300"/>
            <a:ext cx="3238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29450" y="47625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fx_rate_cache_ttl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10800" y="46863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267950" y="47625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分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163300" y="46863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220450" y="47625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2211050" y="46863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268200" y="47625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972300" y="4991100"/>
            <a:ext cx="3238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29450" y="50673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fraud_score_threshold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210800" y="49911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67950" y="50673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点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163300" y="49911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20450" y="50673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60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2211050" y="49911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2268200" y="50673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75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72300" y="5295900"/>
            <a:ext cx="3238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029450" y="53721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pg_adapter_pool_size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210800" y="52959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267950" y="53721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接続数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163300" y="52959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20450" y="53721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20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2211050" y="52959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2268200" y="53721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50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972300" y="5600700"/>
            <a:ext cx="3238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29450" y="56769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audit_buffer_size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210800" y="56007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267950" y="56769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MB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163300" y="56007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220450" y="56769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16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2211050" y="56007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2268200" y="56769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64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972300" y="5905500"/>
            <a:ext cx="3238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029450" y="59817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batch_settle_window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210800" y="59055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267950" y="59817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時間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163300" y="59055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220450" y="59817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2211050" y="59055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2268200" y="59817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972300" y="6210300"/>
            <a:ext cx="3238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029450" y="62865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alert_latency_p99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210800" y="6210300"/>
            <a:ext cx="9525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267950" y="62865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ms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163300" y="62103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220450" y="62865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800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211050" y="6210300"/>
            <a:ext cx="104775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268200" y="62865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500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972300" y="6515100"/>
            <a:ext cx="3238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029450" y="6591300"/>
            <a:ext cx="3124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circuit_breaker_threshold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210800" y="6515100"/>
            <a:ext cx="95250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267950" y="6591300"/>
            <a:ext cx="8382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1163300" y="65151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220450" y="65913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50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2211050" y="6515100"/>
            <a:ext cx="1047750" cy="304800"/>
          </a:xfrm>
          <a:prstGeom prst="rect">
            <a:avLst/>
          </a:prstGeom>
          <a:solidFill>
            <a:srgbClr val="F9FAFB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2268200" y="6591300"/>
            <a:ext cx="9334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</a:rPr>
              <a:t>30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85750" y="7181850"/>
            <a:ext cx="2667000" cy="2667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81000" y="7248525"/>
            <a:ext cx="2571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M1 ここ拡大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000750" y="7181850"/>
            <a:ext cx="2667000" cy="26670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096000" y="7248525"/>
            <a:ext cx="2571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M2 要見直し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Platform Docs / Last modified: 2026-04-15 /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ダッシュボード デザインレビュー (赤入れ)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PR #2847 | Figma node: 1920x1080 | Design Review #14 2026-04-10 15:00 | Owner: nakamura@example.com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047750"/>
            <a:ext cx="6477000" cy="6858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" y="1047750"/>
            <a:ext cx="64770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04900"/>
            <a:ext cx="609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ダッシュボード モックアップ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1352550"/>
            <a:ext cx="6172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1447800"/>
            <a:ext cx="590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ヘッダー (ロゴ / 検索 / 通知 / アバター)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2171700"/>
            <a:ext cx="6172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700" y="2266950"/>
            <a:ext cx="590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ブレッドクラム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2990850"/>
            <a:ext cx="6172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700" y="3086100"/>
            <a:ext cx="590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サイドナビ (7 項目)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3810000"/>
            <a:ext cx="6172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" y="3905250"/>
            <a:ext cx="590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KPI カード (5 枚)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629150"/>
            <a:ext cx="6172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" y="4724400"/>
            <a:ext cx="590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売上推移グラフ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5448300"/>
            <a:ext cx="6172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" y="5543550"/>
            <a:ext cx="590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フィルタチップ列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6267450"/>
            <a:ext cx="6172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" y="6362700"/>
            <a:ext cx="590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取引テーブル (8 行)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7086600"/>
            <a:ext cx="61722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700" y="7181850"/>
            <a:ext cx="59055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</a:rPr>
              <a:t>フッター (リンク)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8500" y="11430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4700" y="11811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4700" y="13716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中央？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05975" y="11430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2175" y="11811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2175" y="13716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重い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63450" y="11430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11811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39650" y="13716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🔍小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8500" y="18859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4700" y="19240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4700" y="21145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🔔→9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05975" y="18859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2175" y="19240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2175" y="21145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アバター→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63450" y="18859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439650" y="19240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39650" y="21145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区切り&gt;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8500" y="26289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24700" y="26670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24700" y="28575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現在地太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05975" y="26289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2175" y="26670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2175" y="28575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枠ナシ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363450" y="26289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26670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39650" y="28575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色弱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8500" y="33718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24700" y="34099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24700" y="36004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アイコン無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05975" y="33718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2175" y="34099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2175" y="36004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5→4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63450" y="33718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439650" y="34099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39650" y="36004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数字大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48500" y="41148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24700" y="41529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24700" y="43434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Y軸 0?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05975" y="41148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2175" y="41529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2175" y="43434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前年点線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2363450" y="41148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2439650" y="41529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439650" y="43434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凡例下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8500" y="48577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24700" y="48958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24700" y="50863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色変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05975" y="48577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782175" y="48958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82175" y="50863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詰めすぎ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2363450" y="48577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2439650" y="48958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439650" y="50863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全クリア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48500" y="56007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24700" y="56388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24700" y="58293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header sticky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705975" y="56007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82175" y="56388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782175" y="58293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,,,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363450" y="56007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2439650" y="56388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R21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439650" y="58293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−赤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48500" y="63436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124700" y="63817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24700" y="65722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ゼブラ薄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05975" y="63436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82175" y="63817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82175" y="65722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16→24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363450" y="634365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439650" y="638175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R24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439650" y="657225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#f5f5f5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48500" y="7086600"/>
            <a:ext cx="2581275" cy="66675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24700" y="7124700"/>
            <a:ext cx="24288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991B1B"/>
                </a:solidFill>
              </a:rPr>
              <a:t>R25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24700" y="7315200"/>
            <a:ext cx="2428875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991B1B"/>
                </a:solidFill>
              </a:rPr>
              <a:t>M.O. 別 issue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Design System Team / Draft v0.7 /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混合ダッシュボードページ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Period: 2026 Q1 | Total: 444M JPY | Code: Python 3.13 | Source: BI Snapshot 2026-04-15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81000" y="1047750"/>
            <a:ext cx="9906000" cy="36195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" y="1047750"/>
            <a:ext cx="99060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00" y="1104900"/>
            <a:ext cx="952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地域別実績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6850"/>
            <a:ext cx="66675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00" y="15430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地域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23950" y="1466850"/>
            <a:ext cx="85725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2050" y="15430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売上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1200" y="1466850"/>
            <a:ext cx="76200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9300" y="15430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成長率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466850"/>
            <a:ext cx="76200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1300" y="15430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顧客数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200" y="1466850"/>
            <a:ext cx="76200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3300" y="15430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担当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200" y="1466850"/>
            <a:ext cx="76200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5300" y="15430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解約率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466850"/>
            <a:ext cx="66675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7300" y="15430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新規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5950" y="1466850"/>
            <a:ext cx="85725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34050" y="15430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再購入率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1466850"/>
            <a:ext cx="857250" cy="30480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1300" y="15430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</a:rPr>
              <a:t>平均単価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716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300" y="18478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東京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3950" y="17716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2050" y="18478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164M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81200" y="17716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9300" y="18478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+12%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17716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1300" y="18478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1,240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05200" y="17716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43300" y="18478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佐藤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67200" y="17716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05300" y="18478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1.4%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7716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67300" y="18478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+182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95950" y="17716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34050" y="18478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62%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53200" y="17716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1300" y="18478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8,400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0764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5300" y="21526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大阪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3950" y="20764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62050" y="21526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103M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81200" y="20764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19300" y="21526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20764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81300" y="21526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820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05200" y="20764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43300" y="21526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鈴木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67200" y="20764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05300" y="21526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20764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7300" y="21526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+96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95950" y="20764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34050" y="21526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58%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53200" y="20764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91300" y="21526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7,900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23812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5300" y="24574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名古屋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23950" y="23812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62050" y="24574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62M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81200" y="23812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19300" y="24574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0" y="23812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81300" y="24574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510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05200" y="23812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43300" y="24574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高橋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67200" y="23812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05300" y="24574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2.1%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23812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67300" y="24574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+48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95950" y="23812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734050" y="24574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55%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53200" y="23812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91300" y="24574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7,500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26860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5300" y="27622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福岡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23950" y="26860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62050" y="27622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36M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81200" y="26860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19300" y="27622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+15%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0" y="26860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81300" y="27622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310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505200" y="26860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43300" y="27622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田中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67200" y="26860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05300" y="27622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1.6%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0" y="26860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67300" y="27622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+58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95950" y="26860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34050" y="27622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60%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553200" y="26860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91300" y="27622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7,200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7200" y="29908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95300" y="30670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札幌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23950" y="29908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62050" y="30670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28M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81200" y="29908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019300" y="30670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0" y="29908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81300" y="30670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240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505200" y="29908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543300" y="30670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渡辺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67200" y="29908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305300" y="30670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2.4%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0" y="29908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67300" y="30670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+24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95950" y="29908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34050" y="30670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52%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53200" y="29908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91300" y="30670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6,800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7200" y="32956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95300" y="33718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仙台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123950" y="32956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162050" y="33718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21M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981200" y="32956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019300" y="33718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+11%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0" y="32956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781300" y="33718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190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505200" y="32956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543300" y="33718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伊藤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67200" y="32956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05300" y="33718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1.9%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29200" y="32956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067300" y="33718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+22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695950" y="32956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734050" y="33718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57%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53200" y="32956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591300" y="33718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7,100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7200" y="36004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95300" y="36766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広島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123950" y="36004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62050" y="36766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18M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981200" y="36004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019300" y="36766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+6%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0" y="36004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781300" y="36766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160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505200" y="36004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543300" y="36766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小林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267200" y="36004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305300" y="36766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2.0%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029200" y="36004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5067300" y="36766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+14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695950" y="36004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734050" y="36766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54%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553200" y="36004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591300" y="36766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6,900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57200" y="39052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95300" y="39814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高松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123950" y="39052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162050" y="39814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12M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981200" y="39052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019300" y="39814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+18%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3200" y="39052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781300" y="39814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110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505200" y="39052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543300" y="39814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中村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267200" y="3905250"/>
            <a:ext cx="76200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305300" y="3981450"/>
            <a:ext cx="6858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1.3%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029200" y="3905250"/>
            <a:ext cx="6667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067300" y="3981450"/>
            <a:ext cx="5905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+20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695950" y="39052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5734050" y="39814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63%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553200" y="3905250"/>
            <a:ext cx="8572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591300" y="3981450"/>
            <a:ext cx="7810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</a:rPr>
              <a:t>7,300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477500" y="1047750"/>
            <a:ext cx="4381500" cy="36195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0477500" y="1047750"/>
            <a:ext cx="4381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591800" y="1104900"/>
            <a:ext cx="4000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Weekly active users (8 週)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868025" y="2409825"/>
            <a:ext cx="295275" cy="19716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791825" y="2238375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</a:rPr>
              <a:t>3200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791825" y="44196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</a:rPr>
              <a:t>W1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1372850" y="2257425"/>
            <a:ext cx="295275" cy="212407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1296650" y="2085975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</a:rPr>
              <a:t>3450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1296650" y="44196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</a:rPr>
              <a:t>W2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1877675" y="2466975"/>
            <a:ext cx="295275" cy="191452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1801475" y="2295525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</a:rPr>
              <a:t>3100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801475" y="44196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</a:rPr>
              <a:t>W3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2382500" y="2114550"/>
            <a:ext cx="295275" cy="22669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2306300" y="19431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</a:rPr>
              <a:t>3680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306300" y="44196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</a:rPr>
              <a:t>W4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2887325" y="1962150"/>
            <a:ext cx="295275" cy="24193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2811125" y="17907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</a:rPr>
              <a:t>3920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2811125" y="44196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</a:rPr>
              <a:t>W5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3392150" y="2209800"/>
            <a:ext cx="295275" cy="21717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3315950" y="203835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</a:rPr>
              <a:t>3520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3315950" y="44196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</a:rPr>
              <a:t>W6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13896975" y="2009775"/>
            <a:ext cx="295275" cy="2371725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3820775" y="1838325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</a:rPr>
              <a:t>3850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3820775" y="44196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</a:rPr>
              <a:t>W7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4401800" y="1847850"/>
            <a:ext cx="295275" cy="253365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4325600" y="16764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111827"/>
                </a:solidFill>
              </a:rPr>
              <a:t>4100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4325600" y="4419600"/>
            <a:ext cx="447675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111827"/>
                </a:solidFill>
              </a:rPr>
              <a:t>W8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81000" y="4857750"/>
            <a:ext cx="3238500" cy="3429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381000" y="4857750"/>
            <a:ext cx="3238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95300" y="4914900"/>
            <a:ext cx="304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スクリーンショット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33400" y="5257800"/>
            <a:ext cx="2933700" cy="22860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533400" y="7620000"/>
            <a:ext cx="29337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</a:rPr>
              <a:t>プッシュ通知設定画面 (iOS / Android 両対応 / 設定 v3.4.2)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810000" y="4857750"/>
            <a:ext cx="4953000" cy="3429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3810000" y="4857750"/>
            <a:ext cx="49530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924300" y="4914900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notify.py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3924300" y="5219700"/>
            <a:ext cx="4724400" cy="2971800"/>
          </a:xfrm>
          <a:prstGeom prst="rect">
            <a:avLst/>
          </a:prstGeom>
          <a:solidFill>
            <a:srgbClr val="1E1E1E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000500" y="527685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from typing import Optional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000500" y="545782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from .retry import retry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000500" y="563880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/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000500" y="581977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@retry(tries=3, delay=2)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000500" y="600075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async def send_push(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000500" y="618172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user_id: str,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000500" y="636270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msg: str,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000500" y="654367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*,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000500" y="672465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priority: int = 5,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00500" y="690562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) -&gt; bool: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4000500" y="708660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if not _is_opted_in(user_id):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4000500" y="726757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    return False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000500" y="744855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try: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000500" y="762952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    return await _provider.send(user_id, msg, priority)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000500" y="781050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except ProviderTimeout: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000500" y="7991475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4D4D4"/>
                </a:solidFill>
              </a:rPr>
              <a:t>        return False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953500" y="4857750"/>
            <a:ext cx="5905500" cy="342900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953500" y="4857750"/>
            <a:ext cx="5905500" cy="30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067800" y="49149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主要メトリクス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9144000" y="5257800"/>
            <a:ext cx="5524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• API レイテンシ p95 は 240ms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9144000" y="5619750"/>
            <a:ext cx="5524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• エラー率 0.4% (先月比 -0.1pt)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9144000" y="5981700"/>
            <a:ext cx="5524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• スパイクは水曜 14 時台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9144000" y="6343650"/>
            <a:ext cx="5524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• DAU 30k / MAU 145k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144000" y="6705600"/>
            <a:ext cx="5524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• 解約率 月次 1.8%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144000" y="7067550"/>
            <a:ext cx="5524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• ARPU 3,200 円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9144000" y="7429500"/>
            <a:ext cx="5524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• インシデント Q1 で 2 件 (P3 のみ)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9144000" y="7791450"/>
            <a:ext cx="55245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</a:rPr>
              <a:t>• 次回リリース 2026-04-30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Analytics Dashboard / Q1 Wrap-up /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209550"/>
            <a:ext cx="14287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</a:rPr>
              <a:t>組織図 (4 階層 20 ノード / 部門色分け / 兼務点線あり)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571500"/>
            <a:ext cx="1463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Effective: 2026-04-01 | Source: HRIS 2026-03-31 | 部門色: 青=Tech / 緑=Sales / 橙=Ops / 灰=Corp | ※ 2020 年以降の社員のみ表示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4800" y="819150"/>
            <a:ext cx="1463040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905625" y="1047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5625" y="1047750"/>
            <a:ext cx="1428750" cy="76200"/>
          </a:xfrm>
          <a:prstGeom prst="rect">
            <a:avLst/>
          </a:prstGeom>
          <a:solidFill>
            <a:srgbClr val="64646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67600" y="1181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5625" y="1504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山本 一郎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5625" y="1695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5625" y="1885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2008 入社 / 配下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5625" y="2057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46464"/>
                </a:solidFill>
              </a:rPr>
              <a:t>Corp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5325" y="266700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5325" y="266700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67300" y="280035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325" y="31242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中村 次郎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325" y="33147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VP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325" y="35052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2010 入社 / 配下 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5325" y="36766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5525" y="266700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05525" y="2667000"/>
            <a:ext cx="1428750" cy="76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67500" y="280035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5525" y="31242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小林 三郎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5525" y="33147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VP Sales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5525" y="35052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2011 入社 / 配下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5525" y="36766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E8B57"/>
                </a:solidFill>
              </a:rPr>
              <a:t>Sales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05725" y="266700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05725" y="2667000"/>
            <a:ext cx="1428750" cy="76200"/>
          </a:xfrm>
          <a:prstGeom prst="rect">
            <a:avLst/>
          </a:prstGeom>
          <a:solidFill>
            <a:srgbClr val="D87B1F"/>
          </a:solidFill>
          <a:ln w="12700">
            <a:solidFill>
              <a:srgbClr val="D8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67700" y="280035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05725" y="31242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加藤 四郎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5725" y="33147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VP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5725" y="35052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2012 入社 / 配下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5725" y="36766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87B1F"/>
                </a:solidFill>
              </a:rPr>
              <a:t>Ops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05925" y="266700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05925" y="2667000"/>
            <a:ext cx="1428750" cy="76200"/>
          </a:xfrm>
          <a:prstGeom prst="rect">
            <a:avLst/>
          </a:prstGeom>
          <a:solidFill>
            <a:srgbClr val="64646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67900" y="280035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5925" y="31242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久保田 五郎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5925" y="331470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VP Corporate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5925" y="35052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2013 入社 / 配下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5925" y="36766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46464"/>
                </a:solidFill>
              </a:rPr>
              <a:t>Corp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04925" y="4476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04925" y="447675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66900" y="4610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04925" y="4933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伊藤 花子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04925" y="5124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Dir. Backend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04925" y="5314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2014 入社 / 配下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4925" y="5486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05125" y="4476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05125" y="447675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467100" y="4610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05125" y="4933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渡辺 梅子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05125" y="5124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Dir. Frontend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05125" y="5314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2015 入社 / 配下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5125" y="5486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05325" y="4476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05325" y="447675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067300" y="4610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05325" y="4933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田川 桃子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05325" y="5124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Dir. Infra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05325" y="5314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2016 入社 / 配下 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05325" y="5486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05525" y="4476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05525" y="4476750"/>
            <a:ext cx="1428750" cy="76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67500" y="4610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05525" y="4933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山田 桜子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5525" y="5124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Dir. Enterprise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05525" y="5314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2014 入社 / 配下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5525" y="5486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E8B57"/>
                </a:solidFill>
              </a:rPr>
              <a:t>Sales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705725" y="4476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705725" y="4476750"/>
            <a:ext cx="1428750" cy="76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267700" y="4610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05725" y="4933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佐々木 松子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05725" y="5124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Dir. SMB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05725" y="5314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2015 入社 / 配下 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05725" y="5486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E8B57"/>
                </a:solidFill>
              </a:rPr>
              <a:t>Sales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05925" y="4476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05925" y="4476750"/>
            <a:ext cx="1428750" cy="76200"/>
          </a:xfrm>
          <a:prstGeom prst="rect">
            <a:avLst/>
          </a:prstGeom>
          <a:solidFill>
            <a:srgbClr val="D87B1F"/>
          </a:solidFill>
          <a:ln w="12700">
            <a:solidFill>
              <a:srgbClr val="D8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67900" y="4610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305925" y="4933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吉田 竹子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05925" y="5124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Dir. 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05925" y="5314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2016 入社 / 配下 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05925" y="5486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87B1F"/>
                </a:solidFill>
              </a:rPr>
              <a:t>Ops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06125" y="4476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906125" y="4476750"/>
            <a:ext cx="1428750" cy="76200"/>
          </a:xfrm>
          <a:prstGeom prst="rect">
            <a:avLst/>
          </a:prstGeom>
          <a:solidFill>
            <a:srgbClr val="D87B1F"/>
          </a:solidFill>
          <a:ln w="12700">
            <a:solidFill>
              <a:srgbClr val="D87B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1468100" y="4610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906125" y="4933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井上 柳子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06125" y="5124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Dir. Logistics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906125" y="5314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2017 入社 / 配下 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06125" y="5486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D87B1F"/>
                </a:solidFill>
              </a:rPr>
              <a:t>Ops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2506325" y="44767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2506325" y="4476750"/>
            <a:ext cx="1428750" cy="76200"/>
          </a:xfrm>
          <a:prstGeom prst="rect">
            <a:avLst/>
          </a:prstGeom>
          <a:solidFill>
            <a:srgbClr val="646464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3068300" y="46101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2506325" y="4933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森田 蘭子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506325" y="5124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Dir. Finance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506325" y="53149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2014 入社 / 配下 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506325" y="54864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46464"/>
                </a:solidFill>
              </a:rPr>
              <a:t>Corp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105025" y="65722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105025" y="657225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667000" y="67056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5025" y="7029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高橋 太郎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05025" y="7219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Mgr Backend Plat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05025" y="74104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2018 入社 / 配下 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05025" y="75819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705225" y="65722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705225" y="657225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67200" y="67056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05225" y="7029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木村 大輔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705225" y="7219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Mgr Backend API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705225" y="74104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2019 入社 / 配下 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05225" y="75819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305425" y="65722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305425" y="657225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867400" y="67056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05425" y="7029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林 翔太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305425" y="7219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Mgr Web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305425" y="74104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2018 入社 / 配下 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05425" y="75819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905625" y="65722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905625" y="657225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467600" y="67056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905625" y="7029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池田 昇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905625" y="7219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Mgr Mobile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905625" y="74104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2019 入社 / 配下 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905625" y="75819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505825" y="65722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505825" y="6572250"/>
            <a:ext cx="1428750" cy="76200"/>
          </a:xfrm>
          <a:prstGeom prst="rect">
            <a:avLst/>
          </a:prstGeom>
          <a:solidFill>
            <a:srgbClr val="3B6DB8"/>
          </a:solidFill>
          <a:ln w="12700">
            <a:solidFill>
              <a:srgbClr val="3B6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067800" y="67056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505825" y="7029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松本 健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505825" y="7219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Mgr SRE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505825" y="74104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2020 入社 / 配下 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505825" y="75819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B6DB8"/>
                </a:solidFill>
              </a:rPr>
              <a:t>Tech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0106025" y="65722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106025" y="6572250"/>
            <a:ext cx="1428750" cy="76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10668000" y="67056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106025" y="7029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谷口 涼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06025" y="7219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Mgr Field Sales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06025" y="74104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2017 入社 / 配下 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106025" y="75819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E8B57"/>
                </a:solidFill>
              </a:rPr>
              <a:t>Sales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706225" y="6572250"/>
            <a:ext cx="1428750" cy="1238250"/>
          </a:xfrm>
          <a:prstGeom prst="rect">
            <a:avLst/>
          </a:prstGeom>
          <a:solidFill>
            <a:srgbClr val="F9FAFB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1706225" y="6572250"/>
            <a:ext cx="1428750" cy="76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12268200" y="6705600"/>
            <a:ext cx="304800" cy="304800"/>
          </a:xfrm>
          <a:prstGeom prst="ellipse">
            <a:avLst/>
          </a:prstGeom>
          <a:solidFill>
            <a:srgbClr val="D1D5D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06225" y="70294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</a:rPr>
              <a:t>北村 慎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706225" y="7219950"/>
            <a:ext cx="142875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Mgr Inside Sales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706225" y="741045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</a:rPr>
              <a:t>2018 入社 / 配下 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706225" y="7581900"/>
            <a:ext cx="14287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E8B57"/>
                </a:solidFill>
              </a:rPr>
              <a:t>Sales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7620000" y="2286000"/>
            <a:ext cx="0" cy="19050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>
            <a:off x="5219700" y="2476500"/>
            <a:ext cx="24003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5219700" y="2476500"/>
            <a:ext cx="0" cy="19050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7620000" y="2286000"/>
            <a:ext cx="0" cy="19050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H="1">
            <a:off x="6819900" y="2476500"/>
            <a:ext cx="8001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6819900" y="2476500"/>
            <a:ext cx="0" cy="19050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620000" y="2286000"/>
            <a:ext cx="0" cy="19050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7620000" y="2476500"/>
            <a:ext cx="8001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420100" y="2476500"/>
            <a:ext cx="0" cy="19050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7620000" y="2286000"/>
            <a:ext cx="0" cy="19050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7620000" y="2476500"/>
            <a:ext cx="24003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020300" y="2476500"/>
            <a:ext cx="0" cy="19050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5219700" y="390525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H="1">
            <a:off x="2019300" y="4191000"/>
            <a:ext cx="32004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2019300" y="419100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219700" y="390525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H="1">
            <a:off x="3619500" y="4191000"/>
            <a:ext cx="16002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3619500" y="419100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219700" y="390525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219700" y="4191000"/>
            <a:ext cx="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5219700" y="419100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6819900" y="390525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6819900" y="4191000"/>
            <a:ext cx="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819900" y="419100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819900" y="390525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819900" y="4191000"/>
            <a:ext cx="16002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8420100" y="419100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8420100" y="390525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8420100" y="4191000"/>
            <a:ext cx="16002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020300" y="419100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8420100" y="390525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8420100" y="4191000"/>
            <a:ext cx="32004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1620500" y="419100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020300" y="390525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020300" y="4191000"/>
            <a:ext cx="32004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3220700" y="4191000"/>
            <a:ext cx="0" cy="28575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2019300" y="5715000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2019300" y="6143625"/>
            <a:ext cx="8001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2819400" y="6143625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2019300" y="5715000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2019300" y="6143625"/>
            <a:ext cx="24003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4419600" y="6143625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3619500" y="5715000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3619500" y="6143625"/>
            <a:ext cx="24003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6019800" y="6143625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619500" y="5715000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3619500" y="6143625"/>
            <a:ext cx="40005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620000" y="6143625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5219700" y="5715000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5219700" y="6143625"/>
            <a:ext cx="40005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9220200" y="6143625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819900" y="5715000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819900" y="6143625"/>
            <a:ext cx="40005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0820400" y="6143625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819900" y="5715000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6819900" y="6143625"/>
            <a:ext cx="5600700" cy="0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12420600" y="6143625"/>
            <a:ext cx="0" cy="428625"/>
          </a:xfrm>
          <a:prstGeom prst="line">
            <a:avLst/>
          </a:prstGeom>
          <a:ln w="22225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H="1" flipV="1">
            <a:off x="8420100" y="3905250"/>
            <a:ext cx="800100" cy="2667000"/>
          </a:xfrm>
          <a:prstGeom prst="line">
            <a:avLst/>
          </a:prstGeom>
          <a:ln w="1587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H="1" flipV="1">
            <a:off x="5219700" y="3905250"/>
            <a:ext cx="8001000" cy="571500"/>
          </a:xfrm>
          <a:prstGeom prst="line">
            <a:avLst/>
          </a:prstGeom>
          <a:ln w="1587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304800" y="8343900"/>
            <a:ext cx="146304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HR Org Chart / Effective 2026-04-01 /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