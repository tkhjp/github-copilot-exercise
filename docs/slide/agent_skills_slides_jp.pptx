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【このページの役割】冒頭で論点を固定する。便利機能の話ではなく、運用に耐える設計の話であることを宣言する。</a:t>
            </a:r>
          </a:p>
          <a:p/>
          <a:p>
            <a:r>
              <a:t>【話すポイント】</a:t>
            </a:r>
          </a:p>
          <a:p>
            <a:r>
              <a:t>  1. 今日は GitHub Copilot の新機能紹介ではなく、現場に入れたときにどこで困るか、その問題にどう設計で答えたかを話す。</a:t>
            </a:r>
          </a:p>
          <a:p>
            <a:r>
              <a:t>  2. AI の賢さ以前に「どこまで任せてよいか」「何を通してはいけないか」が現場の論点になる。</a:t>
            </a:r>
          </a:p>
          <a:p>
            <a:r>
              <a:t>  3. 後半は、問題 → 要件 → 設計 → PoC → 評価の順で進む。</a:t>
            </a:r>
          </a:p>
          <a:p/>
          <a:p>
            <a:r>
              <a:t>【このページで伝えたい設計判断】</a:t>
            </a:r>
          </a:p>
          <a:p>
            <a:r>
              <a:t>  ・設計の主語を「機能」ではなく「現場の問題」に置く。</a:t>
            </a:r>
          </a:p>
          <a:p>
            <a:r>
              <a:t>  ・AI 支援と強制統制は、同じ仕組みに背負わせないという立場を最初に示す。</a:t>
            </a:r>
          </a:p>
          <a:p/>
          <a:p>
            <a:r>
              <a:t>【次ページへのつなぎ】まず、現場で実際に起こる問題から共有する。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【このページの役割】話の地図を見せる。4章構成であることを最初に共有する。</a:t>
            </a:r>
          </a:p>
          <a:p/>
          <a:p>
            <a:r>
              <a:t>【話すポイント】</a:t>
            </a:r>
          </a:p>
          <a:p>
            <a:r>
              <a:t>  1. 前半は問題設定、中盤は設計原則と責務分担、終盤は PoC と評価。</a:t>
            </a:r>
          </a:p>
          <a:p>
            <a:r>
              <a:t>  2. この順番にすることで、仕組みが単なるツール紹介にならず、設計判断として理解されやすい。</a:t>
            </a:r>
          </a:p>
          <a:p/>
          <a:p>
            <a:r>
              <a:t>【このページで伝えたい設計判断】</a:t>
            </a:r>
          </a:p>
          <a:p>
            <a:r>
              <a:t>  ・アジェンダ自体も、課題駆動の設計思想を反映させる。</a:t>
            </a:r>
          </a:p>
          <a:p/>
          <a:p>
            <a:r>
              <a:t>【次ページへのつなぎ】まず、GitHub Copilot を現場に入れたときに、何が運用課題になるのかを整理する。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【このページの役割】問題を 3 つに整理する。以降の設計は、この 3 問題への答えとして組み立てる。</a:t>
            </a:r>
          </a:p>
          <a:p/>
          <a:p>
            <a:r>
              <a:t>【話すポイント】</a:t>
            </a:r>
          </a:p>
          <a:p>
            <a:r>
              <a:t>  1. 論点は AI の精度ではなく、手順のばらつき・レビュー負荷・保護境界。</a:t>
            </a:r>
          </a:p>
          <a:p>
            <a:r>
              <a:t>  2. PoC の軽さは別軸の制約として、設計要件の 5 つ目に回す。</a:t>
            </a:r>
          </a:p>
          <a:p/>
          <a:p>
            <a:r>
              <a:t>【このページで伝えたい設計判断】</a:t>
            </a:r>
          </a:p>
          <a:p>
            <a:r>
              <a:t>  ・問題を 3 つに束ねることで、後段の責務分離（AI支援 vs 強制統制）に綺麗につながる。</a:t>
            </a:r>
          </a:p>
          <a:p/>
          <a:p>
            <a:r>
              <a:t>【次ページへのつなぎ】次に、この 3 問題のうち、手順のばらつきから順番に見ていく。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【このページの役割】まず標準化したいのは、コード生成ではなく、仕様の読み方・計画の立て方・テスト観点の出し方。</a:t>
            </a:r>
          </a:p>
          <a:p/>
          <a:p>
            <a:r>
              <a:t>【話すポイント】</a:t>
            </a:r>
          </a:p>
          <a:p>
            <a:r>
              <a:t>  1. Skills は反復的な開発手順を安定化する仕組みとして扱う。</a:t>
            </a:r>
          </a:p>
          <a:p>
            <a:r>
              <a:t>  2. always-on instruction ではなく、必要な場面で読み込ませる方が運用しやすい。</a:t>
            </a:r>
          </a:p>
          <a:p/>
          <a:p>
            <a:r>
              <a:t>【このページで伝えたい設計判断】</a:t>
            </a:r>
          </a:p>
          <a:p>
            <a:r>
              <a:t>  ・Skills を起点にする理由は、PoC 初期に重いオーケストレーションを作らず、最小限の仕組みで一貫性を出せるため。</a:t>
            </a:r>
          </a:p>
          <a:p/>
          <a:p>
            <a:r>
              <a:t>【次ページへのつなぎ】手順を標準化しても、AI の変更範囲までは読みやすくならない。次はそこを見る。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【このページの役割】custom agents / hooks の位置づけを「便利機能」ではなく「レビュー可能性を担保する層」にする。</a:t>
            </a:r>
          </a:p>
          <a:p/>
          <a:p>
            <a:r>
              <a:t>【話すポイント】</a:t>
            </a:r>
          </a:p>
          <a:p>
            <a:r>
              <a:t>  1. ここでの目的は、AI を賢く見せることではなく、変更を人が読める状態にすること。</a:t>
            </a:r>
          </a:p>
          <a:p>
            <a:r>
              <a:t>  2. MCP はこのページで主役にしない。Phase 2 で外部接続を足す話として脚注化する。</a:t>
            </a:r>
          </a:p>
          <a:p/>
          <a:p>
            <a:r>
              <a:t>【このページで伝えたい設計判断】</a:t>
            </a:r>
          </a:p>
          <a:p>
            <a:r>
              <a:t>  ・役割分離を入れることで、AI の出力品質より先に「変更の読みやすさ」「責任境界の説明しやすさ」を改善する。</a:t>
            </a:r>
          </a:p>
          <a:p/>
          <a:p>
            <a:r>
              <a:t>【次ページへのつなぎ】そして、AI が気をつければよいでは済まない境界がある。次はそこを見る。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【このページの役割】「なぜ hooks が必要か」に続いて「hooks で実際に何ができるか」を具体化する。</a:t>
            </a:r>
          </a:p>
          <a:p/>
          <a:p>
            <a:r>
              <a:t>【話すポイント】</a:t>
            </a:r>
          </a:p>
          <a:p>
            <a:r>
              <a:t>  1. hooks は単なる pre/post の小技ではなく、session 開始、プロンプト送信、ツール実行前後、session 終了のライフサイクル全体に差し込める。</a:t>
            </a:r>
          </a:p>
          <a:p>
            <a:r>
              <a:t>  2. ここでやりたいのは、危険コマンドの抑止、sensitive read の警告、auto-format や lint、handoff の自動化といった runtime control。</a:t>
            </a:r>
          </a:p>
          <a:p>
            <a:r>
              <a:t>  3. merge / deploy / secret の最終遮断は hooks の責務ではない。次のスライドで GitHub / CI 側の強制統制に持たせる。</a:t>
            </a:r>
          </a:p>
          <a:p/>
          <a:p>
            <a:r>
              <a:t>【このページで伝えたい設計判断】</a:t>
            </a:r>
          </a:p>
          <a:p>
            <a:r>
              <a:t>  ・hooks は Layer 2（AI 支援）に位置する。hard gate は rulesets / CODEOWNERS / environments / push protection 側に置く。</a:t>
            </a:r>
          </a:p>
          <a:p/>
          <a:p>
            <a:r>
              <a:t>【次ページへのつなぎ】ここまでで AI の挙動は整う。では保護境界は ―― 次に GitHub / CI の強制統制を見る。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【このページの役割】「認識していれば避けられる」ではなく、「認識できなくても通らない」設計に寄せる理由を明確にする。</a:t>
            </a:r>
          </a:p>
          <a:p/>
          <a:p>
            <a:r>
              <a:t>【話すポイント】</a:t>
            </a:r>
          </a:p>
          <a:p>
            <a:r>
              <a:t>  1. push protection は secret が repository に到達する前にブロックする [Ref-8]。AI の注意力に頼らない領域。</a:t>
            </a:r>
          </a:p>
          <a:p>
            <a:r>
              <a:t>  2. CODEOWNERS + rulesets で code owner approval を merge 条件として強制化できる [Ref-6][Ref-7]。</a:t>
            </a:r>
          </a:p>
          <a:p>
            <a:r>
              <a:t>  3. environments は required reviewers / self-review 防止 / environment secrets gating で承認境界を作れる [Ref-9]。</a:t>
            </a:r>
          </a:p>
          <a:p/>
          <a:p>
            <a:r>
              <a:t>【このページで伝えたい設計判断】</a:t>
            </a:r>
          </a:p>
          <a:p>
            <a:r>
              <a:t>  ・このレイヤーの本質は、強制統制・監査可能性・承認境界の明確化。</a:t>
            </a:r>
          </a:p>
          <a:p/>
          <a:p>
            <a:r>
              <a:t>【次ページへのつなぎ】3 問題が整理できたので、次に設計要件として翻訳する。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【このページの役割】3 問題を 4 要件に翻訳する。段階導入は要件から切り出して、最終スライドの Next Step に置く。</a:t>
            </a:r>
          </a:p>
          <a:p/>
          <a:p>
            <a:r>
              <a:t>【話すポイント】</a:t>
            </a:r>
          </a:p>
          <a:p>
            <a:r>
              <a:t>  1. 高機能かどうかではなく、要件に対して責務が綺麗に分かれているかで評価する。</a:t>
            </a:r>
          </a:p>
          <a:p>
            <a:r>
              <a:t>  2. Layer 1-2 は AI 支援、Layer 3-4 は強制統制という色分けで以降のスライドを読む。</a:t>
            </a:r>
          </a:p>
          <a:p/>
          <a:p>
            <a:r>
              <a:t>【このページで伝えたい設計判断】</a:t>
            </a:r>
          </a:p>
          <a:p>
            <a:r>
              <a:t>  ・設計の良し悪しは、責務分離の綺麗さで測る。</a:t>
            </a:r>
          </a:p>
          <a:p/>
          <a:p>
            <a:r>
              <a:t>【次ページへのつなぎ】この 4 要件に対する答えとして、今回の設計原則を次のスライドで固定する。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【このページの役割】この発表の中心思想を 1 枚で固定する。以降のレイヤー議論はすべてこの原則から派生する。</a:t>
            </a:r>
          </a:p>
          <a:p/>
          <a:p>
            <a:r>
              <a:t>【話すポイント】</a:t>
            </a:r>
          </a:p>
          <a:p>
            <a:r>
              <a:t>  1. AI 支援レイヤーは「よりよく作業させる」ため。強制統制レイヤーは「通してよい結果だけを通す」ため。</a:t>
            </a:r>
          </a:p>
          <a:p>
            <a:r>
              <a:t>  2. 判定を持つ主体が違う点がポイント。前者は人の補助、後者は GitHub / CI が最終判定者。</a:t>
            </a:r>
          </a:p>
          <a:p/>
          <a:p>
            <a:r>
              <a:t>【このページで伝えたい設計判断】</a:t>
            </a:r>
          </a:p>
          <a:p>
            <a:r>
              <a:t>  ・Agent Skills を万能視しない。最終的な merge / deploy 判定は必ず GitHub 側が持つ。</a:t>
            </a:r>
          </a:p>
          <a:p/>
          <a:p>
            <a:r>
              <a:t>【次ページへのつなぎ】この原則を、4 層アーキテクチャと「どの問題をどのレイヤーで答えるか」に落とす。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【このページの役割】8 枚目の設計原則を、3 問題 × 4 レイヤーの対応表として可視化する。</a:t>
            </a:r>
          </a:p>
          <a:p/>
          <a:p>
            <a:r>
              <a:t>【話すポイント】</a:t>
            </a:r>
          </a:p>
          <a:p>
            <a:r>
              <a:t>  1. 各レイヤーは上位を補完するが、責務は代替しない。Layer 2 の hooks があっても Layer 3 の required checks は必要。</a:t>
            </a:r>
          </a:p>
          <a:p>
            <a:r>
              <a:t>  2. Layer 3-4 だけでも Layer 1 の標準化は置き換えられない。</a:t>
            </a:r>
          </a:p>
          <a:p/>
          <a:p>
            <a:r>
              <a:t>【このページで伝えたい設計判断】</a:t>
            </a:r>
          </a:p>
          <a:p>
            <a:r>
              <a:t>  ・4 層は技術分類ではなく責務分類であり、問題への対応表としても読めることを明示する。</a:t>
            </a:r>
          </a:p>
          <a:p/>
          <a:p>
            <a:r>
              <a:t>【次ページへのつなぎ】次に、各レイヤーで何をどう置くのかを具体化する。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【このページの役割】Layer 1-2 の代表例に絞って、PoC 初期に何から置くかを具体化する。</a:t>
            </a:r>
          </a:p>
          <a:p/>
          <a:p>
            <a:r>
              <a:t>【話すポイント】</a:t>
            </a:r>
          </a:p>
          <a:p>
            <a:r>
              <a:t>  1. GitHub Docs の custom agents は tools・MCP server・model を agent ごとに定義できる [Ref-3]。</a:t>
            </a:r>
          </a:p>
          <a:p>
            <a:r>
              <a:t>  2. PoC 初期の主戦場は Layer 1-2 であり、ここで AI の仕事の仕方を整える。</a:t>
            </a:r>
          </a:p>
          <a:p/>
          <a:p>
            <a:r>
              <a:t>【このページで伝えたい設計判断】</a:t>
            </a:r>
          </a:p>
          <a:p>
            <a:r>
              <a:t>  ・Layer 1-2 は導入しやすいが、ここだけでは安全性を語れない。次のレイヤーと必ず接続する。</a:t>
            </a:r>
          </a:p>
          <a:p/>
          <a:p>
            <a:r>
              <a:t>【次ページへのつなぎ】この外側に、GitHub / CI の強制統制を配置する。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【このページの役割】Layer 3-4 を静的な表ではなく、どこで止まるかのパイプラインとして見せる。</a:t>
            </a:r>
          </a:p>
          <a:p/>
          <a:p>
            <a:r>
              <a:t>【話すポイント】</a:t>
            </a:r>
          </a:p>
          <a:p>
            <a:r>
              <a:t>  1. Push 地点で secret が止まること、Merge 地点で required checks が効くことを順に示す。</a:t>
            </a:r>
          </a:p>
          <a:p>
            <a:r>
              <a:t>  2. Deploy 地点だけは「止める」ではなく「人の承認を挟む」点を分けて説明する。</a:t>
            </a:r>
          </a:p>
          <a:p/>
          <a:p>
            <a:r>
              <a:t>【このページで伝えたい設計判断】</a:t>
            </a:r>
          </a:p>
          <a:p>
            <a:r>
              <a:t>  ・このレイヤーの本質は、禁止を言い聞かせる層ではなく、破られても通らない層であること。</a:t>
            </a:r>
          </a:p>
          <a:p/>
          <a:p>
            <a:r>
              <a:t>【次ページへのつなぎ】ここまでの責務分担を、repository の中にどう置くかを次に見る。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【このページの役割】実装場所の全体像を、5 ボックスで高速に掴める形で見せる。</a:t>
            </a:r>
          </a:p>
          <a:p/>
          <a:p>
            <a:r>
              <a:t>【話すポイント】</a:t>
            </a:r>
          </a:p>
          <a:p>
            <a:r>
              <a:t>  1. policy/ を .github/ の外に置き、GitHub 専用設定ではなく運用ルールの正本として扱う。</a:t>
            </a:r>
          </a:p>
          <a:p>
            <a:r>
              <a:t>  2. .github/ 配下には Copilot / GitHub / Actions が直接読むカスタマイズや制御を集約する。</a:t>
            </a:r>
          </a:p>
          <a:p>
            <a:r>
              <a:t>  3. 詳細構造は Appendix を参照する旨を案内する。</a:t>
            </a:r>
          </a:p>
          <a:p/>
          <a:p>
            <a:r>
              <a:t>【このページで伝えたい設計判断】</a:t>
            </a:r>
          </a:p>
          <a:p>
            <a:r>
              <a:t>  ・実装場所が曖昧だと PoC 後の運用引き継ぎで崩れやすい。構成も説明可能性の一部として扱う。</a:t>
            </a:r>
          </a:p>
          <a:p/>
          <a:p>
            <a:r>
              <a:t>【次ページへのつなぎ】この設計を PoC / デモでどう見せると価値が伝わるかを整理する。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【このページの役割】設計とデモを接続する。動線を色分けで示し、どこで価値が出てどこで止まるかを可視化する。</a:t>
            </a:r>
          </a:p>
          <a:p/>
          <a:p>
            <a:r>
              <a:t>【話すポイント】</a:t>
            </a:r>
          </a:p>
          <a:p>
            <a:r>
              <a:t>  1. デモの見せ場は 3 つ：標準化されること、危険な変更が止まること、責任境界が明確であること。</a:t>
            </a:r>
          </a:p>
          <a:p>
            <a:r>
              <a:t>  2. Step 5-6 は強制統制（wine）、Step 7 は人の承認（orange）と色で責務を分ける。</a:t>
            </a:r>
          </a:p>
          <a:p/>
          <a:p>
            <a:r>
              <a:t>【このページで伝えたい設計判断】</a:t>
            </a:r>
          </a:p>
          <a:p>
            <a:r>
              <a:t>  ・PoC の価値はモデル精度だけではなく、運用のしやすさ・説明のしやすさ・事故予防で決まる。</a:t>
            </a:r>
          </a:p>
          <a:p/>
          <a:p>
            <a:r>
              <a:t>【次ページへのつなぎ】PoC を見せるなら、その場で何をもって成功とするかも合わせて定義する。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【このページの役割】PoC の評価軸を仮説 + 基準値として明示し、印象評価で終わらせない。</a:t>
            </a:r>
          </a:p>
          <a:p/>
          <a:p>
            <a:r>
              <a:t>【話すポイント】</a:t>
            </a:r>
          </a:p>
          <a:p>
            <a:r>
              <a:t>  1. PoC を「モデルの勝ち負け」ではなく「運用設計の仮説検証」として位置づける。</a:t>
            </a:r>
          </a:p>
          <a:p>
            <a:r>
              <a:t>  2. 止まるべきものが止まれば成功。PoC でブロックが発生するのは、統制が機能している証拠。</a:t>
            </a:r>
          </a:p>
          <a:p/>
          <a:p>
            <a:r>
              <a:t>【このページで伝えたい設計判断】</a:t>
            </a:r>
          </a:p>
          <a:p>
            <a:r>
              <a:t>  ・評価軸を先に置くことで、PoC 後の次アクションを決めやすくする。</a:t>
            </a:r>
          </a:p>
          <a:p/>
          <a:p>
            <a:r>
              <a:t>【次ページへのつなぎ】最後に、3 つの持ち帰りと段階導入の進め方で締める。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【このページの役割】PoC 評価軸の直後に、最近の外部トレンドでそれを補強する。本資料を harness 設計の PoC 提案として位置づけ直す。</a:t>
            </a:r>
          </a:p>
          <a:p/>
          <a:p>
            <a:r>
              <a:t>【話すポイント】</a:t>
            </a:r>
          </a:p>
          <a:p>
            <a:r>
              <a:t>  1. agent の性能差は、モデル単体よりも harness 設計の差として現れやすくなってきている。</a:t>
            </a:r>
          </a:p>
          <a:p>
            <a:r>
              <a:t>  2. Anthropic は progress / handoff の structured artifact を、OpenAI は repo / CI / sandbox を agent-first 開発の基盤として扱っている。</a:t>
            </a:r>
          </a:p>
          <a:p>
            <a:r>
              <a:t>  3. この観点から、今回の Skill / Hook / repo 構成 / KPI の整理は方向として合っている。</a:t>
            </a:r>
          </a:p>
          <a:p>
            <a:r>
              <a:t>  4. 次は、progress artifact の正式化、evaluator role の追加、harness 前提の定期見直しを加えたい。</a:t>
            </a:r>
          </a:p>
          <a:p/>
          <a:p>
            <a:r>
              <a:t>【このページで伝えたい設計判断】</a:t>
            </a:r>
          </a:p>
          <a:p>
            <a:r>
              <a:t>  ・本資料は Copilot customization の提案であると同時に、軽量な harness 設計の PoC 提案でもあるという位置づけを明示する。</a:t>
            </a:r>
          </a:p>
          <a:p/>
          <a:p>
            <a:r>
              <a:t>【次ページへのつなぎ】この認識のうえで、最後に 3 つの持ち帰りと段階導入を整理する。</a:t>
            </a:r>
          </a:p>
          <a:p/>
          <a:p>
            <a:r>
              <a:t>【参考 URL】</a:t>
            </a:r>
          </a:p>
          <a:p>
            <a:r>
              <a:t>  - Anthropic — Effective harnesses for long-running agents: https://www.anthropic.com/engineering/effective-harnesses-for-long-running-agents</a:t>
            </a:r>
          </a:p>
          <a:p>
            <a:r>
              <a:t>  - OpenAI — Harness engineering: https://openai.com/index/harness-engineering/</a:t>
            </a:r>
          </a:p>
          <a:p>
            <a:r>
              <a:t>  - Anthropic — Building Effective AI Agents: https://www.anthropic.com/research/building-effective-agents</a:t>
            </a:r>
          </a:p>
          <a:p>
            <a:r>
              <a:t>  - Anthropic — Demystifying evals for AI agents: https://www.anthropic.com/engineering/demystifying-evals-for-ai-agents</a:t>
            </a:r>
          </a:p>
          <a:p>
            <a:r>
              <a:t>  - OpenAI — The next evolution of the Agents SDK: https://openai.com/index/the-next-evolution-of-the-agents-sdk/</a:t>
            </a:r>
          </a:p>
          <a:p>
            <a:r>
              <a:t>  - Anthropic — Scaling Managed Agents: https://www.anthropic.com/engineering/managed-agents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【このページの役割】全体を短く回収し、次フェーズの進め方まで示して閉じる。</a:t>
            </a:r>
          </a:p>
          <a:p/>
          <a:p>
            <a:r>
              <a:t>【話すポイント】</a:t>
            </a:r>
          </a:p>
          <a:p>
            <a:r>
              <a:t>  1. 軽く始めて、境界を明確にし、必要なところだけ重くするという方針で締める。</a:t>
            </a:r>
          </a:p>
          <a:p>
            <a:r>
              <a:t>  2. PoC の説明としても、実運用への拡張方針としても筋が通る。</a:t>
            </a:r>
          </a:p>
          <a:p/>
          <a:p>
            <a:r>
              <a:t>【このページで伝えたい設計判断】</a:t>
            </a:r>
          </a:p>
          <a:p>
            <a:r>
              <a:t>  ・導入順序も設計の一部。段階的導入の思想を最後に明示して終える。</a:t>
            </a:r>
          </a:p>
          <a:p/>
          <a:p>
            <a:r>
              <a:t>【次ページへのつなぎ】以上。Appendix に詳細な directory tree を置いているので、必要に応じて参照。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【このページの役割】本編 12 の簡略版を補う、フル annotated tree のリファレンス。</a:t>
            </a:r>
          </a:p>
          <a:p/>
          <a:p>
            <a:r>
              <a:t>【話すポイント】</a:t>
            </a:r>
          </a:p>
          <a:p>
            <a:r>
              <a:t>  1. 質疑で構成の詳細を問われた場合にこのページに戻る。</a:t>
            </a:r>
          </a:p>
          <a:p/>
          <a:p>
            <a:r>
              <a:t>【このページで伝えたい設計判断】</a:t>
            </a:r>
          </a:p>
          <a:p>
            <a:r>
              <a:t>  ・本編の情報密度を下げ、詳細は Appendix に寄せる。</a:t>
            </a:r>
          </a:p>
          <a:p/>
          <a:p>
            <a:r>
              <a:t>【次ページへのつなぎ】必要なページへジャンプ。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TODAY'S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Copilot を現場導入するなら</a:t>
            </a:r>
          </a:p>
          <a:p>
            <a:pPr algn="l">
              <a:lnSpc>
                <a:spcPct val="120000"/>
              </a:lnSpc>
            </a:pPr>
            <a:r>
              <a:rPr sz="42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AI 支援と強制統制は分けて設計する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現場課題から逆算した PoC 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2286000" cy="381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5120640" cy="114300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50800" cy="1143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7091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AI 支援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047488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Agent Skills / custom agents / hooks で標準化・補助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572000"/>
            <a:ext cx="5120640" cy="114300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4572000"/>
            <a:ext cx="50800" cy="114300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7091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強制統制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5047488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rulesets / CODEOWNERS / environments / secret scanning で境界を固定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実装支援は AI 側、保護境界は GitHub / CI 側に持たせたいと考えています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02 /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本日の流れ ― 課題駆動で設計を読み解く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663190" cy="3474720"/>
          </a:xfrm>
          <a:prstGeom prst="roundRect">
            <a:avLst>
              <a:gd name="adj" fmla="val 4000"/>
            </a:avLst>
          </a:prstGeom>
          <a:solidFill>
            <a:srgbClr val="F7F3FB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663190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6631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220599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現場で起こる問題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220599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手順のばらつき、レビュー負荷、保護境界の欠如</a:t>
            </a:r>
          </a:p>
        </p:txBody>
      </p:sp>
      <p:sp>
        <p:nvSpPr>
          <p:cNvPr id="10" name="Right Triangle 9"/>
          <p:cNvSpPr/>
          <p:nvPr/>
        </p:nvSpPr>
        <p:spPr>
          <a:xfrm rot="5400000">
            <a:off x="3170682" y="3703320"/>
            <a:ext cx="219456" cy="274320"/>
          </a:xfrm>
          <a:prstGeom prst="rtTriangl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48990" y="2103120"/>
            <a:ext cx="2663190" cy="3474720"/>
          </a:xfrm>
          <a:prstGeom prst="roundRect">
            <a:avLst>
              <a:gd name="adj" fmla="val 4000"/>
            </a:avLst>
          </a:prstGeom>
          <a:solidFill>
            <a:srgbClr val="F7F3FB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8990" y="2103120"/>
            <a:ext cx="2663190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8990" y="2103120"/>
            <a:ext cx="26631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7590" y="2788920"/>
            <a:ext cx="220599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そこから導いた設計要件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7590" y="3794760"/>
            <a:ext cx="220599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何を設計として満たしたいかに翻訳する</a:t>
            </a:r>
          </a:p>
        </p:txBody>
      </p:sp>
      <p:sp>
        <p:nvSpPr>
          <p:cNvPr id="16" name="Right Triangle 15"/>
          <p:cNvSpPr/>
          <p:nvPr/>
        </p:nvSpPr>
        <p:spPr>
          <a:xfrm rot="5400000">
            <a:off x="5971032" y="3703320"/>
            <a:ext cx="219456" cy="274320"/>
          </a:xfrm>
          <a:prstGeom prst="rtTriangl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49340" y="2103120"/>
            <a:ext cx="2663190" cy="3474720"/>
          </a:xfrm>
          <a:prstGeom prst="roundRect">
            <a:avLst>
              <a:gd name="adj" fmla="val 4000"/>
            </a:avLst>
          </a:prstGeom>
          <a:solidFill>
            <a:srgbClr val="F7F3FB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9340" y="2103120"/>
            <a:ext cx="2663190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9340" y="2103120"/>
            <a:ext cx="26631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7940" y="2788920"/>
            <a:ext cx="220599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問題に置いた仕組み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7940" y="3794760"/>
            <a:ext cx="220599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どのレイヤーで、どう答えるか</a:t>
            </a:r>
          </a:p>
        </p:txBody>
      </p:sp>
      <p:sp>
        <p:nvSpPr>
          <p:cNvPr id="22" name="Right Triangle 21"/>
          <p:cNvSpPr/>
          <p:nvPr/>
        </p:nvSpPr>
        <p:spPr>
          <a:xfrm rot="5400000">
            <a:off x="8771382" y="3703320"/>
            <a:ext cx="219456" cy="274320"/>
          </a:xfrm>
          <a:prstGeom prst="rtTriangl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49690" y="2103120"/>
            <a:ext cx="2663190" cy="3474720"/>
          </a:xfrm>
          <a:prstGeom prst="roundRect">
            <a:avLst>
              <a:gd name="adj" fmla="val 4000"/>
            </a:avLst>
          </a:prstGeom>
          <a:solidFill>
            <a:srgbClr val="F7F3FB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49690" y="2103120"/>
            <a:ext cx="2663190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49690" y="2103120"/>
            <a:ext cx="26631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290" y="2788920"/>
            <a:ext cx="220599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PoC でどう示し、どう評価するか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8290" y="3794760"/>
            <a:ext cx="220599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シナリオと成功基準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03 / PROBLEM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現場で起こる問題 ― 3つの問題と 1つの制約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35680" cy="2926080"/>
          </a:xfrm>
          <a:prstGeom prst="roundRect">
            <a:avLst>
              <a:gd name="adj" fmla="val 4000"/>
            </a:avLst>
          </a:prstGeom>
          <a:solidFill>
            <a:srgbClr val="F7F3FB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0800" cy="292608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316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問題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316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開発手順が揃わない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31699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仕様はあっても、実装計画・テスト観点・PR の書き方が人によってばらつきやすいと感じています。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828800"/>
            <a:ext cx="3535680" cy="2926080"/>
          </a:xfrm>
          <a:prstGeom prst="roundRect">
            <a:avLst>
              <a:gd name="adj" fmla="val 4000"/>
            </a:avLst>
          </a:prstGeom>
          <a:solidFill>
            <a:srgbClr val="F7F3FB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2920" y="1828800"/>
            <a:ext cx="50800" cy="292608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7240" y="2057400"/>
            <a:ext cx="316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問題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240" y="2423160"/>
            <a:ext cx="316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AI の変更がレビューしづらい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240" y="3383280"/>
            <a:ext cx="31699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変更範囲が広がりやすく、確認観点が揃わず、レビュー負荷が上がりがちな印象です。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1828800"/>
            <a:ext cx="3535680" cy="2926080"/>
          </a:xfrm>
          <a:prstGeom prst="roundRect">
            <a:avLst>
              <a:gd name="adj" fmla="val 4000"/>
            </a:avLst>
          </a:prstGeom>
          <a:solidFill>
            <a:srgbClr val="F7F3FB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1828800"/>
            <a:ext cx="50800" cy="292608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1520" y="2057400"/>
            <a:ext cx="316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問題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2423160"/>
            <a:ext cx="316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止めるべき境界がない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520" y="3383280"/>
            <a:ext cx="31699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secret / 重要変更 / 本番 deploy を AI 任せにするのは難しいと考えています。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7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37760"/>
            <a:ext cx="50800" cy="914400"/>
          </a:xfrm>
          <a:prstGeom prst="rect">
            <a:avLst/>
          </a:prstGeom>
          <a:solidFill>
            <a:srgbClr val="E0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74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07B1F"/>
                </a:solidFill>
                <a:latin typeface="Yu Gothic UI"/>
                <a:ea typeface="Yu Gothic UI"/>
                <a:cs typeface="Yu Gothic UI"/>
              </a:rPr>
              <a:t>制約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21808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PoC は軽く始めたい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138928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初期から重い agent framework には寄せず、段階的に拡張していく前提で設計しています。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04 / PROBLEM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問題 A ― 仕様 → 実装 → テストが属人化する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0800" cy="301752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現場の困りごと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0428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人によって読み方・観点がばらつきやすい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50292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仕様書の読み方が人によって違い、実装粒度や抜け漏れが出やすい。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テスト観点が属人化しやすく、受入条件とのつながりが弱くなりがち。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486400" cy="301752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0800" cy="30175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9339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対応設計  /  LAYER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0428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Agent Skills による開発手順の標準化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26080"/>
            <a:ext cx="50292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spec-driven-implementation Skill を中心に、仕様確認 → 実装計画 → テスト観点 → PR 下書きまでを一貫化したいと考えています。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テンプレートとチェックリストを Skill に同梱し、必要な場面だけ読み込ませる運用が望ましいと考えています。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4000"/>
            </a:avLst>
          </a:prstGeom>
          <a:solidFill>
            <a:srgbClr val="F7F3FB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1389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10235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仕様書 → 各自の解釈 → 実装計画のばらつき → テスト観点のばらつき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418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60527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仕様書 → Skill 読み込み → 実装計画ドラフト → テスト観点整理 → PR 下書き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05 / PROBLEM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問題 B ― AI の変更を “レビュー可能” にする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0800" cy="301752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現場の困りごと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0428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範囲と観点が読みづらくなりがち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50292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実装だけ頼んだつもりが、周辺ファイルや設定まで広く触られてしまう。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PR の説明が弱く、レビュアーが「何を確認すべきか」から考え直す必要が出る。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486400" cy="301752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0800" cy="30175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9339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対応設計  /  LAYER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0428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custom agents + hooks で挙動を絞る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26080"/>
            <a:ext cx="50292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planner：変更方針を先に作る役割を分けて置きたいと考えています。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safe-implementer：触る範囲を絞った実装専用エージェントが有効と感じています。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hooks：diff 分類や追加 validation を preToolUse / postToolUse で差し込む構成が現実的と考えています。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※ MCP（チケット／設計書／社内 API 連携）は Phase 2 以降で段階的に接続する前提としています。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06 / HOOK RUNTIME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Hook は runtime control を差し込むレイヤー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Session / Prompt / Tool の各節目で、AI の振る舞いを軽く整える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Hook は、AI の作業ライフサイクルの各節目に軽量な制御を差し込むレイヤーと考えています。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役割は「実行中の挙動調整」であり、「最終的な強制統制」ではありません。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2139696" cy="269748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2139696" cy="4572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SessionStart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36392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目的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19272"/>
            <a:ext cx="18653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前回からの作業再開を安定化する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実施例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50208"/>
            <a:ext cx="1911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handoff / session summary を読み込む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未完了タスク・保留・次アクションを復元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保護対象・注意点を再注入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効果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11496"/>
            <a:ext cx="18653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文脈切れややり直しを減らせる</a:t>
            </a:r>
          </a:p>
        </p:txBody>
      </p:sp>
      <p:sp>
        <p:nvSpPr>
          <p:cNvPr id="16" name="Right Triangle 15"/>
          <p:cNvSpPr/>
          <p:nvPr/>
        </p:nvSpPr>
        <p:spPr>
          <a:xfrm rot="5400000">
            <a:off x="2679193" y="3845052"/>
            <a:ext cx="109728" cy="201168"/>
          </a:xfrm>
          <a:prstGeom prst="rtTriangl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79776" y="2606040"/>
            <a:ext cx="2139696" cy="269748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79776" y="2606040"/>
            <a:ext cx="2139696" cy="4572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9776" y="2606040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UserPromptSubmitted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3136392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目的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2656" y="3319272"/>
            <a:ext cx="18653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plan と implementation を混線させない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2656" y="3749040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実施例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3950208"/>
            <a:ext cx="1911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plan-approved marker の有無を確認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未確定なら plan 作成を先に促す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高リスク変更では追加確認を挟む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62656" y="4937760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効果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111496"/>
            <a:ext cx="18653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いきなり実装に入る事故を減らす</a:t>
            </a:r>
          </a:p>
        </p:txBody>
      </p:sp>
      <p:sp>
        <p:nvSpPr>
          <p:cNvPr id="26" name="Right Triangle 25"/>
          <p:cNvSpPr/>
          <p:nvPr/>
        </p:nvSpPr>
        <p:spPr>
          <a:xfrm rot="5400000">
            <a:off x="4910329" y="3845052"/>
            <a:ext cx="109728" cy="201168"/>
          </a:xfrm>
          <a:prstGeom prst="rtTriangl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10912" y="2606040"/>
            <a:ext cx="2139696" cy="2697480"/>
          </a:xfrm>
          <a:prstGeom prst="roundRect">
            <a:avLst>
              <a:gd name="adj" fmla="val 4000"/>
            </a:avLst>
          </a:prstGeom>
          <a:solidFill>
            <a:srgbClr val="FDEFDC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10912" y="2606040"/>
            <a:ext cx="2139696" cy="457200"/>
          </a:xfrm>
          <a:prstGeom prst="rect">
            <a:avLst/>
          </a:prstGeom>
          <a:solidFill>
            <a:srgbClr val="E0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0912" y="2606040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PreToolUse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3136392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目的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3792" y="3319272"/>
            <a:ext cx="18653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E07B1F"/>
                </a:solidFill>
                <a:latin typeface="Yu Gothic UI"/>
                <a:ea typeface="Yu Gothic UI"/>
                <a:cs typeface="Yu Gothic UI"/>
              </a:rPr>
              <a:t>危険操作を事前に抑える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3792" y="3749040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実施例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93792" y="3950208"/>
            <a:ext cx="1911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git push / --no-verify を警告・抑止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.env / .pem など sensitive read を警告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保護対象パスの編集を警告・制限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3792" y="4937760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効果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5111496"/>
            <a:ext cx="18653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E07B1F"/>
                </a:solidFill>
                <a:latin typeface="Yu Gothic UI"/>
                <a:ea typeface="Yu Gothic UI"/>
                <a:cs typeface="Yu Gothic UI"/>
              </a:rPr>
              <a:t>diff が広がる前に事故を止めやすい</a:t>
            </a:r>
          </a:p>
        </p:txBody>
      </p:sp>
      <p:sp>
        <p:nvSpPr>
          <p:cNvPr id="36" name="Right Triangle 35"/>
          <p:cNvSpPr/>
          <p:nvPr/>
        </p:nvSpPr>
        <p:spPr>
          <a:xfrm rot="5400000">
            <a:off x="7141465" y="3845052"/>
            <a:ext cx="109728" cy="201168"/>
          </a:xfrm>
          <a:prstGeom prst="rtTriangl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242048" y="2606040"/>
            <a:ext cx="2139696" cy="269748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42048" y="2606040"/>
            <a:ext cx="2139696" cy="4572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42048" y="2606040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PostToolUse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4928" y="3136392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目的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4928" y="3319272"/>
            <a:ext cx="18653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編集後の品質を整える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4928" y="3749040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実施例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4928" y="3950208"/>
            <a:ext cx="1911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auto-format を実行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lint / basic validation を実行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diff 分類・簡易ログ出力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4928" y="4937760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効果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4928" y="5111496"/>
            <a:ext cx="18653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レビュアーの負荷を下げる</a:t>
            </a:r>
          </a:p>
        </p:txBody>
      </p:sp>
      <p:sp>
        <p:nvSpPr>
          <p:cNvPr id="46" name="Right Triangle 45"/>
          <p:cNvSpPr/>
          <p:nvPr/>
        </p:nvSpPr>
        <p:spPr>
          <a:xfrm rot="5400000">
            <a:off x="9372601" y="3845052"/>
            <a:ext cx="109728" cy="201168"/>
          </a:xfrm>
          <a:prstGeom prst="rtTriangl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473184" y="2606040"/>
            <a:ext cx="2139696" cy="269748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473184" y="2606040"/>
            <a:ext cx="2139696" cy="4572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73184" y="2606040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SessionEnd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56064" y="3136392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目的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56064" y="3319272"/>
            <a:ext cx="18653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次回へ引き継げる状態で終える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56064" y="3749040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実施例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56064" y="3950208"/>
            <a:ext cx="1911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changed files / pending / next step を handoff 化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session summary を保存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token / cost を記録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56064" y="4937760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効果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56064" y="5111496"/>
            <a:ext cx="18653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継続性と運用可視化を保てる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5394960"/>
            <a:ext cx="11064240" cy="822960"/>
          </a:xfrm>
          <a:prstGeom prst="roundRect">
            <a:avLst>
              <a:gd name="adj" fmla="val 4000"/>
            </a:avLst>
          </a:prstGeom>
          <a:solidFill>
            <a:srgbClr val="F7F3FB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5486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Hook が担うこと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5742432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runtime 補助  ｜  注意喚起  ｜  軽量チェック  ｜  記録 / handoff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5532120"/>
            <a:ext cx="12700" cy="548640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5486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Hook が担わないこと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5742432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merge 可否の最終判定  ｜  deploy 可否の最終判定  ｜  secret 漏えいの最終遮断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5943600"/>
            <a:ext cx="73152" cy="3657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59436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KEY ― Hook は AI の仕事の仕方を整える。危険な変更を最終的に通さない責任は GitHub / CI 側に置く。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07 / PROBLEM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問題 C ― 認識できなくても通らない設計にしたい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4000"/>
            </a:avLst>
          </a:prstGeom>
          <a:solidFill>
            <a:srgbClr val="5A173A"/>
          </a:solidFill>
          <a:ln w="6350">
            <a:solidFill>
              <a:srgbClr val="5A1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保護境界は、AI の注意力ではなく、GitHub / CI のルールで固定する。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3535680" cy="301752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880360"/>
            <a:ext cx="50800" cy="301752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316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Secret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316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秘密情報の漏えい防止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316992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push protection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secret scanning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hook scan（補完）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920" y="2880360"/>
            <a:ext cx="3535680" cy="301752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2920" y="2880360"/>
            <a:ext cx="50800" cy="301752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7240" y="3063240"/>
            <a:ext cx="316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重要変更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240" y="3383280"/>
            <a:ext cx="316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merge 条件を固定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4114800"/>
            <a:ext cx="316992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rulesets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CODEOWNERS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required status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2880360"/>
            <a:ext cx="3535680" cy="301752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7200" y="2880360"/>
            <a:ext cx="50800" cy="301752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1520" y="3063240"/>
            <a:ext cx="316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本番 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1520" y="3383280"/>
            <a:ext cx="316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承認境界を挟む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1520" y="4114800"/>
            <a:ext cx="316992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environments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required reviewers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self-review 防止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08 / DESIGN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そこから導いた 4 つの設計要件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40680" cy="173736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0800" cy="17373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983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仕様 → 実装 → テストを標準化できる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100FF"/>
                </a:solidFill>
                <a:latin typeface="Consolas"/>
                <a:ea typeface="Consolas"/>
                <a:cs typeface="Consolas"/>
              </a:rPr>
              <a:t>Layer 1  /  Agent Skills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440680" cy="173736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0800" cy="17373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40280"/>
            <a:ext cx="4983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AI の役割と挙動を絞り込める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718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100FF"/>
                </a:solidFill>
                <a:latin typeface="Consolas"/>
                <a:ea typeface="Consolas"/>
                <a:cs typeface="Consolas"/>
              </a:rPr>
              <a:t>Layer 2  /  custom agents / hooks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5440680" cy="173736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50800" cy="173736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4983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高リスク変更は人の承認が必須になる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2A5A"/>
                </a:solidFill>
                <a:latin typeface="Consolas"/>
                <a:ea typeface="Consolas"/>
                <a:cs typeface="Consolas"/>
              </a:rPr>
              <a:t>Layer 3  /  rulesets / CODEOWNERS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03320"/>
            <a:ext cx="5440680" cy="173736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03320"/>
            <a:ext cx="50800" cy="173736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8404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60520"/>
            <a:ext cx="4983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secret / deploy は強制統制で守れる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920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2A5A"/>
                </a:solidFill>
                <a:latin typeface="Consolas"/>
                <a:ea typeface="Consolas"/>
                <a:cs typeface="Consolas"/>
              </a:rPr>
              <a:t>Layer 4  /  environments / secret scanning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※ 段階的導入（Phase 1 → 2 → 3）は、要件ではなく導入方針として切り出します。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09 / DESIGN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設計原則 ― AI 支援と強制統制を分ける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4000"/>
            </a:avLst>
          </a:prstGeom>
          <a:solidFill>
            <a:srgbClr val="F7F3FB"/>
          </a:solidFill>
          <a:ln w="952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「AI に良い仕事をしてもらうこと」と「危険な変更を通さないこと」は、別レイヤーで設計する。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97480"/>
            <a:ext cx="5440680" cy="310896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5440680" cy="4572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AI 支援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目的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3337560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理解を揃える / 作業を標準化する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役割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931920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標準化・実行時補助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仕組み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4526280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Skills / Agents / Hooks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判定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5120640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人の作業を助ける（判定は持たない）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697480"/>
            <a:ext cx="5440680" cy="310896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697480"/>
            <a:ext cx="5440680" cy="45720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69748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強制統制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37560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目的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337560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危険な変更を通さない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931920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役割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931920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条件固定・承認・遮断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26280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仕組み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4526280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Rulesets / CODEOWNERS / Environments / Secret scanning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20640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判定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5120640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GitHub / CI が通過可否を持つ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943600"/>
            <a:ext cx="73152" cy="3657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436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KEY ― 便利さと安全性を同じ仕組みに背負わせない。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10 / PROBLEM ×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どの問題に、どのレイヤーで答えたか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017520" cy="73152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8346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問題  /  レイヤー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828800"/>
            <a:ext cx="2011680" cy="7315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Skills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828800"/>
            <a:ext cx="2011680" cy="7315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92024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194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Agents / Hooks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828800"/>
            <a:ext cx="2011680" cy="731520"/>
          </a:xfrm>
          <a:prstGeom prst="rect">
            <a:avLst/>
          </a:prstGeom>
          <a:solidFill>
            <a:srgbClr val="5A173A"/>
          </a:solidFill>
          <a:ln>
            <a:solidFill>
              <a:srgbClr val="5A1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92024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Layer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194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Rulesets / CODEOWNERS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828800"/>
            <a:ext cx="2011680" cy="731520"/>
          </a:xfrm>
          <a:prstGeom prst="rect">
            <a:avLst/>
          </a:prstGeom>
          <a:solidFill>
            <a:srgbClr val="5A173A"/>
          </a:solidFill>
          <a:ln>
            <a:solidFill>
              <a:srgbClr val="5A1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92024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Layer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194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Environments / Secret scanning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0320"/>
            <a:ext cx="3017520" cy="868680"/>
          </a:xfrm>
          <a:prstGeom prst="rect">
            <a:avLst/>
          </a:prstGeom>
          <a:solidFill>
            <a:srgbClr val="F7F3FB"/>
          </a:solidFill>
          <a:ln w="3175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560320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問題 A  開発手順が揃わない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2560320"/>
            <a:ext cx="2011680" cy="868680"/>
          </a:xfrm>
          <a:prstGeom prst="rect">
            <a:avLst/>
          </a:prstGeom>
          <a:solidFill>
            <a:srgbClr val="F7F3FB"/>
          </a:solidFill>
          <a:ln w="3175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31920" y="2724912"/>
            <a:ext cx="1280160" cy="539496"/>
          </a:xfrm>
          <a:prstGeom prst="roundRect">
            <a:avLst>
              <a:gd name="adj" fmla="val 4000"/>
            </a:avLst>
          </a:prstGeom>
          <a:solidFill>
            <a:srgbClr val="A100FF"/>
          </a:solidFill>
          <a:ln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24912"/>
            <a:ext cx="1280160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2560320"/>
            <a:ext cx="2011680" cy="868680"/>
          </a:xfrm>
          <a:prstGeom prst="rect">
            <a:avLst/>
          </a:prstGeom>
          <a:solidFill>
            <a:srgbClr val="F7F3FB"/>
          </a:solidFill>
          <a:ln w="3175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2560320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2560320"/>
            <a:ext cx="2011680" cy="868680"/>
          </a:xfrm>
          <a:prstGeom prst="rect">
            <a:avLst/>
          </a:prstGeom>
          <a:solidFill>
            <a:srgbClr val="F7F3FB"/>
          </a:solidFill>
          <a:ln w="3175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560320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560320"/>
            <a:ext cx="2011680" cy="868680"/>
          </a:xfrm>
          <a:prstGeom prst="rect">
            <a:avLst/>
          </a:prstGeom>
          <a:solidFill>
            <a:srgbClr val="F7F3FB"/>
          </a:solidFill>
          <a:ln w="3175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560320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29000"/>
            <a:ext cx="3017520" cy="868680"/>
          </a:xfrm>
          <a:prstGeom prst="rect">
            <a:avLst/>
          </a:prstGeom>
          <a:solidFill>
            <a:srgbClr val="FFFFFF"/>
          </a:solidFill>
          <a:ln w="3175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429000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問題 B  変更がレビューしづらい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3429000"/>
            <a:ext cx="2011680" cy="868680"/>
          </a:xfrm>
          <a:prstGeom prst="rect">
            <a:avLst/>
          </a:prstGeom>
          <a:solidFill>
            <a:srgbClr val="FFFFFF"/>
          </a:solidFill>
          <a:ln w="3175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931920" y="3630168"/>
            <a:ext cx="1280160" cy="466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3630168"/>
            <a:ext cx="128016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3429000"/>
            <a:ext cx="2011680" cy="868680"/>
          </a:xfrm>
          <a:prstGeom prst="rect">
            <a:avLst/>
          </a:prstGeom>
          <a:solidFill>
            <a:srgbClr val="FFFFFF"/>
          </a:solidFill>
          <a:ln w="3175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0" y="3593592"/>
            <a:ext cx="1280160" cy="539496"/>
          </a:xfrm>
          <a:prstGeom prst="roundRect">
            <a:avLst>
              <a:gd name="adj" fmla="val 4000"/>
            </a:avLst>
          </a:prstGeom>
          <a:solidFill>
            <a:srgbClr val="A100FF"/>
          </a:solidFill>
          <a:ln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593592"/>
            <a:ext cx="1280160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429000"/>
            <a:ext cx="2011680" cy="868680"/>
          </a:xfrm>
          <a:prstGeom prst="rect">
            <a:avLst/>
          </a:prstGeom>
          <a:solidFill>
            <a:srgbClr val="FFFFFF"/>
          </a:solidFill>
          <a:ln w="3175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3429000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3429000"/>
            <a:ext cx="2011680" cy="868680"/>
          </a:xfrm>
          <a:prstGeom prst="rect">
            <a:avLst/>
          </a:prstGeom>
          <a:solidFill>
            <a:srgbClr val="FFFFFF"/>
          </a:solidFill>
          <a:ln w="3175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0" y="3429000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297679"/>
            <a:ext cx="3017520" cy="868680"/>
          </a:xfrm>
          <a:prstGeom prst="rect">
            <a:avLst/>
          </a:prstGeom>
          <a:solidFill>
            <a:srgbClr val="F7F3FB"/>
          </a:solidFill>
          <a:ln w="3175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297679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問題 C  止めるべき境界がない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4297679"/>
            <a:ext cx="2011680" cy="868680"/>
          </a:xfrm>
          <a:prstGeom prst="rect">
            <a:avLst/>
          </a:prstGeom>
          <a:solidFill>
            <a:srgbClr val="F7F3FB"/>
          </a:solidFill>
          <a:ln w="3175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60" y="4297679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4297679"/>
            <a:ext cx="2011680" cy="868680"/>
          </a:xfrm>
          <a:prstGeom prst="rect">
            <a:avLst/>
          </a:prstGeom>
          <a:solidFill>
            <a:srgbClr val="F7F3FB"/>
          </a:solidFill>
          <a:ln w="3175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3600" y="4498847"/>
            <a:ext cx="1280160" cy="466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0" y="4498847"/>
            <a:ext cx="128016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0" y="4297679"/>
            <a:ext cx="2011680" cy="868680"/>
          </a:xfrm>
          <a:prstGeom prst="rect">
            <a:avLst/>
          </a:prstGeom>
          <a:solidFill>
            <a:srgbClr val="F7F3FB"/>
          </a:solidFill>
          <a:ln w="3175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955280" y="4462271"/>
            <a:ext cx="1280160" cy="539496"/>
          </a:xfrm>
          <a:prstGeom prst="roundRect">
            <a:avLst>
              <a:gd name="adj" fmla="val 4000"/>
            </a:avLst>
          </a:prstGeom>
          <a:solidFill>
            <a:srgbClr val="8B2A5A"/>
          </a:solidFill>
          <a:ln>
            <a:solidFill>
              <a:srgbClr val="8B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80" y="4462271"/>
            <a:ext cx="1280160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4297679"/>
            <a:ext cx="2011680" cy="868680"/>
          </a:xfrm>
          <a:prstGeom prst="rect">
            <a:avLst/>
          </a:prstGeom>
          <a:solidFill>
            <a:srgbClr val="F7F3FB"/>
          </a:solidFill>
          <a:ln w="3175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966960" y="4462271"/>
            <a:ext cx="1280160" cy="539496"/>
          </a:xfrm>
          <a:prstGeom prst="roundRect">
            <a:avLst>
              <a:gd name="adj" fmla="val 4000"/>
            </a:avLst>
          </a:prstGeom>
          <a:solidFill>
            <a:srgbClr val="8B2A5A"/>
          </a:solidFill>
          <a:ln>
            <a:solidFill>
              <a:srgbClr val="8B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66960" y="4462271"/>
            <a:ext cx="1280160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制約（PoC は軽く始めたい）は、Phase 1 で Layer 1、Phase 2 で Layer 2、Phase 3 以降で MCP / 高度統制、と段階導入で吸収します。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11 / LAYER 1-2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実装詳細 Layer 1-2 ― 標準化と挙動調整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40680" cy="3749039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0800" cy="3749039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LAYER 1  /  AI 支援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Skill pack で標準化するもの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実装計画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テスト観点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PR 下書き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100FF"/>
                </a:solidFill>
                <a:latin typeface="Consolas"/>
                <a:ea typeface="Consolas"/>
                <a:cs typeface="Consolas"/>
              </a:rPr>
              <a:t>代表例：spec-driven-implementation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440680" cy="3749039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0800" cy="3749039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LAYER 2  /  AI 支援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Agent / Hook で調整するもの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役割分離（planner / safe-implementer など）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diff 分類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•  実行時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98348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100FF"/>
                </a:solidFill>
                <a:latin typeface="Consolas"/>
                <a:ea typeface="Consolas"/>
                <a:cs typeface="Consolas"/>
              </a:rPr>
              <a:t>代表例：safe-implementer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※ MCP（Model Context Protocol）による外部連携は、Phase 2 以降で必要になった段階で接続します。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12 / LAYER 3-4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実装詳細 Layer 3-4 ― どこで何が止まるか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560320" cy="329184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560320" cy="59436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主な仕組み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•  secret scanning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•  push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634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repo 到達前に止める</a:t>
            </a:r>
          </a:p>
        </p:txBody>
      </p:sp>
      <p:sp>
        <p:nvSpPr>
          <p:cNvPr id="11" name="Right Triangle 10"/>
          <p:cNvSpPr/>
          <p:nvPr/>
        </p:nvSpPr>
        <p:spPr>
          <a:xfrm rot="5400000">
            <a:off x="3145535" y="3529584"/>
            <a:ext cx="201168" cy="256032"/>
          </a:xfrm>
          <a:prstGeom prst="rtTriangle">
            <a:avLst/>
          </a:prstGeom>
          <a:solidFill>
            <a:srgbClr val="5A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79" y="2011680"/>
            <a:ext cx="2560320" cy="329184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79" y="2011680"/>
            <a:ext cx="2560320" cy="59436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20116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2788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主な仕組み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30632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•  CODEOWNERS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•  required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46634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レビューと CI 通過を条件化</a:t>
            </a:r>
          </a:p>
        </p:txBody>
      </p:sp>
      <p:sp>
        <p:nvSpPr>
          <p:cNvPr id="18" name="Right Triangle 17"/>
          <p:cNvSpPr/>
          <p:nvPr/>
        </p:nvSpPr>
        <p:spPr>
          <a:xfrm rot="5400000">
            <a:off x="5980174" y="3529584"/>
            <a:ext cx="201168" cy="256032"/>
          </a:xfrm>
          <a:prstGeom prst="rtTriangle">
            <a:avLst/>
          </a:prstGeom>
          <a:solidFill>
            <a:srgbClr val="5A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19" y="2011680"/>
            <a:ext cx="2560320" cy="329184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11680"/>
            <a:ext cx="2560320" cy="59436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19" y="20116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Merge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19" y="2788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主な仕組み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19" y="30632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•  rulesets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19" y="46634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merge 条件を固定</a:t>
            </a:r>
          </a:p>
        </p:txBody>
      </p:sp>
      <p:sp>
        <p:nvSpPr>
          <p:cNvPr id="25" name="Right Triangle 24"/>
          <p:cNvSpPr/>
          <p:nvPr/>
        </p:nvSpPr>
        <p:spPr>
          <a:xfrm rot="5400000">
            <a:off x="8814814" y="3529584"/>
            <a:ext cx="201168" cy="256032"/>
          </a:xfrm>
          <a:prstGeom prst="rtTriangle">
            <a:avLst/>
          </a:prstGeom>
          <a:solidFill>
            <a:srgbClr val="5A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52559" y="2011680"/>
            <a:ext cx="2560320" cy="3291840"/>
          </a:xfrm>
          <a:prstGeom prst="roundRect">
            <a:avLst>
              <a:gd name="adj" fmla="val 4000"/>
            </a:avLst>
          </a:prstGeom>
          <a:solidFill>
            <a:srgbClr val="FDEFDC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59" y="2011680"/>
            <a:ext cx="2560320" cy="594360"/>
          </a:xfrm>
          <a:prstGeom prst="rect">
            <a:avLst/>
          </a:prstGeom>
          <a:solidFill>
            <a:srgbClr val="E0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59" y="20116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59" y="2788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主な仕組み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59" y="30632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E07B1F"/>
                </a:solidFill>
                <a:latin typeface="Yu Gothic UI"/>
                <a:ea typeface="Yu Gothic UI"/>
                <a:cs typeface="Yu Gothic UI"/>
              </a:rPr>
              <a:t>•  environments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E07B1F"/>
                </a:solidFill>
                <a:latin typeface="Yu Gothic UI"/>
                <a:ea typeface="Yu Gothic UI"/>
                <a:cs typeface="Yu Gothic UI"/>
              </a:rPr>
              <a:t>•  required reviewers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E07B1F"/>
                </a:solidFill>
                <a:latin typeface="Yu Gothic UI"/>
                <a:ea typeface="Yu Gothic UI"/>
                <a:cs typeface="Yu Gothic UI"/>
              </a:rPr>
              <a:t>•  environment secrets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59" y="46634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E07B1F"/>
                </a:solidFill>
                <a:latin typeface="Yu Gothic UI"/>
                <a:ea typeface="Yu Gothic UI"/>
                <a:cs typeface="Yu Gothic UI"/>
              </a:rPr>
              <a:t>人の承認なしには進まない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13 / REPOSITORY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制御を repo のどこに置くか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6567" y="1828800"/>
            <a:ext cx="3657600" cy="1783080"/>
          </a:xfrm>
          <a:prstGeom prst="roundRect">
            <a:avLst>
              <a:gd name="adj" fmla="val 4000"/>
            </a:avLst>
          </a:prstGeom>
          <a:solidFill>
            <a:srgbClr val="F7F3FB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6567" y="1828800"/>
            <a:ext cx="50800" cy="178308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167" y="1965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policy/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3774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ルールの正本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278892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redlines / change-classes / review-matrix をツール非依存で置く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047" y="1828800"/>
            <a:ext cx="3657600" cy="178308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7047" y="1828800"/>
            <a:ext cx="50800" cy="1783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647" y="1965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60073"/>
                </a:solidFill>
                <a:latin typeface="Consolas"/>
                <a:ea typeface="Consolas"/>
                <a:cs typeface="Consolas"/>
              </a:rPr>
              <a:t>.github/skills/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647" y="23774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開発手順の標準化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647" y="278892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Agent Skills（手順・テンプレート・補助資材）を束ねる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7527" y="1828800"/>
            <a:ext cx="3657600" cy="178308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527" y="1828800"/>
            <a:ext cx="50800" cy="1783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6127" y="1965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60073"/>
                </a:solidFill>
                <a:latin typeface="Consolas"/>
                <a:ea typeface="Consolas"/>
                <a:cs typeface="Consolas"/>
              </a:rPr>
              <a:t>.github/agents/  &amp;  workflows/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23774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AI 挙動と CI 制御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6127" y="278892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custom agent 定義、ci.yml / policy-check.yml / deploy.yml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32407" y="3794760"/>
            <a:ext cx="4572000" cy="178308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32407" y="3794760"/>
            <a:ext cx="50800" cy="178308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1007" y="393192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A173A"/>
                </a:solidFill>
                <a:latin typeface="Consolas"/>
                <a:ea typeface="Consolas"/>
                <a:cs typeface="Consolas"/>
              </a:rPr>
              <a:t>scripts/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1007" y="434340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補助チェック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1007" y="4754880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classify_diff / check_protected_paths / scan_secrets など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3794760"/>
            <a:ext cx="4572000" cy="1783080"/>
          </a:xfrm>
          <a:prstGeom prst="roundRect">
            <a:avLst>
              <a:gd name="adj" fmla="val 4000"/>
            </a:avLst>
          </a:prstGeom>
          <a:solidFill>
            <a:srgbClr val="F7F3FB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7287" y="3794760"/>
            <a:ext cx="50800" cy="178308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5887" y="393192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specs/  &amp;  src/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5887" y="434340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入力と実装対象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4754880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仕様駆動開発の起点と、アプリケーション本体コード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※ 各ディレクトリの詳細は Appendix（最終スライド）の full tree を参照。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14 / POC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PoC / デモ ― 7 ステップの動線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1502228" cy="365760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5022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5022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Spec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74720"/>
            <a:ext cx="953588" cy="190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122790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仕様書を起点にする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2308" y="1965960"/>
            <a:ext cx="1502228" cy="365760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2308" y="2148840"/>
            <a:ext cx="15022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2308" y="2971800"/>
            <a:ext cx="15022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Skill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6628" y="3474720"/>
            <a:ext cx="953588" cy="190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79468" y="3657600"/>
            <a:ext cx="122790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計画・テスト・PR を標準化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35977" y="1965960"/>
            <a:ext cx="1502228" cy="365760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5977" y="2148840"/>
            <a:ext cx="15022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5977" y="2971800"/>
            <a:ext cx="15022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10297" y="3474720"/>
            <a:ext cx="953588" cy="190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73137" y="3657600"/>
            <a:ext cx="122790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通常変更を safe-implementer が実施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9645" y="1965960"/>
            <a:ext cx="1502228" cy="365760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9645" y="2148840"/>
            <a:ext cx="15022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9645" y="2971800"/>
            <a:ext cx="15022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PR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03965" y="3474720"/>
            <a:ext cx="953588" cy="190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6805" y="3657600"/>
            <a:ext cx="122790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確認観点を整形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23314" y="1965960"/>
            <a:ext cx="1502228" cy="365760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23314" y="2148840"/>
            <a:ext cx="15022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3314" y="2971800"/>
            <a:ext cx="15022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Push Block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97634" y="3474720"/>
            <a:ext cx="953588" cy="1905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60474" y="3657600"/>
            <a:ext cx="122790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secret は repo 到達前に止める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16982" y="1965960"/>
            <a:ext cx="1502228" cy="365760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16982" y="2148840"/>
            <a:ext cx="15022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16982" y="2971800"/>
            <a:ext cx="15022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91302" y="3474720"/>
            <a:ext cx="953588" cy="1905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4142" y="3657600"/>
            <a:ext cx="122790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重要変更は承認必須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10651" y="1965960"/>
            <a:ext cx="1502228" cy="3657600"/>
          </a:xfrm>
          <a:prstGeom prst="roundRect">
            <a:avLst>
              <a:gd name="adj" fmla="val 4000"/>
            </a:avLst>
          </a:prstGeom>
          <a:solidFill>
            <a:srgbClr val="FDEFDC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10651" y="2148840"/>
            <a:ext cx="15022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E07B1F"/>
                </a:solidFill>
                <a:latin typeface="Yu Gothic UI"/>
                <a:ea typeface="Yu Gothic UI"/>
                <a:cs typeface="Yu Gothic U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0651" y="2971800"/>
            <a:ext cx="15022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E07B1F"/>
                </a:solidFill>
                <a:latin typeface="Yu Gothic UI"/>
                <a:ea typeface="Yu Gothic UI"/>
                <a:cs typeface="Yu Gothic UI"/>
              </a:rPr>
              <a:t>Deploy Approval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84971" y="3474720"/>
            <a:ext cx="953588" cy="19050"/>
          </a:xfrm>
          <a:prstGeom prst="rect">
            <a:avLst/>
          </a:prstGeom>
          <a:solidFill>
            <a:srgbClr val="E0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7811" y="3657600"/>
            <a:ext cx="122790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本番は reviewer 承認必須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943600"/>
            <a:ext cx="73152" cy="3657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9436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KEY ― 見せ場は「書ける」ではなく、「標準化できる」「止まる」「承認境界がある」。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15 / HYPOTHESIS &amp;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検証仮説と成功基準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173736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0800" cy="17373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検証仮説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7744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Skill により、計画・テスト・PR の起票が早くなる。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7744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Block 制御により、危険変更は通らなくなる。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H3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Yu Gothic UI"/>
                <a:ea typeface="Yu Gothic UI"/>
                <a:cs typeface="Yu Gothic UI"/>
              </a:rPr>
              <a:t>Review の説明コストが下がる。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成功基準（例）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2642615" cy="201168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2642615" cy="45720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2642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KPI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23682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実装計画ドラフト作成時間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23682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30 分 → 10 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5848" y="3703320"/>
            <a:ext cx="2642615" cy="201168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55848" y="3703320"/>
            <a:ext cx="2642615" cy="45720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5848" y="3703320"/>
            <a:ext cx="2642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KPI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4297680"/>
            <a:ext cx="23682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PR テンプレート充足率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4937760"/>
            <a:ext cx="23682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80% 以上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5" y="3703320"/>
            <a:ext cx="2642615" cy="201168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3055" y="3703320"/>
            <a:ext cx="2642615" cy="45720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5" y="3703320"/>
            <a:ext cx="2642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KPI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5" y="4297680"/>
            <a:ext cx="23682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想定 secret 混入シナリオ停止率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5" y="4937760"/>
            <a:ext cx="23682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100%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0263" y="3703320"/>
            <a:ext cx="2642615" cy="201168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70263" y="3703320"/>
            <a:ext cx="2642615" cy="45720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70263" y="3703320"/>
            <a:ext cx="2642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KPI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3143" y="4297680"/>
            <a:ext cx="23682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重要変更の code owner review 実施率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3143" y="4937760"/>
            <a:ext cx="23682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16 / HARNESS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最近の Harness Engineering が示すこと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Copilot 活用は prompt 設計だけでなく、harness 設計の比重が上がっている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最近の agent 実装では、モデル単体よりも「どう走らせるか・どう文脈を持ち越すか・どう評価するか」という harness 設計の重要性が高まっています。Anthropic は長時間エージェントで progress / handoff / structured artifacts の重要性を強調し、OpenAI も repo・CI・sandbox を含む harness を agent-first 開発の基盤として扱っています。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3566160" cy="278892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3566160" cy="38404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ARTIFACTS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44368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長時間タスクでは artifact 設計が効く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47872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progress / handoff / summary の外部化が重要になる。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initializer・structured handoff・incremental progress を重視 [Anthropic]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590288"/>
            <a:ext cx="3108960" cy="6350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645152"/>
            <a:ext cx="320040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→ Hook の handoff、Skill のテンプレート、specs/ や policy/ は、agent の実質的な作業記憶になる。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2468880"/>
            <a:ext cx="3566160" cy="278892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2468880"/>
            <a:ext cx="356616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246888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REPO AS HARNESS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4688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944368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repo は agent の system of record になる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3547872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OpenAI は repo / CI / AGENTS.md などの scaffold を agent-first 開発の中核に置く [OpenAI]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Anthropic は simple, composable patterns と構造化 context 管理を重視 [Anthropic]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79" y="4590288"/>
            <a:ext cx="3108960" cy="6350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4645152"/>
            <a:ext cx="320040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→ policy/、.github/skills/、.github/agents/、workflows/ の分離は Copilot 設定ではなく harness 設計として読むのが妥当。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2468880"/>
            <a:ext cx="3566160" cy="2788920"/>
          </a:xfrm>
          <a:prstGeom prst="roundRect">
            <a:avLst>
              <a:gd name="adj" fmla="val 4000"/>
            </a:avLst>
          </a:prstGeom>
          <a:solidFill>
            <a:srgbClr val="F8E4EE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19" y="2468880"/>
            <a:ext cx="3566160" cy="384048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19" y="246888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HARNESS EVALS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4688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944368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評価対象は model 単体ではなく harness +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3547872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Anthropic は agent eval を agent 全体のふるまいとして整理 [Anthropic]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OpenAI は model-native harness と native sandbox execution を打ち出し [OpenAI]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4590288"/>
            <a:ext cx="3108960" cy="6350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4645152"/>
            <a:ext cx="320040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→ 前ページの KPI（PR 品質 / secret 停止率 / code owner review 実施率 / 実装計画ドラフト時間）は harness を含む PoC 評価として整合的。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4924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5A173A"/>
          </a:solidFill>
          <a:ln w="6350">
            <a:solidFill>
              <a:srgbClr val="5A1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34924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DEFDC"/>
                </a:solidFill>
                <a:latin typeface="Yu Gothic UI"/>
                <a:ea typeface="Yu Gothic UI"/>
                <a:cs typeface="Yu Gothic UI"/>
              </a:rPr>
              <a:t>今回の設計は方向として合っているが、次に強化すべき点がある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34924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07B1F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534924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progress / handoff / plan / quality artifacts を正式な設計要素として定義する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534924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07B1F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534924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planner の次に evaluator / reviewer 的な役割を入れる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534924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07B1F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534924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モデル更新ごとに harness の前提を見直す [Anthropic]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943600"/>
            <a:ext cx="73152" cy="3657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9436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KEY ― これからの差は、モデル単体より「どう走らせ、どう記録し、どう評価し、どう劣化を防ぐか」でつく。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17 /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まとめ ― 3 つの持ち帰りと次の打ち手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1691640"/>
          </a:xfrm>
          <a:prstGeom prst="roundRect">
            <a:avLst>
              <a:gd name="adj" fmla="val 4000"/>
            </a:avLst>
          </a:prstGeom>
          <a:solidFill>
            <a:srgbClr val="E9D8FA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0800" cy="1691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3172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標準化は Agent Skills から始める。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28600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33172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保護境界は GitHub / CI 側に持たせる。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8600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33172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外部連携や高度化は後から足す。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2A5A"/>
                </a:solidFill>
                <a:latin typeface="Yu Gothic UI"/>
                <a:ea typeface="Yu Gothic UI"/>
                <a:cs typeface="Yu Gothic UI"/>
              </a:rPr>
              <a:t>NEXT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8B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3566160" cy="457200"/>
          </a:xfrm>
          <a:prstGeom prst="rect">
            <a:avLst/>
          </a:prstGeom>
          <a:solidFill>
            <a:srgbClr val="8B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標準化の土台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3200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instructions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Agent Skills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基本 CI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61188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79" y="3611880"/>
            <a:ext cx="3566160" cy="457200"/>
          </a:xfrm>
          <a:prstGeom prst="rect">
            <a:avLst/>
          </a:prstGeom>
          <a:solidFill>
            <a:srgbClr val="5A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79" y="36118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挙動調整と保護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4663440"/>
            <a:ext cx="3200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custom agents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hooks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policy-check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61188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3611880"/>
            <a:ext cx="3566160" cy="457200"/>
          </a:xfrm>
          <a:prstGeom prst="rect">
            <a:avLst/>
          </a:prstGeom>
          <a:solidFill>
            <a:srgbClr val="5A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9" y="36118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5A173A"/>
                </a:solidFill>
                <a:latin typeface="Yu Gothic UI"/>
                <a:ea typeface="Yu Gothic UI"/>
                <a:cs typeface="Yu Gothic UI"/>
              </a:rPr>
              <a:t>連携と監査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663440"/>
            <a:ext cx="3200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MCP 連携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高度承認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Yu Gothic UI"/>
                <a:ea typeface="Yu Gothic UI"/>
                <a:cs typeface="Yu Gothic UI"/>
              </a:rPr>
              <a:t>•  監査・audit 設計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943600"/>
            <a:ext cx="73152" cy="3657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9436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便利さと安全性を同じ仕組みに背負わせず、役割を分けることが導入の前提と考えています。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100FF"/>
                </a:solidFill>
                <a:latin typeface="Yu Gothic UI"/>
                <a:ea typeface="Yu Gothic UI"/>
                <a:cs typeface="Yu Gothic UI"/>
              </a:rPr>
              <a:t>APPENDIX  /  REPOSITORY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60073"/>
                </a:solidFill>
                <a:latin typeface="Yu Gothic UI"/>
                <a:ea typeface="Yu Gothic UI"/>
                <a:cs typeface="Yu Gothic UI"/>
              </a:rPr>
              <a:t>Repository / 詳細ディレクトリ構成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371600" cy="3175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64240" cy="466344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892808"/>
            <a:ext cx="128016" cy="128016"/>
          </a:xfrm>
          <a:prstGeom prst="ellipse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892808"/>
            <a:ext cx="128016" cy="128016"/>
          </a:xfrm>
          <a:prstGeom prst="ellipse">
            <a:avLst/>
          </a:prstGeom>
          <a:solidFill>
            <a:srgbClr val="FFB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1892808"/>
            <a:ext cx="128016" cy="128016"/>
          </a:xfrm>
          <a:prstGeom prst="ellipse">
            <a:avLst/>
          </a:prstGeom>
          <a:solidFill>
            <a:srgbClr val="5AC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85623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9D8FA"/>
                </a:solidFill>
                <a:latin typeface="Consolas"/>
                <a:ea typeface="Consolas"/>
                <a:cs typeface="Consolas"/>
              </a:rPr>
              <a:t>repository tree  /  project-root/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856232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Consolas"/>
                <a:ea typeface="Consolas"/>
                <a:cs typeface="Consolas"/>
              </a:rPr>
              <a:t>path    /    # 役割・責務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21992"/>
            <a:ext cx="10424160" cy="3977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project-root/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├── policy/             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AI開発運用におけるルール定義の置き場（ツール非依存の正本）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├── redlines.yaml   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AIが原則触れてはいけない領域・操作を定義する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├── change-classes.yaml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変更の重要度分類（通常変更／要注意／要承認など）を定義する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└── review-matrix.yaml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変更種別ごとに必要なレビュー者・承認条件を定義する</a:t>
            </a:r>
          </a:p>
          <a:p>
            <a:pPr>
              <a:lnSpc>
                <a:spcPct val="100000"/>
              </a:lnSpc>
            </a:pPr>
            <a:r>
              <a:rPr sz="300">
                <a:solidFill>
                  <a:srgbClr val="8A8A8A"/>
                </a:solidFill>
                <a:latin typeface="Consolas"/>
                <a:ea typeface="Yu Gothic UI"/>
                <a:cs typeface="Yu Gothic UI"/>
              </a:rPr>
              <a:t>│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├── .github/            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GitHub / Copilot / CI / CD に関する設定を集約する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├── copilot-instructions.md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リポジトリ全体でCopilotに共通適用する基本方針・開発ルール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├── instructions/   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パスや用途ごとにCopilotへ追加注入する個別指示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│   ├── backend.instructions.md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バックエンド実装時に守らせたい設計・品質ルール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│   └── security.instructions.md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セキュリティ観点で特に注意させたい実装ルール</a:t>
            </a:r>
          </a:p>
          <a:p>
            <a:pPr>
              <a:lnSpc>
                <a:spcPct val="100000"/>
              </a:lnSpc>
            </a:pPr>
            <a:r>
              <a:rPr sz="300">
                <a:solidFill>
                  <a:srgbClr val="8A8A8A"/>
                </a:solidFill>
                <a:latin typeface="Consolas"/>
                <a:ea typeface="Yu Gothic UI"/>
                <a:cs typeface="Yu Gothic UI"/>
              </a:rPr>
              <a:t>│   │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├── agents/         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Copilot Custom Agent の定義置き場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│   └── safe-implementer.md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安全側に倒した実装専用エージェントの役割・制約を定義する</a:t>
            </a:r>
          </a:p>
          <a:p>
            <a:pPr>
              <a:lnSpc>
                <a:spcPct val="100000"/>
              </a:lnSpc>
            </a:pPr>
            <a:r>
              <a:rPr sz="300">
                <a:solidFill>
                  <a:srgbClr val="8A8A8A"/>
                </a:solidFill>
                <a:latin typeface="Consolas"/>
                <a:ea typeface="Yu Gothic UI"/>
                <a:cs typeface="Yu Gothic UI"/>
              </a:rPr>
              <a:t>│   │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├── skills/         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Agent Skills の定義群（手順・知識・補助資材を束ねる）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│   ├── spec-driven-implementation/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仕様駆動開発を支援する Skill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│   │   ├── SKILL.md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仕様確認→設計→実装→テストの標準手順を記述する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│   │   └── templates/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仕様書テンプレートや実装計画テンプレートを格納する</a:t>
            </a:r>
          </a:p>
          <a:p>
            <a:pPr>
              <a:lnSpc>
                <a:spcPct val="100000"/>
              </a:lnSpc>
            </a:pPr>
            <a:r>
              <a:rPr sz="300">
                <a:solidFill>
                  <a:srgbClr val="8A8A8A"/>
                </a:solidFill>
                <a:latin typeface="Consolas"/>
                <a:ea typeface="Yu Gothic UI"/>
                <a:cs typeface="Yu Gothic UI"/>
              </a:rPr>
              <a:t>│   │   │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│   ├── secure-change-review/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セキュア変更レビューを支援する Skill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│   │   ├── SKILL.md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認証・認可・機密情報・監査ログ等の確認観点を記述する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│   │   └── checklists/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レビュー時に使う観点チェックリストを格納する</a:t>
            </a:r>
          </a:p>
          <a:p>
            <a:pPr>
              <a:lnSpc>
                <a:spcPct val="100000"/>
              </a:lnSpc>
            </a:pPr>
            <a:r>
              <a:rPr sz="300">
                <a:solidFill>
                  <a:srgbClr val="8A8A8A"/>
                </a:solidFill>
                <a:latin typeface="Consolas"/>
                <a:ea typeface="Yu Gothic UI"/>
                <a:cs typeface="Yu Gothic UI"/>
              </a:rPr>
              <a:t>│   │   │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│   └── github-actions-debug/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GitHub Actions 障害解析を支援する Skill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│       ├── SKILL.md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ログ確認、失敗箇所切り分け、再現手順の標準フローを記述する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│       └── scripts/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デバッグ補助用の簡易スクリプトを格納する</a:t>
            </a:r>
          </a:p>
          <a:p>
            <a:pPr>
              <a:lnSpc>
                <a:spcPct val="100000"/>
              </a:lnSpc>
            </a:pPr>
            <a:r>
              <a:rPr sz="300">
                <a:solidFill>
                  <a:srgbClr val="8A8A8A"/>
                </a:solidFill>
                <a:latin typeface="Consolas"/>
                <a:ea typeface="Yu Gothic UI"/>
                <a:cs typeface="Yu Gothic UI"/>
              </a:rPr>
              <a:t>│   │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├── workflows/      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GitHub Actions のワークフロー定義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│   ├── ci.yml      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Lint / Test / Build / Security Scan 等の基本CIを実行する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│   ├── policy-check.yml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redline違反や保護対象変更などのポリシー違反を検知する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│   └── deploy.yml  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デプロイ処理を実行する（必要に応じて承認付き）</a:t>
            </a:r>
          </a:p>
          <a:p>
            <a:pPr>
              <a:lnSpc>
                <a:spcPct val="100000"/>
              </a:lnSpc>
            </a:pPr>
            <a:r>
              <a:rPr sz="300">
                <a:solidFill>
                  <a:srgbClr val="8A8A8A"/>
                </a:solidFill>
                <a:latin typeface="Consolas"/>
                <a:ea typeface="Yu Gothic UI"/>
                <a:cs typeface="Yu Gothic UI"/>
              </a:rPr>
              <a:t>│   │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└── CODEOWNERS      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重要領域の変更時に必須となるレビュアーを指定する</a:t>
            </a:r>
          </a:p>
          <a:p>
            <a:pPr>
              <a:lnSpc>
                <a:spcPct val="100000"/>
              </a:lnSpc>
            </a:pPr>
            <a:r>
              <a:rPr sz="300">
                <a:solidFill>
                  <a:srgbClr val="8A8A8A"/>
                </a:solidFill>
                <a:latin typeface="Consolas"/>
                <a:ea typeface="Yu Gothic UI"/>
                <a:cs typeface="Yu Gothic UI"/>
              </a:rPr>
              <a:t>│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├── scripts/            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ローカル実行やCIから呼び出す補助スクリプト群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├── classify_diff.sh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変更差分を解析し、変更クラスを判定する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├── check_protected_paths.sh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保護対象パスへの変更有無を確認する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│   └── scan_secrets.sh 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秘密情報や機密文字列の混入を簡易スキャンする</a:t>
            </a:r>
          </a:p>
          <a:p>
            <a:pPr>
              <a:lnSpc>
                <a:spcPct val="100000"/>
              </a:lnSpc>
            </a:pPr>
            <a:r>
              <a:rPr sz="300">
                <a:solidFill>
                  <a:srgbClr val="8A8A8A"/>
                </a:solidFill>
                <a:latin typeface="Consolas"/>
                <a:ea typeface="Yu Gothic UI"/>
                <a:cs typeface="Yu Gothic UI"/>
              </a:rPr>
              <a:t>│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├── specs/              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仕様書・要件定義・受入条件など、仕様駆動開発の起点を置く</a:t>
            </a:r>
          </a:p>
          <a:p>
            <a:pPr>
              <a:lnSpc>
                <a:spcPct val="100000"/>
              </a:lnSpc>
            </a:pPr>
            <a:r>
              <a:rPr sz="300">
                <a:solidFill>
                  <a:srgbClr val="8A8A8A"/>
                </a:solidFill>
                <a:latin typeface="Consolas"/>
                <a:ea typeface="Yu Gothic UI"/>
                <a:cs typeface="Yu Gothic UI"/>
              </a:rPr>
              <a:t>│</a:t>
            </a:r>
          </a:p>
          <a:p>
            <a:pPr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Consolas"/>
                <a:ea typeface="Yu Gothic UI"/>
                <a:cs typeface="Yu Gothic UI"/>
              </a:rPr>
              <a:t>└── src/                                   </a:t>
            </a:r>
            <a:r>
              <a:rPr sz="800">
                <a:solidFill>
                  <a:srgbClr val="E9D8FA"/>
                </a:solidFill>
                <a:latin typeface="Consolas"/>
                <a:ea typeface="Yu Gothic UI"/>
                <a:cs typeface="Yu Gothic UI"/>
              </a:rPr>
              <a:t>  # アプリケーション本体コード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CF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Agent Skills × ガバナンス設計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537960"/>
            <a:ext cx="1676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A8A"/>
                </a:solidFill>
                <a:latin typeface="Yu Gothic UI"/>
                <a:ea typeface="Yu Gothic UI"/>
                <a:cs typeface="Yu Gothic U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