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【このページの役割】冒頭で論点を固定する。便利機能の話ではなく、運用に耐える設計の話であることを宣言する。</a:t>
            </a:r>
          </a:p>
          <a:p/>
          <a:p>
            <a:r>
              <a:t>【話すポイント】</a:t>
            </a:r>
          </a:p>
          <a:p>
            <a:r>
              <a:t>  1. 今日は GitHub Copilot の新機能紹介ではなく、現場に入れたときにどこで困るか、その問題にどう設計で答えたかを話す。</a:t>
            </a:r>
          </a:p>
          <a:p>
            <a:r>
              <a:t>  2. AI の賢さ以前に「どこまで任せてよいか」「何を通してはいけないか」が現場の論点になる。</a:t>
            </a:r>
          </a:p>
          <a:p>
            <a:r>
              <a:t>  3. 後半は、問題 → 要件 → 設計 → PoC → 評価の順で進む。</a:t>
            </a:r>
          </a:p>
          <a:p/>
          <a:p>
            <a:r>
              <a:t>【このページで伝えたい設計判断】</a:t>
            </a:r>
          </a:p>
          <a:p>
            <a:r>
              <a:t>  ・設計の主語を「機能」ではなく「現場の問題」に置く。</a:t>
            </a:r>
          </a:p>
          <a:p>
            <a:r>
              <a:t>  ・AI 支援とガードレールは、同じ仕組みに背負わせないという立場を最初に示す。</a:t>
            </a:r>
          </a:p>
          <a:p/>
          <a:p>
            <a:r>
              <a:t>【次ページへのつなぎ】まず、現場で実際に起こる問題から共有する。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【このページの役割】話の地図を見せる。4章構成であることを最初に共有する。</a:t>
            </a:r>
          </a:p>
          <a:p/>
          <a:p>
            <a:r>
              <a:t>【話すポイント】</a:t>
            </a:r>
          </a:p>
          <a:p>
            <a:r>
              <a:t>  1. 前半は問題設定、中盤は設計原則と責務分担、終盤は PoC と評価。</a:t>
            </a:r>
          </a:p>
          <a:p>
            <a:r>
              <a:t>  2. この順番にすることで、仕組みが単なるツール紹介にならず、設計判断として理解されやすい。</a:t>
            </a:r>
          </a:p>
          <a:p/>
          <a:p>
            <a:r>
              <a:t>【このページで伝えたい設計判断】</a:t>
            </a:r>
          </a:p>
          <a:p>
            <a:r>
              <a:t>  ・アジェンダ自体も、課題駆動の設計思想を反映させる。</a:t>
            </a:r>
          </a:p>
          <a:p/>
          <a:p>
            <a:r>
              <a:t>【次ページへのつなぎ】まず、GitHub Copilot を現場に入れたときに、何が運用課題になるのかを整理する。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【このページの役割】問題を 3 つに整理する。以降の設計は、この 3 問題への答えとして組み立てる。</a:t>
            </a:r>
          </a:p>
          <a:p/>
          <a:p>
            <a:r>
              <a:t>【話すポイント】</a:t>
            </a:r>
          </a:p>
          <a:p>
            <a:r>
              <a:t>  1. 論点は AI の精度ではなく、手順のばらつき・レビュー負荷・保護境界。</a:t>
            </a:r>
          </a:p>
          <a:p>
            <a:r>
              <a:t>  2. PoC の軽さは別軸の制約として、設計要件の 5 つ目に回す。</a:t>
            </a:r>
          </a:p>
          <a:p/>
          <a:p>
            <a:r>
              <a:t>【このページで伝えたい設計判断】</a:t>
            </a:r>
          </a:p>
          <a:p>
            <a:r>
              <a:t>  ・問題を 3 つに束ねることで、後段の責務分離（AI支援 vs ガードレール）に綺麗につながる。</a:t>
            </a:r>
          </a:p>
          <a:p/>
          <a:p>
            <a:r>
              <a:t>【次ページへのつなぎ】次に、この 3 問題のうち、手順のばらつきから順番に見ていく。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【このページの役割】まず標準化したいのは、コード生成ではなく、仕様の読み方・計画の立て方・テスト観点の出し方。</a:t>
            </a:r>
          </a:p>
          <a:p/>
          <a:p>
            <a:r>
              <a:t>【話すポイント】</a:t>
            </a:r>
          </a:p>
          <a:p>
            <a:r>
              <a:t>  1. Skills は反復的な開発手順を安定化する仕組みとして扱う。</a:t>
            </a:r>
          </a:p>
          <a:p>
            <a:r>
              <a:t>  2. always-on instruction ではなく、必要な場面で読み込ませる方が運用しやすい。</a:t>
            </a:r>
          </a:p>
          <a:p/>
          <a:p>
            <a:r>
              <a:t>【このページで伝えたい設計判断】</a:t>
            </a:r>
          </a:p>
          <a:p>
            <a:r>
              <a:t>  ・Skills を起点にする理由は、PoC 初期に重いオーケストレーションを作らず、最小限の仕組みで一貫性を出せるため。</a:t>
            </a:r>
          </a:p>
          <a:p/>
          <a:p>
            <a:r>
              <a:t>【次ページへのつなぎ】手順を標準化しても、AI の変更範囲までは読みやすくならない。次はそこを見る。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【このページの役割】custom agents / hooks の位置づけを「便利機能」ではなく「レビュー可能性を担保する層」にする。</a:t>
            </a:r>
          </a:p>
          <a:p/>
          <a:p>
            <a:r>
              <a:t>【話すポイント】</a:t>
            </a:r>
          </a:p>
          <a:p>
            <a:r>
              <a:t>  1. ここでの目的は、AI を賢く見せることではなく、変更を人が読める状態にすること。</a:t>
            </a:r>
          </a:p>
          <a:p>
            <a:r>
              <a:t>  2. MCP はこのページで主役にしない。Phase 2 で外部接続を足す話として脚注化する。</a:t>
            </a:r>
          </a:p>
          <a:p/>
          <a:p>
            <a:r>
              <a:t>【このページで伝えたい設計判断】</a:t>
            </a:r>
          </a:p>
          <a:p>
            <a:r>
              <a:t>  ・役割分離を入れることで、AI の出力品質より先に「変更の読みやすさ」「責任境界の説明しやすさ」を改善する。</a:t>
            </a:r>
          </a:p>
          <a:p/>
          <a:p>
            <a:r>
              <a:t>【次ページへのつなぎ】そして、AI が気をつければよいでは済まない境界がある。次はそこを見る。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【このページの役割】「なぜ hooks が必要か」に続いて「hooks で実際に何ができるか」を具体化する。</a:t>
            </a:r>
          </a:p>
          <a:p/>
          <a:p>
            <a:r>
              <a:t>【話すポイント】</a:t>
            </a:r>
          </a:p>
          <a:p>
            <a:r>
              <a:t>  1. hooks は単なる pre/post の小技ではなく、session 開始、プロンプト送信、ツール実行前後、session 終了のライフサイクル全体に差し込める。</a:t>
            </a:r>
          </a:p>
          <a:p>
            <a:r>
              <a:t>  2. ここでやりたいのは、危険コマンドの抑止、sensitive read の警告、auto-format や lint、handoff の自動化といった runtime control。</a:t>
            </a:r>
          </a:p>
          <a:p>
            <a:r>
              <a:t>  3. merge / deploy / secret の最終遮断は hooks の責務ではない。次のスライドで GitHub / CI 側のガードレールに持たせる。</a:t>
            </a:r>
          </a:p>
          <a:p/>
          <a:p>
            <a:r>
              <a:t>【このページで伝えたい設計判断】</a:t>
            </a:r>
          </a:p>
          <a:p>
            <a:r>
              <a:t>  ・hooks は Layer 2（AI 支援）に位置する。hard gate は rulesets / CODEOWNERS / environments / push protection 側に置く。</a:t>
            </a:r>
          </a:p>
          <a:p/>
          <a:p>
            <a:r>
              <a:t>【次ページへのつなぎ】ここまでで AI の挙動は整う。では保護境界は ―― 次に GitHub / CI のガードレールを見る。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【このページの役割】「認識していれば避けられる」ではなく、「認識できなくても通らない」設計に寄せる理由を明確にする。</a:t>
            </a:r>
          </a:p>
          <a:p/>
          <a:p>
            <a:r>
              <a:t>【話すポイント】</a:t>
            </a:r>
          </a:p>
          <a:p>
            <a:r>
              <a:t>  1. push protection は secret が repository に到達する前にブロックする [Ref-8]。AI の注意力に頼らない領域。</a:t>
            </a:r>
          </a:p>
          <a:p>
            <a:r>
              <a:t>  2. CODEOWNERS + rulesets で code owner approval を merge 条件として強制化できる [Ref-6][Ref-7]。</a:t>
            </a:r>
          </a:p>
          <a:p>
            <a:r>
              <a:t>  3. environments は required reviewers / self-review 防止 / environment secrets gating で承認境界を作れる [Ref-9]。</a:t>
            </a:r>
          </a:p>
          <a:p/>
          <a:p>
            <a:r>
              <a:t>【このページで伝えたい設計判断】</a:t>
            </a:r>
          </a:p>
          <a:p>
            <a:r>
              <a:t>  ・このレイヤーの本質は、ガードレール・監査可能性・承認境界の明確化。</a:t>
            </a:r>
          </a:p>
          <a:p/>
          <a:p>
            <a:r>
              <a:t>【次ページへのつなぎ】3 問題が整理できたので、次に設計要件として翻訳する。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【このページの役割】3 問題を 4 要件に翻訳する。段階導入は要件から切り出して、最終スライドの Next Step に置く。</a:t>
            </a:r>
          </a:p>
          <a:p/>
          <a:p>
            <a:r>
              <a:t>【話すポイント】</a:t>
            </a:r>
          </a:p>
          <a:p>
            <a:r>
              <a:t>  1. 高機能かどうかではなく、要件に対して責務が綺麗に分かれているかで評価する。</a:t>
            </a:r>
          </a:p>
          <a:p>
            <a:r>
              <a:t>  2. Layer 1-2 は AI 支援、Layer 3-4 はガードレールという色分けで以降のスライドを読む。</a:t>
            </a:r>
          </a:p>
          <a:p/>
          <a:p>
            <a:r>
              <a:t>【このページで伝えたい設計判断】</a:t>
            </a:r>
          </a:p>
          <a:p>
            <a:r>
              <a:t>  ・設計の良し悪しは、責務分離の綺麗さで測る。</a:t>
            </a:r>
          </a:p>
          <a:p/>
          <a:p>
            <a:r>
              <a:t>【次ページへのつなぎ】この 4 要件に対する答えとして、今回の設計原則を次のスライドで固定する。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【このページの役割】この発表の中心思想を 1 枚で固定する。以降のレイヤー議論はすべてこの原則から派生する。</a:t>
            </a:r>
          </a:p>
          <a:p/>
          <a:p>
            <a:r>
              <a:t>【話すポイント】</a:t>
            </a:r>
          </a:p>
          <a:p>
            <a:r>
              <a:t>  1. AI 支援レイヤーは「よりよく作業させる」ため。一方ガードレールは「通してよい結果だけを通す」ため。</a:t>
            </a:r>
          </a:p>
          <a:p>
            <a:r>
              <a:t>  2. 判定を持つ主体が違う点がポイント。前者は人の補助、後者は GitHub / CI が最終判定者。</a:t>
            </a:r>
          </a:p>
          <a:p/>
          <a:p>
            <a:r>
              <a:t>【このページで伝えたい設計判断】</a:t>
            </a:r>
          </a:p>
          <a:p>
            <a:r>
              <a:t>  ・Agent Skills を万能視しない。最終的な merge / deploy 判定は必ず GitHub 側が持つ。</a:t>
            </a:r>
          </a:p>
          <a:p/>
          <a:p>
            <a:r>
              <a:t>【次ページへのつなぎ】この原則を、4 層アーキテクチャと「どの問題をどのレイヤーで答えるか」に落とす。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【このページの役割】8 枚目の設計原則を、3 問題 × 4 レイヤーの対応表として可視化する。</a:t>
            </a:r>
          </a:p>
          <a:p/>
          <a:p>
            <a:r>
              <a:t>【話すポイント】</a:t>
            </a:r>
          </a:p>
          <a:p>
            <a:r>
              <a:t>  1. 各レイヤーは上位を補完するが、責務は代替しない。Layer 2 の hooks があっても Layer 3 の required checks は必要。</a:t>
            </a:r>
          </a:p>
          <a:p>
            <a:r>
              <a:t>  2. Layer 3-4 だけでも Layer 1 の標準化は置き換えられない。</a:t>
            </a:r>
          </a:p>
          <a:p/>
          <a:p>
            <a:r>
              <a:t>【このページで伝えたい設計判断】</a:t>
            </a:r>
          </a:p>
          <a:p>
            <a:r>
              <a:t>  ・4 層は技術分類ではなく責務分類であり、問題への対応表としても読めることを明示する。</a:t>
            </a:r>
          </a:p>
          <a:p/>
          <a:p>
            <a:r>
              <a:t>【次ページへのつなぎ】次に、各レイヤーで何をどう置くのかを具体化する。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【このページの役割】Layer 1-2 の代表例に絞って、PoC 初期に何から置くかを具体化する。</a:t>
            </a:r>
          </a:p>
          <a:p/>
          <a:p>
            <a:r>
              <a:t>【話すポイント】</a:t>
            </a:r>
          </a:p>
          <a:p>
            <a:r>
              <a:t>  1. GitHub Docs の custom agents は tools・MCP server・model を agent ごとに定義できる [Ref-3]。</a:t>
            </a:r>
          </a:p>
          <a:p>
            <a:r>
              <a:t>  2. PoC 初期の主戦場は Layer 1-2 であり、ここで AI の仕事の仕方を整える。</a:t>
            </a:r>
          </a:p>
          <a:p/>
          <a:p>
            <a:r>
              <a:t>【このページで伝えたい設計判断】</a:t>
            </a:r>
          </a:p>
          <a:p>
            <a:r>
              <a:t>  ・Layer 1-2 は導入しやすいが、ここだけでは安全性を語れない。次のレイヤーと必ず接続する。</a:t>
            </a:r>
          </a:p>
          <a:p/>
          <a:p>
            <a:r>
              <a:t>【次ページへのつなぎ】この外側に、GitHub / CI のガードレールを配置する。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【このページの役割】Layer 3-4 を静的な表ではなく、どこで止まるかのパイプラインとして見せる。</a:t>
            </a:r>
          </a:p>
          <a:p/>
          <a:p>
            <a:r>
              <a:t>【話すポイント】</a:t>
            </a:r>
          </a:p>
          <a:p>
            <a:r>
              <a:t>  1. Push 地点で secret が止まること、Merge 地点で required checks が効くことを順に示す。</a:t>
            </a:r>
          </a:p>
          <a:p>
            <a:r>
              <a:t>  2. Deploy 地点だけは「止める」ではなく「人の承認を挟む」点を分けて説明する。</a:t>
            </a:r>
          </a:p>
          <a:p/>
          <a:p>
            <a:r>
              <a:t>【このページで伝えたい設計判断】</a:t>
            </a:r>
          </a:p>
          <a:p>
            <a:r>
              <a:t>  ・このレイヤーの本質は、禁止を言い聞かせる層ではなく、破られても通らない層であること。</a:t>
            </a:r>
          </a:p>
          <a:p/>
          <a:p>
            <a:r>
              <a:t>【次ページへのつなぎ】ここまでの責務分担を、repository の中にどう置くかを次に見る。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【このページの役割】実装場所の全体像を、5 ボックスで高速に掴める形で見せる。</a:t>
            </a:r>
          </a:p>
          <a:p/>
          <a:p>
            <a:r>
              <a:t>【話すポイント】</a:t>
            </a:r>
          </a:p>
          <a:p>
            <a:r>
              <a:t>  1. policy/ を .github/ の外に置き、GitHub 専用設定ではなく運用ルールの正本として扱う。</a:t>
            </a:r>
          </a:p>
          <a:p>
            <a:r>
              <a:t>  2. .github/ 配下には Copilot / GitHub / Actions が直接読むカスタマイズや制御を集約する。</a:t>
            </a:r>
          </a:p>
          <a:p>
            <a:r>
              <a:t>  3. 詳細構造は Appendix を参照する旨を案内する。</a:t>
            </a:r>
          </a:p>
          <a:p/>
          <a:p>
            <a:r>
              <a:t>【このページで伝えたい設計判断】</a:t>
            </a:r>
          </a:p>
          <a:p>
            <a:r>
              <a:t>  ・実装場所が曖昧だと PoC 後の運用引き継ぎで崩れやすい。構成も説明可能性の一部として扱う。</a:t>
            </a:r>
          </a:p>
          <a:p/>
          <a:p>
            <a:r>
              <a:t>【次ページへのつなぎ】この設計を PoC / デモでどう見せると価値が伝わるかを整理する。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【このページの役割】設計とデモを接続する。動線を色分けで示し、どこで価値が出てどこで止まるかを可視化する。</a:t>
            </a:r>
          </a:p>
          <a:p/>
          <a:p>
            <a:r>
              <a:t>【話すポイント】</a:t>
            </a:r>
          </a:p>
          <a:p>
            <a:r>
              <a:t>  1. デモの見せ場は 3 つ：標準化されること、危険な変更が止まること、責任境界が明確であること。</a:t>
            </a:r>
          </a:p>
          <a:p>
            <a:r>
              <a:t>  2. Step 5-6 はガードレール（wine）、Step 7 は人の承認（orange）と色で責務を分ける。</a:t>
            </a:r>
          </a:p>
          <a:p/>
          <a:p>
            <a:r>
              <a:t>【このページで伝えたい設計判断】</a:t>
            </a:r>
          </a:p>
          <a:p>
            <a:r>
              <a:t>  ・PoC の価値はモデル精度だけではなく、運用のしやすさ・説明のしやすさ・事故予防で決まる。</a:t>
            </a:r>
          </a:p>
          <a:p/>
          <a:p>
            <a:r>
              <a:t>【次ページへのつなぎ】PoC を見せるなら、その場で何をもって成功とするかも合わせて定義する。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【このページの役割】PoC の評価軸を仮説 + 基準値として明示し、印象評価で終わらせない。</a:t>
            </a:r>
          </a:p>
          <a:p/>
          <a:p>
            <a:r>
              <a:t>【話すポイント】</a:t>
            </a:r>
          </a:p>
          <a:p>
            <a:r>
              <a:t>  1. PoC を「モデルの勝ち負け」ではなく「運用設計の仮説検証」として位置づける。</a:t>
            </a:r>
          </a:p>
          <a:p>
            <a:r>
              <a:t>  2. 止まるべきものが止まれば成功。PoC でブロックが発生するのは、統制が機能している証拠。</a:t>
            </a:r>
          </a:p>
          <a:p/>
          <a:p>
            <a:r>
              <a:t>【このページで伝えたい設計判断】</a:t>
            </a:r>
          </a:p>
          <a:p>
            <a:r>
              <a:t>  ・評価軸を先に置くことで、PoC 後の次アクションを決めやすくする。</a:t>
            </a:r>
          </a:p>
          <a:p/>
          <a:p>
            <a:r>
              <a:t>【次ページへのつなぎ】最後に、3 つの持ち帰りと段階導入の進め方で締める。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【このページの役割】PoC 評価軸の直後に、最近の外部トレンドでそれを補強する。本資料を harness 設計の PoC 提案として位置づけ直す。</a:t>
            </a:r>
          </a:p>
          <a:p/>
          <a:p>
            <a:r>
              <a:t>【話すポイント】</a:t>
            </a:r>
          </a:p>
          <a:p>
            <a:r>
              <a:t>  1. agent の性能差は、モデル単体よりも harness 設計の差として現れやすくなってきている。</a:t>
            </a:r>
          </a:p>
          <a:p>
            <a:r>
              <a:t>  2. Anthropic は progress / handoff の structured artifact を、OpenAI は repo / CI / sandbox を agent-first 開発の基盤として扱っている。</a:t>
            </a:r>
          </a:p>
          <a:p>
            <a:r>
              <a:t>  3. この観点から、今回の Skill / Hook / repo 構成 / KPI の整理は方向として合っている。</a:t>
            </a:r>
          </a:p>
          <a:p>
            <a:r>
              <a:t>  4. 次は、progress artifact の正式化、evaluator role の追加、harness 前提の定期見直しを加えたい。</a:t>
            </a:r>
          </a:p>
          <a:p/>
          <a:p>
            <a:r>
              <a:t>【このページで伝えたい設計判断】</a:t>
            </a:r>
          </a:p>
          <a:p>
            <a:r>
              <a:t>  ・本資料は Copilot customization の提案であると同時に、軽量な harness 設計の PoC 提案でもあるという位置づけを明示する。</a:t>
            </a:r>
          </a:p>
          <a:p/>
          <a:p>
            <a:r>
              <a:t>【次ページへのつなぎ】この認識のうえで、最後に 3 つの持ち帰りと段階導入を整理する。</a:t>
            </a:r>
          </a:p>
          <a:p/>
          <a:p>
            <a:r>
              <a:t>【参考 URL】</a:t>
            </a:r>
          </a:p>
          <a:p>
            <a:r>
              <a:t>  - Anthropic — Effective harnesses for long-running agents: https://www.anthropic.com/engineering/effective-harnesses-for-long-running-agents</a:t>
            </a:r>
          </a:p>
          <a:p>
            <a:r>
              <a:t>  - OpenAI — Harness engineering: https://openai.com/index/harness-engineering/</a:t>
            </a:r>
          </a:p>
          <a:p>
            <a:r>
              <a:t>  - Anthropic — Building Effective AI Agents: https://www.anthropic.com/research/building-effective-agents</a:t>
            </a:r>
          </a:p>
          <a:p>
            <a:r>
              <a:t>  - Anthropic — Demystifying evals for AI agents: https://www.anthropic.com/engineering/demystifying-evals-for-ai-agents</a:t>
            </a:r>
          </a:p>
          <a:p>
            <a:r>
              <a:t>  - OpenAI — The next evolution of the Agents SDK: https://openai.com/index/the-next-evolution-of-the-agents-sdk/</a:t>
            </a:r>
          </a:p>
          <a:p>
            <a:r>
              <a:t>  - Anthropic — Scaling Managed Agents: https://www.anthropic.com/engineering/managed-agents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【このページの役割】全体を短く回収し、次フェーズの進め方まで示して閉じる。</a:t>
            </a:r>
          </a:p>
          <a:p/>
          <a:p>
            <a:r>
              <a:t>【話すポイント】</a:t>
            </a:r>
          </a:p>
          <a:p>
            <a:r>
              <a:t>  1. 軽く始めて、境界を明確にし、必要なところだけ重くするという方針で締める。</a:t>
            </a:r>
          </a:p>
          <a:p>
            <a:r>
              <a:t>  2. PoC の説明としても、実運用への拡張方針としても筋が通る。</a:t>
            </a:r>
          </a:p>
          <a:p/>
          <a:p>
            <a:r>
              <a:t>【このページで伝えたい設計判断】</a:t>
            </a:r>
          </a:p>
          <a:p>
            <a:r>
              <a:t>  ・導入順序も設計の一部。段階的導入の思想を最後に明示して終える。</a:t>
            </a:r>
          </a:p>
          <a:p/>
          <a:p>
            <a:r>
              <a:t>【次ページへのつなぎ】以上。Appendix に詳細な directory tree を置いているので、必要に応じて参照。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【このページの役割】本編 12 の簡略版を補う、フル annotated tree のリファレンス。</a:t>
            </a:r>
          </a:p>
          <a:p/>
          <a:p>
            <a:r>
              <a:t>【話すポイント】</a:t>
            </a:r>
          </a:p>
          <a:p>
            <a:r>
              <a:t>  1. 質疑で構成の詳細を問われた場合にこのページに戻る。</a:t>
            </a:r>
          </a:p>
          <a:p/>
          <a:p>
            <a:r>
              <a:t>【このページで伝えたい設計判断】</a:t>
            </a:r>
          </a:p>
          <a:p>
            <a:r>
              <a:t>  ・本編の情報密度を下げ、詳細は Appendix に寄せる。</a:t>
            </a:r>
          </a:p>
          <a:p/>
          <a:p>
            <a:r>
              <a:t>【次ページへのつなぎ】必要なページへジャンプ。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82296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A100FF"/>
                </a:solidFill>
                <a:latin typeface="Yu Gothic UI"/>
                <a:ea typeface="Yu Gothic UI"/>
                <a:cs typeface="Yu Gothic UI"/>
              </a:rPr>
              <a:t>TODAY'S FRAME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25880"/>
            <a:ext cx="1051560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200" b="1">
                <a:solidFill>
                  <a:srgbClr val="460073"/>
                </a:solidFill>
                <a:latin typeface="Yu Gothic UI"/>
                <a:ea typeface="Yu Gothic UI"/>
                <a:cs typeface="Yu Gothic UI"/>
              </a:rPr>
              <a:t>Copilot を現場導入するなら</a:t>
            </a:r>
          </a:p>
          <a:p>
            <a:pPr algn="l">
              <a:lnSpc>
                <a:spcPct val="120000"/>
              </a:lnSpc>
            </a:pPr>
            <a:r>
              <a:rPr sz="4200" b="1">
                <a:solidFill>
                  <a:srgbClr val="460073"/>
                </a:solidFill>
                <a:latin typeface="Yu Gothic UI"/>
                <a:ea typeface="Yu Gothic UI"/>
                <a:cs typeface="Yu Gothic UI"/>
              </a:rPr>
              <a:t>AI 支援とガードレールは分けて設計する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70332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33333"/>
                </a:solidFill>
                <a:latin typeface="Yu Gothic UI"/>
                <a:ea typeface="Yu Gothic UI"/>
                <a:cs typeface="Yu Gothic UI"/>
              </a:rPr>
              <a:t>現場課題から逆算した PoC 設計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4297680"/>
            <a:ext cx="2286000" cy="3810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14400" y="4572000"/>
            <a:ext cx="5120640" cy="1143000"/>
          </a:xfrm>
          <a:prstGeom prst="roundRect">
            <a:avLst>
              <a:gd name="adj" fmla="val 4000"/>
            </a:avLst>
          </a:prstGeom>
          <a:solidFill>
            <a:srgbClr val="E9D8FA"/>
          </a:solidFill>
          <a:ln w="6350">
            <a:solidFill>
              <a:srgbClr val="E2D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14400" y="4572000"/>
            <a:ext cx="50800" cy="114300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4709160"/>
            <a:ext cx="4754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A100FF"/>
                </a:solidFill>
                <a:latin typeface="Yu Gothic UI"/>
                <a:ea typeface="Yu Gothic UI"/>
                <a:cs typeface="Yu Gothic UI"/>
              </a:rPr>
              <a:t>AI 支援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047488"/>
            <a:ext cx="475488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460073"/>
                </a:solidFill>
                <a:latin typeface="Yu Gothic UI"/>
                <a:ea typeface="Yu Gothic UI"/>
                <a:cs typeface="Yu Gothic UI"/>
              </a:rPr>
              <a:t>Agent Skills / custom agents / hooks で標準化・補助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4572000"/>
            <a:ext cx="5120640" cy="1143000"/>
          </a:xfrm>
          <a:prstGeom prst="roundRect">
            <a:avLst>
              <a:gd name="adj" fmla="val 4000"/>
            </a:avLst>
          </a:prstGeom>
          <a:solidFill>
            <a:srgbClr val="F8E4EE"/>
          </a:solidFill>
          <a:ln w="6350">
            <a:solidFill>
              <a:srgbClr val="E2D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09360" y="4572000"/>
            <a:ext cx="50800" cy="1143000"/>
          </a:xfrm>
          <a:prstGeom prst="rect">
            <a:avLst/>
          </a:prstGeom>
          <a:solidFill>
            <a:srgbClr val="8B2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60" y="4709160"/>
            <a:ext cx="4754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8B2A5A"/>
                </a:solidFill>
                <a:latin typeface="Yu Gothic UI"/>
                <a:ea typeface="Yu Gothic UI"/>
                <a:cs typeface="Yu Gothic UI"/>
              </a:rPr>
              <a:t>ガードレール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5047488"/>
            <a:ext cx="475488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5A173A"/>
                </a:solidFill>
                <a:latin typeface="Yu Gothic UI"/>
                <a:ea typeface="Yu Gothic UI"/>
                <a:cs typeface="Yu Gothic UI"/>
              </a:rPr>
              <a:t>rulesets / CODEOWNERS / environments / secret scanning で境界を固定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598932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8A8A"/>
                </a:solidFill>
                <a:latin typeface="Yu Gothic UI"/>
                <a:ea typeface="Yu Gothic UI"/>
                <a:cs typeface="Yu Gothic UI"/>
              </a:rPr>
              <a:t>実装支援は AI 側、保護境界は GitHub / CI 側に持たせたいと考えています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7315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A100FF"/>
                </a:solidFill>
                <a:latin typeface="Yu Gothic UI"/>
                <a:ea typeface="Yu Gothic UI"/>
                <a:cs typeface="Yu Gothic UI"/>
              </a:rPr>
              <a:t>02 / 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460073"/>
                </a:solidFill>
                <a:latin typeface="Yu Gothic UI"/>
                <a:ea typeface="Yu Gothic UI"/>
                <a:cs typeface="Yu Gothic UI"/>
              </a:rPr>
              <a:t>本日の流れ ― 課題駆動で設計を読み解く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90472"/>
            <a:ext cx="1371600" cy="3175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103120"/>
            <a:ext cx="2663190" cy="3474720"/>
          </a:xfrm>
          <a:prstGeom prst="roundRect">
            <a:avLst>
              <a:gd name="adj" fmla="val 4000"/>
            </a:avLst>
          </a:prstGeom>
          <a:solidFill>
            <a:srgbClr val="F7F3FB"/>
          </a:solidFill>
          <a:ln w="6350">
            <a:solidFill>
              <a:srgbClr val="E2D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2103120"/>
            <a:ext cx="2663190" cy="50292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103120"/>
            <a:ext cx="266319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STEP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788920"/>
            <a:ext cx="220599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460073"/>
                </a:solidFill>
                <a:latin typeface="Yu Gothic UI"/>
                <a:ea typeface="Yu Gothic UI"/>
                <a:cs typeface="Yu Gothic UI"/>
              </a:rPr>
              <a:t>現場で起こる問題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794760"/>
            <a:ext cx="2205990" cy="1645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333333"/>
                </a:solidFill>
                <a:latin typeface="Yu Gothic UI"/>
                <a:ea typeface="Yu Gothic UI"/>
                <a:cs typeface="Yu Gothic UI"/>
              </a:rPr>
              <a:t>手順のばらつき、レビュー負荷、保護境界の欠如</a:t>
            </a:r>
          </a:p>
        </p:txBody>
      </p:sp>
      <p:sp>
        <p:nvSpPr>
          <p:cNvPr id="10" name="Right Triangle 9"/>
          <p:cNvSpPr/>
          <p:nvPr/>
        </p:nvSpPr>
        <p:spPr>
          <a:xfrm rot="5400000">
            <a:off x="3170682" y="3703320"/>
            <a:ext cx="219456" cy="274320"/>
          </a:xfrm>
          <a:prstGeom prst="rtTriangle">
            <a:avLst/>
          </a:prstGeom>
          <a:solidFill>
            <a:srgbClr val="A1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348990" y="2103120"/>
            <a:ext cx="2663190" cy="3474720"/>
          </a:xfrm>
          <a:prstGeom prst="roundRect">
            <a:avLst>
              <a:gd name="adj" fmla="val 4000"/>
            </a:avLst>
          </a:prstGeom>
          <a:solidFill>
            <a:srgbClr val="F7F3FB"/>
          </a:solidFill>
          <a:ln w="6350">
            <a:solidFill>
              <a:srgbClr val="E2D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48990" y="2103120"/>
            <a:ext cx="2663190" cy="50292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48990" y="2103120"/>
            <a:ext cx="266319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STEP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77590" y="2788920"/>
            <a:ext cx="220599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460073"/>
                </a:solidFill>
                <a:latin typeface="Yu Gothic UI"/>
                <a:ea typeface="Yu Gothic UI"/>
                <a:cs typeface="Yu Gothic UI"/>
              </a:rPr>
              <a:t>そこから導いた設計要件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77590" y="3794760"/>
            <a:ext cx="2205990" cy="1645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333333"/>
                </a:solidFill>
                <a:latin typeface="Yu Gothic UI"/>
                <a:ea typeface="Yu Gothic UI"/>
                <a:cs typeface="Yu Gothic UI"/>
              </a:rPr>
              <a:t>何を設計として満たしたいかに翻訳する</a:t>
            </a:r>
          </a:p>
        </p:txBody>
      </p:sp>
      <p:sp>
        <p:nvSpPr>
          <p:cNvPr id="16" name="Right Triangle 15"/>
          <p:cNvSpPr/>
          <p:nvPr/>
        </p:nvSpPr>
        <p:spPr>
          <a:xfrm rot="5400000">
            <a:off x="5971032" y="3703320"/>
            <a:ext cx="219456" cy="274320"/>
          </a:xfrm>
          <a:prstGeom prst="rtTriangle">
            <a:avLst/>
          </a:prstGeom>
          <a:solidFill>
            <a:srgbClr val="A1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149340" y="2103120"/>
            <a:ext cx="2663190" cy="3474720"/>
          </a:xfrm>
          <a:prstGeom prst="roundRect">
            <a:avLst>
              <a:gd name="adj" fmla="val 4000"/>
            </a:avLst>
          </a:prstGeom>
          <a:solidFill>
            <a:srgbClr val="F7F3FB"/>
          </a:solidFill>
          <a:ln w="6350">
            <a:solidFill>
              <a:srgbClr val="E2D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49340" y="2103120"/>
            <a:ext cx="2663190" cy="50292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49340" y="2103120"/>
            <a:ext cx="266319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STEP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7940" y="2788920"/>
            <a:ext cx="220599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460073"/>
                </a:solidFill>
                <a:latin typeface="Yu Gothic UI"/>
                <a:ea typeface="Yu Gothic UI"/>
                <a:cs typeface="Yu Gothic UI"/>
              </a:rPr>
              <a:t>問題に置いた仕組み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77940" y="3794760"/>
            <a:ext cx="2205990" cy="1645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333333"/>
                </a:solidFill>
                <a:latin typeface="Yu Gothic UI"/>
                <a:ea typeface="Yu Gothic UI"/>
                <a:cs typeface="Yu Gothic UI"/>
              </a:rPr>
              <a:t>どのレイヤーで、どう答えるか</a:t>
            </a:r>
          </a:p>
        </p:txBody>
      </p:sp>
      <p:sp>
        <p:nvSpPr>
          <p:cNvPr id="22" name="Right Triangle 21"/>
          <p:cNvSpPr/>
          <p:nvPr/>
        </p:nvSpPr>
        <p:spPr>
          <a:xfrm rot="5400000">
            <a:off x="8771382" y="3703320"/>
            <a:ext cx="219456" cy="274320"/>
          </a:xfrm>
          <a:prstGeom prst="rtTriangle">
            <a:avLst/>
          </a:prstGeom>
          <a:solidFill>
            <a:srgbClr val="A1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949690" y="2103120"/>
            <a:ext cx="2663190" cy="3474720"/>
          </a:xfrm>
          <a:prstGeom prst="roundRect">
            <a:avLst>
              <a:gd name="adj" fmla="val 4000"/>
            </a:avLst>
          </a:prstGeom>
          <a:solidFill>
            <a:srgbClr val="F7F3FB"/>
          </a:solidFill>
          <a:ln w="6350">
            <a:solidFill>
              <a:srgbClr val="E2D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49690" y="2103120"/>
            <a:ext cx="2663190" cy="50292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49690" y="2103120"/>
            <a:ext cx="266319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STEP 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78290" y="2788920"/>
            <a:ext cx="220599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460073"/>
                </a:solidFill>
                <a:latin typeface="Yu Gothic UI"/>
                <a:ea typeface="Yu Gothic UI"/>
                <a:cs typeface="Yu Gothic UI"/>
              </a:rPr>
              <a:t>PoC でどう示し、どう評価するか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78290" y="3794760"/>
            <a:ext cx="2205990" cy="1645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333333"/>
                </a:solidFill>
                <a:latin typeface="Yu Gothic UI"/>
                <a:ea typeface="Yu Gothic UI"/>
                <a:cs typeface="Yu Gothic UI"/>
              </a:rPr>
              <a:t>シナリオと成功基準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6446520"/>
            <a:ext cx="11277295" cy="9525"/>
          </a:xfrm>
          <a:prstGeom prst="rect">
            <a:avLst/>
          </a:prstGeom>
          <a:solidFill>
            <a:srgbClr val="CFC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8A8A8A"/>
                </a:solidFill>
                <a:latin typeface="Yu Gothic UI"/>
                <a:ea typeface="Yu Gothic UI"/>
                <a:cs typeface="Yu Gothic UI"/>
              </a:rPr>
              <a:t>Agent Skills × ガバナンス設計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58400" y="6537960"/>
            <a:ext cx="1676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8A8A8A"/>
                </a:solidFill>
                <a:latin typeface="Yu Gothic UI"/>
                <a:ea typeface="Yu Gothic UI"/>
                <a:cs typeface="Yu Gothic UI"/>
              </a:rPr>
              <a:t>02 / 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7315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A100FF"/>
                </a:solidFill>
                <a:latin typeface="Yu Gothic UI"/>
                <a:ea typeface="Yu Gothic UI"/>
                <a:cs typeface="Yu Gothic UI"/>
              </a:rPr>
              <a:t>03 / PROBLEM LANDSCAPE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460073"/>
                </a:solidFill>
                <a:latin typeface="Yu Gothic UI"/>
                <a:ea typeface="Yu Gothic UI"/>
                <a:cs typeface="Yu Gothic UI"/>
              </a:rPr>
              <a:t>現場で起こる問題 ― 3つの問題と 1つの制約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90472"/>
            <a:ext cx="1371600" cy="3175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3535680" cy="2926080"/>
          </a:xfrm>
          <a:prstGeom prst="roundRect">
            <a:avLst>
              <a:gd name="adj" fmla="val 4000"/>
            </a:avLst>
          </a:prstGeom>
          <a:solidFill>
            <a:srgbClr val="F7F3FB"/>
          </a:solidFill>
          <a:ln w="6350">
            <a:solidFill>
              <a:srgbClr val="E2D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828800"/>
            <a:ext cx="50800" cy="2926080"/>
          </a:xfrm>
          <a:prstGeom prst="rect">
            <a:avLst/>
          </a:prstGeom>
          <a:solidFill>
            <a:srgbClr val="460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057400"/>
            <a:ext cx="316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A100FF"/>
                </a:solidFill>
                <a:latin typeface="Yu Gothic UI"/>
                <a:ea typeface="Yu Gothic UI"/>
                <a:cs typeface="Yu Gothic UI"/>
              </a:rPr>
              <a:t>問題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423160"/>
            <a:ext cx="31699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460073"/>
                </a:solidFill>
                <a:latin typeface="Yu Gothic UI"/>
                <a:ea typeface="Yu Gothic UI"/>
                <a:cs typeface="Yu Gothic UI"/>
              </a:rPr>
              <a:t>開発手順が揃わない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383280"/>
            <a:ext cx="316992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200" b="0">
                <a:solidFill>
                  <a:srgbClr val="333333"/>
                </a:solidFill>
                <a:latin typeface="Yu Gothic UI"/>
                <a:ea typeface="Yu Gothic UI"/>
                <a:cs typeface="Yu Gothic UI"/>
              </a:rPr>
              <a:t>仕様はあっても、実装計画・テスト観点・PR の書き方が人によってばらつきやすいと感じています。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2920" y="1828800"/>
            <a:ext cx="3535680" cy="2926080"/>
          </a:xfrm>
          <a:prstGeom prst="roundRect">
            <a:avLst>
              <a:gd name="adj" fmla="val 4000"/>
            </a:avLst>
          </a:prstGeom>
          <a:solidFill>
            <a:srgbClr val="F7F3FB"/>
          </a:solidFill>
          <a:ln w="6350">
            <a:solidFill>
              <a:srgbClr val="E2D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12920" y="1828800"/>
            <a:ext cx="50800" cy="2926080"/>
          </a:xfrm>
          <a:prstGeom prst="rect">
            <a:avLst/>
          </a:prstGeom>
          <a:solidFill>
            <a:srgbClr val="460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87240" y="2057400"/>
            <a:ext cx="316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A100FF"/>
                </a:solidFill>
                <a:latin typeface="Yu Gothic UI"/>
                <a:ea typeface="Yu Gothic UI"/>
                <a:cs typeface="Yu Gothic UI"/>
              </a:rPr>
              <a:t>問題 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87240" y="2423160"/>
            <a:ext cx="31699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460073"/>
                </a:solidFill>
                <a:latin typeface="Yu Gothic UI"/>
                <a:ea typeface="Yu Gothic UI"/>
                <a:cs typeface="Yu Gothic UI"/>
              </a:rPr>
              <a:t>AI の変更がレビューしづらい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87240" y="3383280"/>
            <a:ext cx="316992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200" b="0">
                <a:solidFill>
                  <a:srgbClr val="333333"/>
                </a:solidFill>
                <a:latin typeface="Yu Gothic UI"/>
                <a:ea typeface="Yu Gothic UI"/>
                <a:cs typeface="Yu Gothic UI"/>
              </a:rPr>
              <a:t>変更範囲が広がりやすく、確認観点が揃わず、レビュー負荷が上がりがちな印象です。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77200" y="1828800"/>
            <a:ext cx="3535680" cy="2926080"/>
          </a:xfrm>
          <a:prstGeom prst="roundRect">
            <a:avLst>
              <a:gd name="adj" fmla="val 4000"/>
            </a:avLst>
          </a:prstGeom>
          <a:solidFill>
            <a:srgbClr val="F7F3FB"/>
          </a:solidFill>
          <a:ln w="6350">
            <a:solidFill>
              <a:srgbClr val="E2D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77200" y="1828800"/>
            <a:ext cx="50800" cy="2926080"/>
          </a:xfrm>
          <a:prstGeom prst="rect">
            <a:avLst/>
          </a:prstGeom>
          <a:solidFill>
            <a:srgbClr val="460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51520" y="2057400"/>
            <a:ext cx="316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A100FF"/>
                </a:solidFill>
                <a:latin typeface="Yu Gothic UI"/>
                <a:ea typeface="Yu Gothic UI"/>
                <a:cs typeface="Yu Gothic UI"/>
              </a:rPr>
              <a:t>問題 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1520" y="2423160"/>
            <a:ext cx="31699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460073"/>
                </a:solidFill>
                <a:latin typeface="Yu Gothic UI"/>
                <a:ea typeface="Yu Gothic UI"/>
                <a:cs typeface="Yu Gothic UI"/>
              </a:rPr>
              <a:t>止めるべき境界がない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1520" y="3383280"/>
            <a:ext cx="316992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200" b="0">
                <a:solidFill>
                  <a:srgbClr val="333333"/>
                </a:solidFill>
                <a:latin typeface="Yu Gothic UI"/>
                <a:ea typeface="Yu Gothic UI"/>
                <a:cs typeface="Yu Gothic UI"/>
              </a:rPr>
              <a:t>secret / 重要変更 / 本番 deploy を AI 任せにするのは難しいと考えています。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937760"/>
            <a:ext cx="11064240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07B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4937760"/>
            <a:ext cx="50800" cy="914400"/>
          </a:xfrm>
          <a:prstGeom prst="rect">
            <a:avLst/>
          </a:prstGeom>
          <a:solidFill>
            <a:srgbClr val="E07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50749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E07B1F"/>
                </a:solidFill>
                <a:latin typeface="Yu Gothic UI"/>
                <a:ea typeface="Yu Gothic UI"/>
                <a:cs typeface="Yu Gothic UI"/>
              </a:rPr>
              <a:t>制約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321808"/>
            <a:ext cx="3840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460073"/>
                </a:solidFill>
                <a:latin typeface="Yu Gothic UI"/>
                <a:ea typeface="Yu Gothic UI"/>
                <a:cs typeface="Yu Gothic UI"/>
              </a:rPr>
              <a:t>PoC は軽く始めたい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54880" y="5138928"/>
            <a:ext cx="68580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>
                <a:solidFill>
                  <a:srgbClr val="333333"/>
                </a:solidFill>
                <a:latin typeface="Yu Gothic UI"/>
                <a:ea typeface="Yu Gothic UI"/>
                <a:cs typeface="Yu Gothic UI"/>
              </a:rPr>
              <a:t>初期から重い agent framework には寄せず、段階的に拡張していく前提で設計しています。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6446520"/>
            <a:ext cx="11277295" cy="9525"/>
          </a:xfrm>
          <a:prstGeom prst="rect">
            <a:avLst/>
          </a:prstGeom>
          <a:solidFill>
            <a:srgbClr val="CFC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8A8A8A"/>
                </a:solidFill>
                <a:latin typeface="Yu Gothic UI"/>
                <a:ea typeface="Yu Gothic UI"/>
                <a:cs typeface="Yu Gothic UI"/>
              </a:rPr>
              <a:t>Agent Skills × ガバナンス設計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0" y="6537960"/>
            <a:ext cx="1676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8A8A8A"/>
                </a:solidFill>
                <a:latin typeface="Yu Gothic UI"/>
                <a:ea typeface="Yu Gothic UI"/>
                <a:cs typeface="Yu Gothic UI"/>
              </a:rPr>
              <a:t>03 / 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7315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A100FF"/>
                </a:solidFill>
                <a:latin typeface="Yu Gothic UI"/>
                <a:ea typeface="Yu Gothic UI"/>
                <a:cs typeface="Yu Gothic UI"/>
              </a:rPr>
              <a:t>04 / PROBLEM 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460073"/>
                </a:solidFill>
                <a:latin typeface="Yu Gothic UI"/>
                <a:ea typeface="Yu Gothic UI"/>
                <a:cs typeface="Yu Gothic UI"/>
              </a:rPr>
              <a:t>問題 A ― 仕様 → 実装 → テストが属人化する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90472"/>
            <a:ext cx="1371600" cy="3175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5486400" cy="3017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D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828800"/>
            <a:ext cx="50800" cy="3017520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993392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8A8A8A"/>
                </a:solidFill>
                <a:latin typeface="Yu Gothic UI"/>
                <a:ea typeface="Yu Gothic UI"/>
                <a:cs typeface="Yu Gothic UI"/>
              </a:rPr>
              <a:t>現場の困りごと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304288"/>
            <a:ext cx="5120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1A1A1A"/>
                </a:solidFill>
                <a:latin typeface="Yu Gothic UI"/>
                <a:ea typeface="Yu Gothic UI"/>
                <a:cs typeface="Yu Gothic UI"/>
              </a:rPr>
              <a:t>人によって読み方・観点がばらつきやすい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926080"/>
            <a:ext cx="5029200" cy="178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333333"/>
                </a:solidFill>
                <a:latin typeface="Yu Gothic UI"/>
                <a:ea typeface="Yu Gothic UI"/>
                <a:cs typeface="Yu Gothic UI"/>
              </a:rPr>
              <a:t>•  仕様書の読み方が人によって違い、実装粒度や抜け漏れが出やすい。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333333"/>
                </a:solidFill>
                <a:latin typeface="Yu Gothic UI"/>
                <a:ea typeface="Yu Gothic UI"/>
                <a:cs typeface="Yu Gothic UI"/>
              </a:rPr>
              <a:t>•  テスト観点が属人化しやすく、受入条件とのつながりが弱くなりがち。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828800"/>
            <a:ext cx="5486400" cy="3017520"/>
          </a:xfrm>
          <a:prstGeom prst="roundRect">
            <a:avLst>
              <a:gd name="adj" fmla="val 4000"/>
            </a:avLst>
          </a:prstGeom>
          <a:solidFill>
            <a:srgbClr val="E9D8FA"/>
          </a:solidFill>
          <a:ln w="6350">
            <a:solidFill>
              <a:srgbClr val="E2D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63640" y="1828800"/>
            <a:ext cx="50800" cy="301752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60" y="1993392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A100FF"/>
                </a:solidFill>
                <a:latin typeface="Yu Gothic UI"/>
                <a:ea typeface="Yu Gothic UI"/>
                <a:cs typeface="Yu Gothic UI"/>
              </a:rPr>
              <a:t>対応設計  /  LAYER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304288"/>
            <a:ext cx="5120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460073"/>
                </a:solidFill>
                <a:latin typeface="Yu Gothic UI"/>
                <a:ea typeface="Yu Gothic UI"/>
                <a:cs typeface="Yu Gothic UI"/>
              </a:rPr>
              <a:t>Agent Skills による開発手順の標準化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2926080"/>
            <a:ext cx="5029200" cy="178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1A1A1A"/>
                </a:solidFill>
                <a:latin typeface="Yu Gothic UI"/>
                <a:ea typeface="Yu Gothic UI"/>
                <a:cs typeface="Yu Gothic UI"/>
              </a:rPr>
              <a:t>•  spec-driven-implementation Skill を中心に、仕様確認 → 実装計画 → テスト観点 → PR 下書きまでを一貫化したいと考えています。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1A1A1A"/>
                </a:solidFill>
                <a:latin typeface="Yu Gothic UI"/>
                <a:ea typeface="Yu Gothic UI"/>
                <a:cs typeface="Yu Gothic UI"/>
              </a:rPr>
              <a:t>•  テンプレートとチェックリストを Skill に同梱し、必要な場面だけ読み込ませる運用が望ましいと考えています。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5029200"/>
            <a:ext cx="11064240" cy="1188720"/>
          </a:xfrm>
          <a:prstGeom prst="roundRect">
            <a:avLst>
              <a:gd name="adj" fmla="val 4000"/>
            </a:avLst>
          </a:prstGeom>
          <a:solidFill>
            <a:srgbClr val="F7F3FB"/>
          </a:solidFill>
          <a:ln w="6350">
            <a:solidFill>
              <a:srgbClr val="E2D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513892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8A8A8A"/>
                </a:solidFill>
                <a:latin typeface="Yu Gothic UI"/>
                <a:ea typeface="Yu Gothic UI"/>
                <a:cs typeface="Yu Gothic UI"/>
              </a:rPr>
              <a:t>BEFORE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20240" y="5102352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333333"/>
                </a:solidFill>
                <a:latin typeface="Yu Gothic UI"/>
                <a:ea typeface="Yu Gothic UI"/>
                <a:cs typeface="Yu Gothic UI"/>
              </a:rPr>
              <a:t>仕様書 → 各自の解釈 → 実装計画のばらつき → テスト観点のばらつき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6418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A100FF"/>
                </a:solidFill>
                <a:latin typeface="Yu Gothic UI"/>
                <a:ea typeface="Yu Gothic UI"/>
                <a:cs typeface="Yu Gothic UI"/>
              </a:rPr>
              <a:t>AFTER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20240" y="5605272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1">
                <a:solidFill>
                  <a:srgbClr val="460073"/>
                </a:solidFill>
                <a:latin typeface="Yu Gothic UI"/>
                <a:ea typeface="Yu Gothic UI"/>
                <a:cs typeface="Yu Gothic UI"/>
              </a:rPr>
              <a:t>仕様書 → Skill 読み込み → 実装計画ドラフト → テスト観点整理 → PR 下書き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6446520"/>
            <a:ext cx="11277295" cy="9525"/>
          </a:xfrm>
          <a:prstGeom prst="rect">
            <a:avLst/>
          </a:prstGeom>
          <a:solidFill>
            <a:srgbClr val="CFC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8A8A8A"/>
                </a:solidFill>
                <a:latin typeface="Yu Gothic UI"/>
                <a:ea typeface="Yu Gothic UI"/>
                <a:cs typeface="Yu Gothic UI"/>
              </a:rPr>
              <a:t>Agent Skills × ガバナンス設計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0" y="6537960"/>
            <a:ext cx="1676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8A8A8A"/>
                </a:solidFill>
                <a:latin typeface="Yu Gothic UI"/>
                <a:ea typeface="Yu Gothic UI"/>
                <a:cs typeface="Yu Gothic UI"/>
              </a:rPr>
              <a:t>04 / 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7315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A100FF"/>
                </a:solidFill>
                <a:latin typeface="Yu Gothic UI"/>
                <a:ea typeface="Yu Gothic UI"/>
                <a:cs typeface="Yu Gothic UI"/>
              </a:rPr>
              <a:t>05 / PROBLEM 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460073"/>
                </a:solidFill>
                <a:latin typeface="Yu Gothic UI"/>
                <a:ea typeface="Yu Gothic UI"/>
                <a:cs typeface="Yu Gothic UI"/>
              </a:rPr>
              <a:t>問題 B ― AI の変更を “レビュー可能” にする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90472"/>
            <a:ext cx="1371600" cy="3175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5486400" cy="3017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D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828800"/>
            <a:ext cx="50800" cy="3017520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993392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8A8A8A"/>
                </a:solidFill>
                <a:latin typeface="Yu Gothic UI"/>
                <a:ea typeface="Yu Gothic UI"/>
                <a:cs typeface="Yu Gothic UI"/>
              </a:rPr>
              <a:t>現場の困りごと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304288"/>
            <a:ext cx="5120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1A1A1A"/>
                </a:solidFill>
                <a:latin typeface="Yu Gothic UI"/>
                <a:ea typeface="Yu Gothic UI"/>
                <a:cs typeface="Yu Gothic UI"/>
              </a:rPr>
              <a:t>範囲と観点が読みづらくなりがち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926080"/>
            <a:ext cx="5029200" cy="178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333333"/>
                </a:solidFill>
                <a:latin typeface="Yu Gothic UI"/>
                <a:ea typeface="Yu Gothic UI"/>
                <a:cs typeface="Yu Gothic UI"/>
              </a:rPr>
              <a:t>•  実装だけ頼んだつもりが、周辺ファイルや設定まで広く触られてしまう。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333333"/>
                </a:solidFill>
                <a:latin typeface="Yu Gothic UI"/>
                <a:ea typeface="Yu Gothic UI"/>
                <a:cs typeface="Yu Gothic UI"/>
              </a:rPr>
              <a:t>•  PR の説明が弱く、レビュアーが「何を確認すべきか」から考え直す必要が出る。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828800"/>
            <a:ext cx="5486400" cy="3017520"/>
          </a:xfrm>
          <a:prstGeom prst="roundRect">
            <a:avLst>
              <a:gd name="adj" fmla="val 4000"/>
            </a:avLst>
          </a:prstGeom>
          <a:solidFill>
            <a:srgbClr val="E9D8FA"/>
          </a:solidFill>
          <a:ln w="6350">
            <a:solidFill>
              <a:srgbClr val="E2D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63640" y="1828800"/>
            <a:ext cx="50800" cy="301752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60" y="1993392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A100FF"/>
                </a:solidFill>
                <a:latin typeface="Yu Gothic UI"/>
                <a:ea typeface="Yu Gothic UI"/>
                <a:cs typeface="Yu Gothic UI"/>
              </a:rPr>
              <a:t>対応設計  /  LAYER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304288"/>
            <a:ext cx="5120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460073"/>
                </a:solidFill>
                <a:latin typeface="Yu Gothic UI"/>
                <a:ea typeface="Yu Gothic UI"/>
                <a:cs typeface="Yu Gothic UI"/>
              </a:rPr>
              <a:t>custom agents + hooks で挙動を絞る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2926080"/>
            <a:ext cx="5029200" cy="178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1A1A1A"/>
                </a:solidFill>
                <a:latin typeface="Yu Gothic UI"/>
                <a:ea typeface="Yu Gothic UI"/>
                <a:cs typeface="Yu Gothic UI"/>
              </a:rPr>
              <a:t>•  planner：変更方針を先に作る役割を分けて置きたいと考えています。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1A1A1A"/>
                </a:solidFill>
                <a:latin typeface="Yu Gothic UI"/>
                <a:ea typeface="Yu Gothic UI"/>
                <a:cs typeface="Yu Gothic UI"/>
              </a:rPr>
              <a:t>•  safe-implementer：触る範囲を絞った実装専用エージェントが有効と感じています。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1A1A1A"/>
                </a:solidFill>
                <a:latin typeface="Yu Gothic UI"/>
                <a:ea typeface="Yu Gothic UI"/>
                <a:cs typeface="Yu Gothic UI"/>
              </a:rPr>
              <a:t>•  hooks：diff 分類や追加 validation を preToolUse / postToolUse で差し込む構成が現実的と考えています。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12064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8A8A"/>
                </a:solidFill>
                <a:latin typeface="Yu Gothic UI"/>
                <a:ea typeface="Yu Gothic UI"/>
                <a:cs typeface="Yu Gothic UI"/>
              </a:rPr>
              <a:t>※ MCP（チケット／設計書／社内 API 連携）は Phase 2 以降で段階的に接続する前提としています。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6446520"/>
            <a:ext cx="11277295" cy="9525"/>
          </a:xfrm>
          <a:prstGeom prst="rect">
            <a:avLst/>
          </a:prstGeom>
          <a:solidFill>
            <a:srgbClr val="CFC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8A8A8A"/>
                </a:solidFill>
                <a:latin typeface="Yu Gothic UI"/>
                <a:ea typeface="Yu Gothic UI"/>
                <a:cs typeface="Yu Gothic UI"/>
              </a:rPr>
              <a:t>Agent Skills × ガバナンス設計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0" y="6537960"/>
            <a:ext cx="1676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8A8A8A"/>
                </a:solidFill>
                <a:latin typeface="Yu Gothic UI"/>
                <a:ea typeface="Yu Gothic UI"/>
                <a:cs typeface="Yu Gothic UI"/>
              </a:rPr>
              <a:t>05 / 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7315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A100FF"/>
                </a:solidFill>
                <a:latin typeface="Yu Gothic UI"/>
                <a:ea typeface="Yu Gothic UI"/>
                <a:cs typeface="Yu Gothic UI"/>
              </a:rPr>
              <a:t>06 / HOOK RUNTIME CONTROL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460073"/>
                </a:solidFill>
                <a:latin typeface="Yu Gothic UI"/>
                <a:ea typeface="Yu Gothic UI"/>
                <a:cs typeface="Yu Gothic UI"/>
              </a:rPr>
              <a:t>Hook は runtime control を差し込むレイヤー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90472"/>
            <a:ext cx="1371600" cy="3175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572768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8A8A"/>
                </a:solidFill>
                <a:latin typeface="Yu Gothic UI"/>
                <a:ea typeface="Yu Gothic UI"/>
                <a:cs typeface="Yu Gothic UI"/>
              </a:rPr>
              <a:t>Session / Prompt / Tool の各節目で、AI の振る舞いを軽く整える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20240"/>
            <a:ext cx="110642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>
                <a:solidFill>
                  <a:srgbClr val="333333"/>
                </a:solidFill>
                <a:latin typeface="Yu Gothic UI"/>
                <a:ea typeface="Yu Gothic UI"/>
                <a:cs typeface="Yu Gothic UI"/>
              </a:rPr>
              <a:t>Hook は、AI の作業ライフサイクルの各節目に軽量な制御を差し込むレイヤーと考えています。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333333"/>
                </a:solidFill>
                <a:latin typeface="Yu Gothic UI"/>
                <a:ea typeface="Yu Gothic UI"/>
                <a:cs typeface="Yu Gothic UI"/>
              </a:rPr>
              <a:t>役割は「実行中の挙動調整」であり、「最終的なガードレール」ではありません。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606040"/>
            <a:ext cx="2139696" cy="2697480"/>
          </a:xfrm>
          <a:prstGeom prst="roundRect">
            <a:avLst>
              <a:gd name="adj" fmla="val 4000"/>
            </a:avLst>
          </a:prstGeom>
          <a:solidFill>
            <a:srgbClr val="E9D8FA"/>
          </a:solidFill>
          <a:ln w="6350">
            <a:solidFill>
              <a:srgbClr val="E2D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606040"/>
            <a:ext cx="2139696" cy="45720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606040"/>
            <a:ext cx="213969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SessionStart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136392"/>
            <a:ext cx="186537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8A8A8A"/>
                </a:solidFill>
                <a:latin typeface="Yu Gothic UI"/>
                <a:ea typeface="Yu Gothic UI"/>
                <a:cs typeface="Yu Gothic UI"/>
              </a:rPr>
              <a:t>目的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319272"/>
            <a:ext cx="186537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>
                <a:solidFill>
                  <a:srgbClr val="460073"/>
                </a:solidFill>
                <a:latin typeface="Yu Gothic UI"/>
                <a:ea typeface="Yu Gothic UI"/>
                <a:cs typeface="Yu Gothic UI"/>
              </a:rPr>
              <a:t>前回からの作業再開を安定化する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749040"/>
            <a:ext cx="186537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8A8A8A"/>
                </a:solidFill>
                <a:latin typeface="Yu Gothic UI"/>
                <a:ea typeface="Yu Gothic UI"/>
                <a:cs typeface="Yu Gothic UI"/>
              </a:rPr>
              <a:t>実施例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950208"/>
            <a:ext cx="191109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00" b="0">
                <a:solidFill>
                  <a:srgbClr val="333333"/>
                </a:solidFill>
                <a:latin typeface="Yu Gothic UI"/>
                <a:ea typeface="Yu Gothic UI"/>
                <a:cs typeface="Yu Gothic UI"/>
              </a:rPr>
              <a:t>•  handoff / session summary を読み込む</a:t>
            </a:r>
          </a:p>
          <a:p>
            <a:pPr algn="l">
              <a:lnSpc>
                <a:spcPct val="135000"/>
              </a:lnSpc>
            </a:pPr>
            <a:r>
              <a:rPr sz="900" b="0">
                <a:solidFill>
                  <a:srgbClr val="333333"/>
                </a:solidFill>
                <a:latin typeface="Yu Gothic UI"/>
                <a:ea typeface="Yu Gothic UI"/>
                <a:cs typeface="Yu Gothic UI"/>
              </a:rPr>
              <a:t>•  未完了タスク・保留・次アクションを復元</a:t>
            </a:r>
          </a:p>
          <a:p>
            <a:pPr algn="l">
              <a:lnSpc>
                <a:spcPct val="135000"/>
              </a:lnSpc>
            </a:pPr>
            <a:r>
              <a:rPr sz="900" b="0">
                <a:solidFill>
                  <a:srgbClr val="333333"/>
                </a:solidFill>
                <a:latin typeface="Yu Gothic UI"/>
                <a:ea typeface="Yu Gothic UI"/>
                <a:cs typeface="Yu Gothic UI"/>
              </a:rPr>
              <a:t>•  保護対象・注意点を再注入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937760"/>
            <a:ext cx="186537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8A8A8A"/>
                </a:solidFill>
                <a:latin typeface="Yu Gothic UI"/>
                <a:ea typeface="Yu Gothic UI"/>
                <a:cs typeface="Yu Gothic UI"/>
              </a:rPr>
              <a:t>効果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111496"/>
            <a:ext cx="18653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460073"/>
                </a:solidFill>
                <a:latin typeface="Yu Gothic UI"/>
                <a:ea typeface="Yu Gothic UI"/>
                <a:cs typeface="Yu Gothic UI"/>
              </a:rPr>
              <a:t>文脈切れややり直しを減らせる</a:t>
            </a:r>
          </a:p>
        </p:txBody>
      </p:sp>
      <p:sp>
        <p:nvSpPr>
          <p:cNvPr id="16" name="Right Triangle 15"/>
          <p:cNvSpPr/>
          <p:nvPr/>
        </p:nvSpPr>
        <p:spPr>
          <a:xfrm rot="5400000">
            <a:off x="2679193" y="3845052"/>
            <a:ext cx="109728" cy="201168"/>
          </a:xfrm>
          <a:prstGeom prst="rtTriangle">
            <a:avLst/>
          </a:prstGeom>
          <a:solidFill>
            <a:srgbClr val="460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779776" y="2606040"/>
            <a:ext cx="2139696" cy="2697480"/>
          </a:xfrm>
          <a:prstGeom prst="roundRect">
            <a:avLst>
              <a:gd name="adj" fmla="val 4000"/>
            </a:avLst>
          </a:prstGeom>
          <a:solidFill>
            <a:srgbClr val="E9D8FA"/>
          </a:solidFill>
          <a:ln w="6350">
            <a:solidFill>
              <a:srgbClr val="E2D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779776" y="2606040"/>
            <a:ext cx="2139696" cy="45720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79776" y="2606040"/>
            <a:ext cx="213969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UserPromptSubmitted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62656" y="3136392"/>
            <a:ext cx="186537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8A8A8A"/>
                </a:solidFill>
                <a:latin typeface="Yu Gothic UI"/>
                <a:ea typeface="Yu Gothic UI"/>
                <a:cs typeface="Yu Gothic UI"/>
              </a:rPr>
              <a:t>目的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62656" y="3319272"/>
            <a:ext cx="186537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>
                <a:solidFill>
                  <a:srgbClr val="460073"/>
                </a:solidFill>
                <a:latin typeface="Yu Gothic UI"/>
                <a:ea typeface="Yu Gothic UI"/>
                <a:cs typeface="Yu Gothic UI"/>
              </a:rPr>
              <a:t>plan と implementation を混線させない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62656" y="3749040"/>
            <a:ext cx="186537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8A8A8A"/>
                </a:solidFill>
                <a:latin typeface="Yu Gothic UI"/>
                <a:ea typeface="Yu Gothic UI"/>
                <a:cs typeface="Yu Gothic UI"/>
              </a:rPr>
              <a:t>実施例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62656" y="3950208"/>
            <a:ext cx="191109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00" b="0">
                <a:solidFill>
                  <a:srgbClr val="333333"/>
                </a:solidFill>
                <a:latin typeface="Yu Gothic UI"/>
                <a:ea typeface="Yu Gothic UI"/>
                <a:cs typeface="Yu Gothic UI"/>
              </a:rPr>
              <a:t>•  plan-approved marker の有無を確認</a:t>
            </a:r>
          </a:p>
          <a:p>
            <a:pPr algn="l">
              <a:lnSpc>
                <a:spcPct val="135000"/>
              </a:lnSpc>
            </a:pPr>
            <a:r>
              <a:rPr sz="900" b="0">
                <a:solidFill>
                  <a:srgbClr val="333333"/>
                </a:solidFill>
                <a:latin typeface="Yu Gothic UI"/>
                <a:ea typeface="Yu Gothic UI"/>
                <a:cs typeface="Yu Gothic UI"/>
              </a:rPr>
              <a:t>•  未確定なら plan 作成を先に促す</a:t>
            </a:r>
          </a:p>
          <a:p>
            <a:pPr algn="l">
              <a:lnSpc>
                <a:spcPct val="135000"/>
              </a:lnSpc>
            </a:pPr>
            <a:r>
              <a:rPr sz="900" b="0">
                <a:solidFill>
                  <a:srgbClr val="333333"/>
                </a:solidFill>
                <a:latin typeface="Yu Gothic UI"/>
                <a:ea typeface="Yu Gothic UI"/>
                <a:cs typeface="Yu Gothic UI"/>
              </a:rPr>
              <a:t>•  高リスク変更では追加確認を挟む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62656" y="4937760"/>
            <a:ext cx="186537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8A8A8A"/>
                </a:solidFill>
                <a:latin typeface="Yu Gothic UI"/>
                <a:ea typeface="Yu Gothic UI"/>
                <a:cs typeface="Yu Gothic UI"/>
              </a:rPr>
              <a:t>効果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62656" y="5111496"/>
            <a:ext cx="18653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460073"/>
                </a:solidFill>
                <a:latin typeface="Yu Gothic UI"/>
                <a:ea typeface="Yu Gothic UI"/>
                <a:cs typeface="Yu Gothic UI"/>
              </a:rPr>
              <a:t>いきなり実装に入る事故を減らす</a:t>
            </a:r>
          </a:p>
        </p:txBody>
      </p:sp>
      <p:sp>
        <p:nvSpPr>
          <p:cNvPr id="26" name="Right Triangle 25"/>
          <p:cNvSpPr/>
          <p:nvPr/>
        </p:nvSpPr>
        <p:spPr>
          <a:xfrm rot="5400000">
            <a:off x="4910329" y="3845052"/>
            <a:ext cx="109728" cy="201168"/>
          </a:xfrm>
          <a:prstGeom prst="rtTriangle">
            <a:avLst/>
          </a:prstGeom>
          <a:solidFill>
            <a:srgbClr val="460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010912" y="2606040"/>
            <a:ext cx="2139696" cy="2697480"/>
          </a:xfrm>
          <a:prstGeom prst="roundRect">
            <a:avLst>
              <a:gd name="adj" fmla="val 4000"/>
            </a:avLst>
          </a:prstGeom>
          <a:solidFill>
            <a:srgbClr val="FDEFDC"/>
          </a:solidFill>
          <a:ln w="6350">
            <a:solidFill>
              <a:srgbClr val="E2D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010912" y="2606040"/>
            <a:ext cx="2139696" cy="457200"/>
          </a:xfrm>
          <a:prstGeom prst="rect">
            <a:avLst/>
          </a:prstGeom>
          <a:solidFill>
            <a:srgbClr val="E07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10912" y="2606040"/>
            <a:ext cx="213969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PreToolUse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93792" y="3136392"/>
            <a:ext cx="186537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8A8A8A"/>
                </a:solidFill>
                <a:latin typeface="Yu Gothic UI"/>
                <a:ea typeface="Yu Gothic UI"/>
                <a:cs typeface="Yu Gothic UI"/>
              </a:rPr>
              <a:t>目的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93792" y="3319272"/>
            <a:ext cx="186537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>
                <a:solidFill>
                  <a:srgbClr val="E07B1F"/>
                </a:solidFill>
                <a:latin typeface="Yu Gothic UI"/>
                <a:ea typeface="Yu Gothic UI"/>
                <a:cs typeface="Yu Gothic UI"/>
              </a:rPr>
              <a:t>危険操作を事前に抑える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93792" y="3749040"/>
            <a:ext cx="186537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8A8A8A"/>
                </a:solidFill>
                <a:latin typeface="Yu Gothic UI"/>
                <a:ea typeface="Yu Gothic UI"/>
                <a:cs typeface="Yu Gothic UI"/>
              </a:rPr>
              <a:t>実施例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193792" y="3950208"/>
            <a:ext cx="191109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00" b="0">
                <a:solidFill>
                  <a:srgbClr val="333333"/>
                </a:solidFill>
                <a:latin typeface="Yu Gothic UI"/>
                <a:ea typeface="Yu Gothic UI"/>
                <a:cs typeface="Yu Gothic UI"/>
              </a:rPr>
              <a:t>•  git push / --no-verify を警告・抑止</a:t>
            </a:r>
          </a:p>
          <a:p>
            <a:pPr algn="l">
              <a:lnSpc>
                <a:spcPct val="135000"/>
              </a:lnSpc>
            </a:pPr>
            <a:r>
              <a:rPr sz="900" b="0">
                <a:solidFill>
                  <a:srgbClr val="333333"/>
                </a:solidFill>
                <a:latin typeface="Yu Gothic UI"/>
                <a:ea typeface="Yu Gothic UI"/>
                <a:cs typeface="Yu Gothic UI"/>
              </a:rPr>
              <a:t>•  .env / .pem など sensitive read を警告</a:t>
            </a:r>
          </a:p>
          <a:p>
            <a:pPr algn="l">
              <a:lnSpc>
                <a:spcPct val="135000"/>
              </a:lnSpc>
            </a:pPr>
            <a:r>
              <a:rPr sz="900" b="0">
                <a:solidFill>
                  <a:srgbClr val="333333"/>
                </a:solidFill>
                <a:latin typeface="Yu Gothic UI"/>
                <a:ea typeface="Yu Gothic UI"/>
                <a:cs typeface="Yu Gothic UI"/>
              </a:rPr>
              <a:t>•  保護対象パスの編集を警告・制限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193792" y="4937760"/>
            <a:ext cx="186537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8A8A8A"/>
                </a:solidFill>
                <a:latin typeface="Yu Gothic UI"/>
                <a:ea typeface="Yu Gothic UI"/>
                <a:cs typeface="Yu Gothic UI"/>
              </a:rPr>
              <a:t>効果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193792" y="5111496"/>
            <a:ext cx="18653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E07B1F"/>
                </a:solidFill>
                <a:latin typeface="Yu Gothic UI"/>
                <a:ea typeface="Yu Gothic UI"/>
                <a:cs typeface="Yu Gothic UI"/>
              </a:rPr>
              <a:t>diff が広がる前に事故を止めやすい</a:t>
            </a:r>
          </a:p>
        </p:txBody>
      </p:sp>
      <p:sp>
        <p:nvSpPr>
          <p:cNvPr id="36" name="Right Triangle 35"/>
          <p:cNvSpPr/>
          <p:nvPr/>
        </p:nvSpPr>
        <p:spPr>
          <a:xfrm rot="5400000">
            <a:off x="7141465" y="3845052"/>
            <a:ext cx="109728" cy="201168"/>
          </a:xfrm>
          <a:prstGeom prst="rtTriangle">
            <a:avLst/>
          </a:prstGeom>
          <a:solidFill>
            <a:srgbClr val="460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7242048" y="2606040"/>
            <a:ext cx="2139696" cy="2697480"/>
          </a:xfrm>
          <a:prstGeom prst="roundRect">
            <a:avLst>
              <a:gd name="adj" fmla="val 4000"/>
            </a:avLst>
          </a:prstGeom>
          <a:solidFill>
            <a:srgbClr val="E9D8FA"/>
          </a:solidFill>
          <a:ln w="6350">
            <a:solidFill>
              <a:srgbClr val="E2D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242048" y="2606040"/>
            <a:ext cx="2139696" cy="45720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242048" y="2606040"/>
            <a:ext cx="213969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PostToolUse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24928" y="3136392"/>
            <a:ext cx="186537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8A8A8A"/>
                </a:solidFill>
                <a:latin typeface="Yu Gothic UI"/>
                <a:ea typeface="Yu Gothic UI"/>
                <a:cs typeface="Yu Gothic UI"/>
              </a:rPr>
              <a:t>目的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424928" y="3319272"/>
            <a:ext cx="186537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>
                <a:solidFill>
                  <a:srgbClr val="460073"/>
                </a:solidFill>
                <a:latin typeface="Yu Gothic UI"/>
                <a:ea typeface="Yu Gothic UI"/>
                <a:cs typeface="Yu Gothic UI"/>
              </a:rPr>
              <a:t>編集後の品質を整える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424928" y="3749040"/>
            <a:ext cx="186537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8A8A8A"/>
                </a:solidFill>
                <a:latin typeface="Yu Gothic UI"/>
                <a:ea typeface="Yu Gothic UI"/>
                <a:cs typeface="Yu Gothic UI"/>
              </a:rPr>
              <a:t>実施例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424928" y="3950208"/>
            <a:ext cx="191109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00" b="0">
                <a:solidFill>
                  <a:srgbClr val="333333"/>
                </a:solidFill>
                <a:latin typeface="Yu Gothic UI"/>
                <a:ea typeface="Yu Gothic UI"/>
                <a:cs typeface="Yu Gothic UI"/>
              </a:rPr>
              <a:t>•  auto-format を実行</a:t>
            </a:r>
          </a:p>
          <a:p>
            <a:pPr algn="l">
              <a:lnSpc>
                <a:spcPct val="135000"/>
              </a:lnSpc>
            </a:pPr>
            <a:r>
              <a:rPr sz="900" b="0">
                <a:solidFill>
                  <a:srgbClr val="333333"/>
                </a:solidFill>
                <a:latin typeface="Yu Gothic UI"/>
                <a:ea typeface="Yu Gothic UI"/>
                <a:cs typeface="Yu Gothic UI"/>
              </a:rPr>
              <a:t>•  lint / basic validation を実行</a:t>
            </a:r>
          </a:p>
          <a:p>
            <a:pPr algn="l">
              <a:lnSpc>
                <a:spcPct val="135000"/>
              </a:lnSpc>
            </a:pPr>
            <a:r>
              <a:rPr sz="900" b="0">
                <a:solidFill>
                  <a:srgbClr val="333333"/>
                </a:solidFill>
                <a:latin typeface="Yu Gothic UI"/>
                <a:ea typeface="Yu Gothic UI"/>
                <a:cs typeface="Yu Gothic UI"/>
              </a:rPr>
              <a:t>•  diff 分類・簡易ログ出力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424928" y="4937760"/>
            <a:ext cx="186537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8A8A8A"/>
                </a:solidFill>
                <a:latin typeface="Yu Gothic UI"/>
                <a:ea typeface="Yu Gothic UI"/>
                <a:cs typeface="Yu Gothic UI"/>
              </a:rPr>
              <a:t>効果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24928" y="5111496"/>
            <a:ext cx="18653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460073"/>
                </a:solidFill>
                <a:latin typeface="Yu Gothic UI"/>
                <a:ea typeface="Yu Gothic UI"/>
                <a:cs typeface="Yu Gothic UI"/>
              </a:rPr>
              <a:t>レビュアーの負荷を下げる</a:t>
            </a:r>
          </a:p>
        </p:txBody>
      </p:sp>
      <p:sp>
        <p:nvSpPr>
          <p:cNvPr id="46" name="Right Triangle 45"/>
          <p:cNvSpPr/>
          <p:nvPr/>
        </p:nvSpPr>
        <p:spPr>
          <a:xfrm rot="5400000">
            <a:off x="9372601" y="3845052"/>
            <a:ext cx="109728" cy="201168"/>
          </a:xfrm>
          <a:prstGeom prst="rtTriangle">
            <a:avLst/>
          </a:prstGeom>
          <a:solidFill>
            <a:srgbClr val="460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9473184" y="2606040"/>
            <a:ext cx="2139696" cy="2697480"/>
          </a:xfrm>
          <a:prstGeom prst="roundRect">
            <a:avLst>
              <a:gd name="adj" fmla="val 4000"/>
            </a:avLst>
          </a:prstGeom>
          <a:solidFill>
            <a:srgbClr val="E9D8FA"/>
          </a:solidFill>
          <a:ln w="6350">
            <a:solidFill>
              <a:srgbClr val="E2D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473184" y="2606040"/>
            <a:ext cx="2139696" cy="45720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473184" y="2606040"/>
            <a:ext cx="213969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SessionEnd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656064" y="3136392"/>
            <a:ext cx="186537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8A8A8A"/>
                </a:solidFill>
                <a:latin typeface="Yu Gothic UI"/>
                <a:ea typeface="Yu Gothic UI"/>
                <a:cs typeface="Yu Gothic UI"/>
              </a:rPr>
              <a:t>目的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56064" y="3319272"/>
            <a:ext cx="186537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>
                <a:solidFill>
                  <a:srgbClr val="460073"/>
                </a:solidFill>
                <a:latin typeface="Yu Gothic UI"/>
                <a:ea typeface="Yu Gothic UI"/>
                <a:cs typeface="Yu Gothic UI"/>
              </a:rPr>
              <a:t>次回へ引き継げる状態で終える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656064" y="3749040"/>
            <a:ext cx="186537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8A8A8A"/>
                </a:solidFill>
                <a:latin typeface="Yu Gothic UI"/>
                <a:ea typeface="Yu Gothic UI"/>
                <a:cs typeface="Yu Gothic UI"/>
              </a:rPr>
              <a:t>実施例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656064" y="3950208"/>
            <a:ext cx="191109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00" b="0">
                <a:solidFill>
                  <a:srgbClr val="333333"/>
                </a:solidFill>
                <a:latin typeface="Yu Gothic UI"/>
                <a:ea typeface="Yu Gothic UI"/>
                <a:cs typeface="Yu Gothic UI"/>
              </a:rPr>
              <a:t>•  changed files / pending / next step を handoff 化</a:t>
            </a:r>
          </a:p>
          <a:p>
            <a:pPr algn="l">
              <a:lnSpc>
                <a:spcPct val="135000"/>
              </a:lnSpc>
            </a:pPr>
            <a:r>
              <a:rPr sz="900" b="0">
                <a:solidFill>
                  <a:srgbClr val="333333"/>
                </a:solidFill>
                <a:latin typeface="Yu Gothic UI"/>
                <a:ea typeface="Yu Gothic UI"/>
                <a:cs typeface="Yu Gothic UI"/>
              </a:rPr>
              <a:t>•  session summary を保存</a:t>
            </a:r>
          </a:p>
          <a:p>
            <a:pPr algn="l">
              <a:lnSpc>
                <a:spcPct val="135000"/>
              </a:lnSpc>
            </a:pPr>
            <a:r>
              <a:rPr sz="900" b="0">
                <a:solidFill>
                  <a:srgbClr val="333333"/>
                </a:solidFill>
                <a:latin typeface="Yu Gothic UI"/>
                <a:ea typeface="Yu Gothic UI"/>
                <a:cs typeface="Yu Gothic UI"/>
              </a:rPr>
              <a:t>•  token / cost を記録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656064" y="4937760"/>
            <a:ext cx="186537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8A8A8A"/>
                </a:solidFill>
                <a:latin typeface="Yu Gothic UI"/>
                <a:ea typeface="Yu Gothic UI"/>
                <a:cs typeface="Yu Gothic UI"/>
              </a:rPr>
              <a:t>効果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656064" y="5111496"/>
            <a:ext cx="18653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460073"/>
                </a:solidFill>
                <a:latin typeface="Yu Gothic UI"/>
                <a:ea typeface="Yu Gothic UI"/>
                <a:cs typeface="Yu Gothic UI"/>
              </a:rPr>
              <a:t>継続性と運用可視化を保てる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548640" y="5394960"/>
            <a:ext cx="11064240" cy="822960"/>
          </a:xfrm>
          <a:prstGeom prst="roundRect">
            <a:avLst>
              <a:gd name="adj" fmla="val 4000"/>
            </a:avLst>
          </a:prstGeom>
          <a:solidFill>
            <a:srgbClr val="F7F3FB"/>
          </a:solidFill>
          <a:ln w="6350">
            <a:solidFill>
              <a:srgbClr val="E2D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7240" y="54864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A100FF"/>
                </a:solidFill>
                <a:latin typeface="Yu Gothic UI"/>
                <a:ea typeface="Yu Gothic UI"/>
                <a:cs typeface="Yu Gothic UI"/>
              </a:rPr>
              <a:t>Hook が担うこと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7240" y="5742432"/>
            <a:ext cx="5120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1A1A1A"/>
                </a:solidFill>
                <a:latin typeface="Yu Gothic UI"/>
                <a:ea typeface="Yu Gothic UI"/>
                <a:cs typeface="Yu Gothic UI"/>
              </a:rPr>
              <a:t>runtime 補助  ｜  注意喚起  ｜  軽量チェック  ｜  記録 / handoff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080760" y="5532120"/>
            <a:ext cx="12700" cy="548640"/>
          </a:xfrm>
          <a:prstGeom prst="rect">
            <a:avLst/>
          </a:prstGeom>
          <a:solidFill>
            <a:srgbClr val="CFC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263640" y="548640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8B2A5A"/>
                </a:solidFill>
                <a:latin typeface="Yu Gothic UI"/>
                <a:ea typeface="Yu Gothic UI"/>
                <a:cs typeface="Yu Gothic UI"/>
              </a:rPr>
              <a:t>Hook が担わないこと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263640" y="5742432"/>
            <a:ext cx="5394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5A173A"/>
                </a:solidFill>
                <a:latin typeface="Yu Gothic UI"/>
                <a:ea typeface="Yu Gothic UI"/>
                <a:cs typeface="Yu Gothic UI"/>
              </a:rPr>
              <a:t>merge 可否の最終判定  ｜  deploy 可否の最終判定  ｜  secret 漏えいの最終遮断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48640" y="5943600"/>
            <a:ext cx="73152" cy="36576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7240" y="5943600"/>
            <a:ext cx="108813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>
                <a:solidFill>
                  <a:srgbClr val="460073"/>
                </a:solidFill>
                <a:latin typeface="Yu Gothic UI"/>
                <a:ea typeface="Yu Gothic UI"/>
                <a:cs typeface="Yu Gothic UI"/>
              </a:rPr>
              <a:t>KEY ― Hook は AI の仕事の仕方を整える。危険な変更を最終的に通さない責任は GitHub / CI 側に置く。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57200" y="6446520"/>
            <a:ext cx="11277295" cy="9525"/>
          </a:xfrm>
          <a:prstGeom prst="rect">
            <a:avLst/>
          </a:prstGeom>
          <a:solidFill>
            <a:srgbClr val="CFC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5720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8A8A8A"/>
                </a:solidFill>
                <a:latin typeface="Yu Gothic UI"/>
                <a:ea typeface="Yu Gothic UI"/>
                <a:cs typeface="Yu Gothic UI"/>
              </a:rPr>
              <a:t>Agent Skills × ガバナンス設計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058400" y="6537960"/>
            <a:ext cx="1676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8A8A8A"/>
                </a:solidFill>
                <a:latin typeface="Yu Gothic UI"/>
                <a:ea typeface="Yu Gothic UI"/>
                <a:cs typeface="Yu Gothic UI"/>
              </a:rPr>
              <a:t>06 / 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7315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8B2A5A"/>
                </a:solidFill>
                <a:latin typeface="Yu Gothic UI"/>
                <a:ea typeface="Yu Gothic UI"/>
                <a:cs typeface="Yu Gothic UI"/>
              </a:rPr>
              <a:t>07 / PROBLEM 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460073"/>
                </a:solidFill>
                <a:latin typeface="Yu Gothic UI"/>
                <a:ea typeface="Yu Gothic UI"/>
                <a:cs typeface="Yu Gothic UI"/>
              </a:rPr>
              <a:t>問題 C ― 認識できなくても通らない設計にしたい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90472"/>
            <a:ext cx="1371600" cy="31750"/>
          </a:xfrm>
          <a:prstGeom prst="rect">
            <a:avLst/>
          </a:prstGeom>
          <a:solidFill>
            <a:srgbClr val="8B2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783080"/>
            <a:ext cx="11064240" cy="868680"/>
          </a:xfrm>
          <a:prstGeom prst="roundRect">
            <a:avLst>
              <a:gd name="adj" fmla="val 4000"/>
            </a:avLst>
          </a:prstGeom>
          <a:solidFill>
            <a:srgbClr val="5A173A"/>
          </a:solidFill>
          <a:ln w="6350">
            <a:solidFill>
              <a:srgbClr val="5A17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83080"/>
            <a:ext cx="1060704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1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保護境界は、AI の注意力ではなく、GitHub / CI のルールで固定する。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880360"/>
            <a:ext cx="3535680" cy="3017520"/>
          </a:xfrm>
          <a:prstGeom prst="roundRect">
            <a:avLst>
              <a:gd name="adj" fmla="val 4000"/>
            </a:avLst>
          </a:prstGeom>
          <a:solidFill>
            <a:srgbClr val="F8E4EE"/>
          </a:solidFill>
          <a:ln w="6350">
            <a:solidFill>
              <a:srgbClr val="E2D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880360"/>
            <a:ext cx="50800" cy="3017520"/>
          </a:xfrm>
          <a:prstGeom prst="rect">
            <a:avLst/>
          </a:prstGeom>
          <a:solidFill>
            <a:srgbClr val="8B2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3063240"/>
            <a:ext cx="316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8B2A5A"/>
                </a:solidFill>
                <a:latin typeface="Yu Gothic UI"/>
                <a:ea typeface="Yu Gothic UI"/>
                <a:cs typeface="Yu Gothic UI"/>
              </a:rPr>
              <a:t>Secret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383280"/>
            <a:ext cx="3169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5A173A"/>
                </a:solidFill>
                <a:latin typeface="Yu Gothic UI"/>
                <a:ea typeface="Yu Gothic UI"/>
                <a:cs typeface="Yu Gothic UI"/>
              </a:rPr>
              <a:t>秘密情報の漏えい防止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114800"/>
            <a:ext cx="3169920" cy="1645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300" b="0">
                <a:solidFill>
                  <a:srgbClr val="1A1A1A"/>
                </a:solidFill>
                <a:latin typeface="Yu Gothic UI"/>
                <a:ea typeface="Yu Gothic UI"/>
                <a:cs typeface="Yu Gothic UI"/>
              </a:rPr>
              <a:t>•  push protection</a:t>
            </a:r>
          </a:p>
          <a:p>
            <a:pPr algn="l">
              <a:lnSpc>
                <a:spcPct val="160000"/>
              </a:lnSpc>
            </a:pPr>
            <a:r>
              <a:rPr sz="1300" b="0">
                <a:solidFill>
                  <a:srgbClr val="1A1A1A"/>
                </a:solidFill>
                <a:latin typeface="Yu Gothic UI"/>
                <a:ea typeface="Yu Gothic UI"/>
                <a:cs typeface="Yu Gothic UI"/>
              </a:rPr>
              <a:t>•  secret scanning</a:t>
            </a:r>
          </a:p>
          <a:p>
            <a:pPr algn="l">
              <a:lnSpc>
                <a:spcPct val="160000"/>
              </a:lnSpc>
            </a:pPr>
            <a:r>
              <a:rPr sz="1300" b="0">
                <a:solidFill>
                  <a:srgbClr val="1A1A1A"/>
                </a:solidFill>
                <a:latin typeface="Yu Gothic UI"/>
                <a:ea typeface="Yu Gothic UI"/>
                <a:cs typeface="Yu Gothic UI"/>
              </a:rPr>
              <a:t>•  hook scan（補完）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12920" y="2880360"/>
            <a:ext cx="3535680" cy="3017520"/>
          </a:xfrm>
          <a:prstGeom prst="roundRect">
            <a:avLst>
              <a:gd name="adj" fmla="val 4000"/>
            </a:avLst>
          </a:prstGeom>
          <a:solidFill>
            <a:srgbClr val="F8E4EE"/>
          </a:solidFill>
          <a:ln w="6350">
            <a:solidFill>
              <a:srgbClr val="E2D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12920" y="2880360"/>
            <a:ext cx="50800" cy="3017520"/>
          </a:xfrm>
          <a:prstGeom prst="rect">
            <a:avLst/>
          </a:prstGeom>
          <a:solidFill>
            <a:srgbClr val="8B2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87240" y="3063240"/>
            <a:ext cx="316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8B2A5A"/>
                </a:solidFill>
                <a:latin typeface="Yu Gothic UI"/>
                <a:ea typeface="Yu Gothic UI"/>
                <a:cs typeface="Yu Gothic UI"/>
              </a:rPr>
              <a:t>重要変更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87240" y="3383280"/>
            <a:ext cx="3169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5A173A"/>
                </a:solidFill>
                <a:latin typeface="Yu Gothic UI"/>
                <a:ea typeface="Yu Gothic UI"/>
                <a:cs typeface="Yu Gothic UI"/>
              </a:rPr>
              <a:t>merge 条件を固定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87240" y="4114800"/>
            <a:ext cx="3169920" cy="1645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300" b="0">
                <a:solidFill>
                  <a:srgbClr val="1A1A1A"/>
                </a:solidFill>
                <a:latin typeface="Yu Gothic UI"/>
                <a:ea typeface="Yu Gothic UI"/>
                <a:cs typeface="Yu Gothic UI"/>
              </a:rPr>
              <a:t>•  rulesets</a:t>
            </a:r>
          </a:p>
          <a:p>
            <a:pPr algn="l">
              <a:lnSpc>
                <a:spcPct val="160000"/>
              </a:lnSpc>
            </a:pPr>
            <a:r>
              <a:rPr sz="1300" b="0">
                <a:solidFill>
                  <a:srgbClr val="1A1A1A"/>
                </a:solidFill>
                <a:latin typeface="Yu Gothic UI"/>
                <a:ea typeface="Yu Gothic UI"/>
                <a:cs typeface="Yu Gothic UI"/>
              </a:rPr>
              <a:t>•  CODEOWNERS</a:t>
            </a:r>
          </a:p>
          <a:p>
            <a:pPr algn="l">
              <a:lnSpc>
                <a:spcPct val="160000"/>
              </a:lnSpc>
            </a:pPr>
            <a:r>
              <a:rPr sz="1300" b="0">
                <a:solidFill>
                  <a:srgbClr val="1A1A1A"/>
                </a:solidFill>
                <a:latin typeface="Yu Gothic UI"/>
                <a:ea typeface="Yu Gothic UI"/>
                <a:cs typeface="Yu Gothic UI"/>
              </a:rPr>
              <a:t>•  required status checks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77200" y="2880360"/>
            <a:ext cx="3535680" cy="3017520"/>
          </a:xfrm>
          <a:prstGeom prst="roundRect">
            <a:avLst>
              <a:gd name="adj" fmla="val 4000"/>
            </a:avLst>
          </a:prstGeom>
          <a:solidFill>
            <a:srgbClr val="F8E4EE"/>
          </a:solidFill>
          <a:ln w="6350">
            <a:solidFill>
              <a:srgbClr val="E2D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77200" y="2880360"/>
            <a:ext cx="50800" cy="3017520"/>
          </a:xfrm>
          <a:prstGeom prst="rect">
            <a:avLst/>
          </a:prstGeom>
          <a:solidFill>
            <a:srgbClr val="8B2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51520" y="3063240"/>
            <a:ext cx="316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8B2A5A"/>
                </a:solidFill>
                <a:latin typeface="Yu Gothic UI"/>
                <a:ea typeface="Yu Gothic UI"/>
                <a:cs typeface="Yu Gothic UI"/>
              </a:rPr>
              <a:t>本番 deploy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51520" y="3383280"/>
            <a:ext cx="3169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5A173A"/>
                </a:solidFill>
                <a:latin typeface="Yu Gothic UI"/>
                <a:ea typeface="Yu Gothic UI"/>
                <a:cs typeface="Yu Gothic UI"/>
              </a:rPr>
              <a:t>承認境界を挟む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51520" y="4114800"/>
            <a:ext cx="3169920" cy="1645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300" b="0">
                <a:solidFill>
                  <a:srgbClr val="1A1A1A"/>
                </a:solidFill>
                <a:latin typeface="Yu Gothic UI"/>
                <a:ea typeface="Yu Gothic UI"/>
                <a:cs typeface="Yu Gothic UI"/>
              </a:rPr>
              <a:t>•  environments</a:t>
            </a:r>
          </a:p>
          <a:p>
            <a:pPr algn="l">
              <a:lnSpc>
                <a:spcPct val="160000"/>
              </a:lnSpc>
            </a:pPr>
            <a:r>
              <a:rPr sz="1300" b="0">
                <a:solidFill>
                  <a:srgbClr val="1A1A1A"/>
                </a:solidFill>
                <a:latin typeface="Yu Gothic UI"/>
                <a:ea typeface="Yu Gothic UI"/>
                <a:cs typeface="Yu Gothic UI"/>
              </a:rPr>
              <a:t>•  required reviewers</a:t>
            </a:r>
          </a:p>
          <a:p>
            <a:pPr algn="l">
              <a:lnSpc>
                <a:spcPct val="160000"/>
              </a:lnSpc>
            </a:pPr>
            <a:r>
              <a:rPr sz="1300" b="0">
                <a:solidFill>
                  <a:srgbClr val="1A1A1A"/>
                </a:solidFill>
                <a:latin typeface="Yu Gothic UI"/>
                <a:ea typeface="Yu Gothic UI"/>
                <a:cs typeface="Yu Gothic UI"/>
              </a:rPr>
              <a:t>•  self-review 防止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6446520"/>
            <a:ext cx="11277295" cy="9525"/>
          </a:xfrm>
          <a:prstGeom prst="rect">
            <a:avLst/>
          </a:prstGeom>
          <a:solidFill>
            <a:srgbClr val="CFC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8A8A8A"/>
                </a:solidFill>
                <a:latin typeface="Yu Gothic UI"/>
                <a:ea typeface="Yu Gothic UI"/>
                <a:cs typeface="Yu Gothic UI"/>
              </a:rPr>
              <a:t>Agent Skills × ガバナンス設計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0" y="6537960"/>
            <a:ext cx="1676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8A8A8A"/>
                </a:solidFill>
                <a:latin typeface="Yu Gothic UI"/>
                <a:ea typeface="Yu Gothic UI"/>
                <a:cs typeface="Yu Gothic UI"/>
              </a:rPr>
              <a:t>07 / 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7315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A100FF"/>
                </a:solidFill>
                <a:latin typeface="Yu Gothic UI"/>
                <a:ea typeface="Yu Gothic UI"/>
                <a:cs typeface="Yu Gothic UI"/>
              </a:rPr>
              <a:t>08 / DESIGN REQUIREMENTS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460073"/>
                </a:solidFill>
                <a:latin typeface="Yu Gothic UI"/>
                <a:ea typeface="Yu Gothic UI"/>
                <a:cs typeface="Yu Gothic UI"/>
              </a:rPr>
              <a:t>そこから導いた 4 つの設計要件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90472"/>
            <a:ext cx="1371600" cy="3175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783080"/>
            <a:ext cx="5440680" cy="1737360"/>
          </a:xfrm>
          <a:prstGeom prst="roundRect">
            <a:avLst>
              <a:gd name="adj" fmla="val 4000"/>
            </a:avLst>
          </a:prstGeom>
          <a:solidFill>
            <a:srgbClr val="E9D8FA"/>
          </a:solidFill>
          <a:ln w="6350">
            <a:solidFill>
              <a:srgbClr val="E2D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783080"/>
            <a:ext cx="50800" cy="173736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92024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A100FF"/>
                </a:solidFill>
                <a:latin typeface="Yu Gothic UI"/>
                <a:ea typeface="Yu Gothic UI"/>
                <a:cs typeface="Yu Gothic U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240280"/>
            <a:ext cx="49834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>
                <a:solidFill>
                  <a:srgbClr val="460073"/>
                </a:solidFill>
                <a:latin typeface="Yu Gothic UI"/>
                <a:ea typeface="Yu Gothic UI"/>
                <a:cs typeface="Yu Gothic UI"/>
              </a:rPr>
              <a:t>仕様 → 実装 → テストを標準化できる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971800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A100FF"/>
                </a:solidFill>
                <a:latin typeface="Consolas"/>
                <a:ea typeface="Consolas"/>
                <a:cs typeface="Consolas"/>
              </a:rPr>
              <a:t>Layer 1  /  Agent Skills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783080"/>
            <a:ext cx="5440680" cy="1737360"/>
          </a:xfrm>
          <a:prstGeom prst="roundRect">
            <a:avLst>
              <a:gd name="adj" fmla="val 4000"/>
            </a:avLst>
          </a:prstGeom>
          <a:solidFill>
            <a:srgbClr val="E9D8FA"/>
          </a:solidFill>
          <a:ln w="6350">
            <a:solidFill>
              <a:srgbClr val="E2D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72200" y="1783080"/>
            <a:ext cx="50800" cy="173736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92024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A100FF"/>
                </a:solidFill>
                <a:latin typeface="Yu Gothic UI"/>
                <a:ea typeface="Yu Gothic UI"/>
                <a:cs typeface="Yu Gothic U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240280"/>
            <a:ext cx="49834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>
                <a:solidFill>
                  <a:srgbClr val="460073"/>
                </a:solidFill>
                <a:latin typeface="Yu Gothic UI"/>
                <a:ea typeface="Yu Gothic UI"/>
                <a:cs typeface="Yu Gothic UI"/>
              </a:rPr>
              <a:t>AI の役割と挙動を絞り込める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2971800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A100FF"/>
                </a:solidFill>
                <a:latin typeface="Consolas"/>
                <a:ea typeface="Consolas"/>
                <a:cs typeface="Consolas"/>
              </a:rPr>
              <a:t>Layer 2  /  custom agents / hooks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703320"/>
            <a:ext cx="5440680" cy="1737360"/>
          </a:xfrm>
          <a:prstGeom prst="roundRect">
            <a:avLst>
              <a:gd name="adj" fmla="val 4000"/>
            </a:avLst>
          </a:prstGeom>
          <a:solidFill>
            <a:srgbClr val="F8E4EE"/>
          </a:solidFill>
          <a:ln w="6350">
            <a:solidFill>
              <a:srgbClr val="E2D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3703320"/>
            <a:ext cx="50800" cy="1737360"/>
          </a:xfrm>
          <a:prstGeom prst="rect">
            <a:avLst/>
          </a:prstGeom>
          <a:solidFill>
            <a:srgbClr val="8B2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384048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8B2A5A"/>
                </a:solidFill>
                <a:latin typeface="Yu Gothic UI"/>
                <a:ea typeface="Yu Gothic UI"/>
                <a:cs typeface="Yu Gothic U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160520"/>
            <a:ext cx="49834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>
                <a:solidFill>
                  <a:srgbClr val="5A173A"/>
                </a:solidFill>
                <a:latin typeface="Yu Gothic UI"/>
                <a:ea typeface="Yu Gothic UI"/>
                <a:cs typeface="Yu Gothic UI"/>
              </a:rPr>
              <a:t>高リスク変更は人の承認が必須になる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892040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8B2A5A"/>
                </a:solidFill>
                <a:latin typeface="Consolas"/>
                <a:ea typeface="Consolas"/>
                <a:cs typeface="Consolas"/>
              </a:rPr>
              <a:t>Layer 3  /  rulesets / CODEOWNERS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3703320"/>
            <a:ext cx="5440680" cy="1737360"/>
          </a:xfrm>
          <a:prstGeom prst="roundRect">
            <a:avLst>
              <a:gd name="adj" fmla="val 4000"/>
            </a:avLst>
          </a:prstGeom>
          <a:solidFill>
            <a:srgbClr val="F8E4EE"/>
          </a:solidFill>
          <a:ln w="6350">
            <a:solidFill>
              <a:srgbClr val="E2D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3703320"/>
            <a:ext cx="50800" cy="1737360"/>
          </a:xfrm>
          <a:prstGeom prst="rect">
            <a:avLst/>
          </a:prstGeom>
          <a:solidFill>
            <a:srgbClr val="8B2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384048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8B2A5A"/>
                </a:solidFill>
                <a:latin typeface="Yu Gothic UI"/>
                <a:ea typeface="Yu Gothic UI"/>
                <a:cs typeface="Yu Gothic UI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4160520"/>
            <a:ext cx="49834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>
                <a:solidFill>
                  <a:srgbClr val="5A173A"/>
                </a:solidFill>
                <a:latin typeface="Yu Gothic UI"/>
                <a:ea typeface="Yu Gothic UI"/>
                <a:cs typeface="Yu Gothic UI"/>
              </a:rPr>
              <a:t>secret / deploy はガードレールで守れる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4892040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8B2A5A"/>
                </a:solidFill>
                <a:latin typeface="Consolas"/>
                <a:ea typeface="Consolas"/>
                <a:cs typeface="Consolas"/>
              </a:rPr>
              <a:t>Layer 4  /  environments / secret scanning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80644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8A8A"/>
                </a:solidFill>
                <a:latin typeface="Yu Gothic UI"/>
                <a:ea typeface="Yu Gothic UI"/>
                <a:cs typeface="Yu Gothic UI"/>
              </a:rPr>
              <a:t>※ 段階的導入（Phase 1 → 2 → 3）は、要件ではなく導入方針として切り出します。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6446520"/>
            <a:ext cx="11277295" cy="9525"/>
          </a:xfrm>
          <a:prstGeom prst="rect">
            <a:avLst/>
          </a:prstGeom>
          <a:solidFill>
            <a:srgbClr val="CFC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8A8A8A"/>
                </a:solidFill>
                <a:latin typeface="Yu Gothic UI"/>
                <a:ea typeface="Yu Gothic UI"/>
                <a:cs typeface="Yu Gothic UI"/>
              </a:rPr>
              <a:t>Agent Skills × ガバナンス設計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0" y="6537960"/>
            <a:ext cx="1676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8A8A8A"/>
                </a:solidFill>
                <a:latin typeface="Yu Gothic UI"/>
                <a:ea typeface="Yu Gothic UI"/>
                <a:cs typeface="Yu Gothic UI"/>
              </a:rPr>
              <a:t>08 / 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7315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A100FF"/>
                </a:solidFill>
                <a:latin typeface="Yu Gothic UI"/>
                <a:ea typeface="Yu Gothic UI"/>
                <a:cs typeface="Yu Gothic UI"/>
              </a:rPr>
              <a:t>09 / DESIGN PRINCIPLE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460073"/>
                </a:solidFill>
                <a:latin typeface="Yu Gothic UI"/>
                <a:ea typeface="Yu Gothic UI"/>
                <a:cs typeface="Yu Gothic UI"/>
              </a:rPr>
              <a:t>設計原則 ― AI 支援とガードレールを分ける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90472"/>
            <a:ext cx="1371600" cy="3175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783080"/>
            <a:ext cx="11064240" cy="731520"/>
          </a:xfrm>
          <a:prstGeom prst="roundRect">
            <a:avLst>
              <a:gd name="adj" fmla="val 4000"/>
            </a:avLst>
          </a:prstGeom>
          <a:solidFill>
            <a:srgbClr val="F7F3FB"/>
          </a:solidFill>
          <a:ln w="9525">
            <a:solidFill>
              <a:srgbClr val="A10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83080"/>
            <a:ext cx="1060704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1">
                <a:solidFill>
                  <a:srgbClr val="460073"/>
                </a:solidFill>
                <a:latin typeface="Yu Gothic UI"/>
                <a:ea typeface="Yu Gothic UI"/>
                <a:cs typeface="Yu Gothic UI"/>
              </a:rPr>
              <a:t>「AI に良い仕事をしてもらうこと」と「危険な変更を通さないこと」は、別レイヤーで設計する。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697480"/>
            <a:ext cx="5440680" cy="3108960"/>
          </a:xfrm>
          <a:prstGeom prst="roundRect">
            <a:avLst>
              <a:gd name="adj" fmla="val 4000"/>
            </a:avLst>
          </a:prstGeom>
          <a:solidFill>
            <a:srgbClr val="E9D8FA"/>
          </a:solidFill>
          <a:ln w="6350">
            <a:solidFill>
              <a:srgbClr val="E2D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697480"/>
            <a:ext cx="5440680" cy="45720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697480"/>
            <a:ext cx="54406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AI 支援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337560"/>
            <a:ext cx="10972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A100FF"/>
                </a:solidFill>
                <a:latin typeface="Yu Gothic UI"/>
                <a:ea typeface="Yu Gothic UI"/>
                <a:cs typeface="Yu Gothic UI"/>
              </a:rPr>
              <a:t>目的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20" y="3337560"/>
            <a:ext cx="39319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460073"/>
                </a:solidFill>
                <a:latin typeface="Yu Gothic UI"/>
                <a:ea typeface="Yu Gothic UI"/>
                <a:cs typeface="Yu Gothic UI"/>
              </a:rPr>
              <a:t>理解を揃える / 作業を標準化する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931920"/>
            <a:ext cx="10972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A100FF"/>
                </a:solidFill>
                <a:latin typeface="Yu Gothic UI"/>
                <a:ea typeface="Yu Gothic UI"/>
                <a:cs typeface="Yu Gothic UI"/>
              </a:rPr>
              <a:t>役割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20" y="3931920"/>
            <a:ext cx="39319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460073"/>
                </a:solidFill>
                <a:latin typeface="Yu Gothic UI"/>
                <a:ea typeface="Yu Gothic UI"/>
                <a:cs typeface="Yu Gothic UI"/>
              </a:rPr>
              <a:t>標準化・実行時補助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526280"/>
            <a:ext cx="10972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A100FF"/>
                </a:solidFill>
                <a:latin typeface="Yu Gothic UI"/>
                <a:ea typeface="Yu Gothic UI"/>
                <a:cs typeface="Yu Gothic UI"/>
              </a:rPr>
              <a:t>仕組み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20" y="4526280"/>
            <a:ext cx="39319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460073"/>
                </a:solidFill>
                <a:latin typeface="Yu Gothic UI"/>
                <a:ea typeface="Yu Gothic UI"/>
                <a:cs typeface="Yu Gothic UI"/>
              </a:rPr>
              <a:t>Skills / Agents / Hooks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120640"/>
            <a:ext cx="10972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A100FF"/>
                </a:solidFill>
                <a:latin typeface="Yu Gothic UI"/>
                <a:ea typeface="Yu Gothic UI"/>
                <a:cs typeface="Yu Gothic UI"/>
              </a:rPr>
              <a:t>判定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20" y="5120640"/>
            <a:ext cx="39319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460073"/>
                </a:solidFill>
                <a:latin typeface="Yu Gothic UI"/>
                <a:ea typeface="Yu Gothic UI"/>
                <a:cs typeface="Yu Gothic UI"/>
              </a:rPr>
              <a:t>人の作業を助ける（判定は持たない）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2697480"/>
            <a:ext cx="5440680" cy="3108960"/>
          </a:xfrm>
          <a:prstGeom prst="roundRect">
            <a:avLst>
              <a:gd name="adj" fmla="val 4000"/>
            </a:avLst>
          </a:prstGeom>
          <a:solidFill>
            <a:srgbClr val="F8E4EE"/>
          </a:solidFill>
          <a:ln w="6350">
            <a:solidFill>
              <a:srgbClr val="E2D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72200" y="2697480"/>
            <a:ext cx="5440680" cy="457200"/>
          </a:xfrm>
          <a:prstGeom prst="rect">
            <a:avLst/>
          </a:prstGeom>
          <a:solidFill>
            <a:srgbClr val="8B2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72200" y="2697480"/>
            <a:ext cx="54406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ガードレール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3337560"/>
            <a:ext cx="10972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8B2A5A"/>
                </a:solidFill>
                <a:latin typeface="Yu Gothic UI"/>
                <a:ea typeface="Yu Gothic UI"/>
                <a:cs typeface="Yu Gothic UI"/>
              </a:rPr>
              <a:t>目的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0" y="3337560"/>
            <a:ext cx="39319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5A173A"/>
                </a:solidFill>
                <a:latin typeface="Yu Gothic UI"/>
                <a:ea typeface="Yu Gothic UI"/>
                <a:cs typeface="Yu Gothic UI"/>
              </a:rPr>
              <a:t>危険な変更を通さない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3931920"/>
            <a:ext cx="10972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8B2A5A"/>
                </a:solidFill>
                <a:latin typeface="Yu Gothic UI"/>
                <a:ea typeface="Yu Gothic UI"/>
                <a:cs typeface="Yu Gothic UI"/>
              </a:rPr>
              <a:t>役割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80" y="3931920"/>
            <a:ext cx="39319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5A173A"/>
                </a:solidFill>
                <a:latin typeface="Yu Gothic UI"/>
                <a:ea typeface="Yu Gothic UI"/>
                <a:cs typeface="Yu Gothic UI"/>
              </a:rPr>
              <a:t>条件固定・承認・遮断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4526280"/>
            <a:ext cx="10972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8B2A5A"/>
                </a:solidFill>
                <a:latin typeface="Yu Gothic UI"/>
                <a:ea typeface="Yu Gothic UI"/>
                <a:cs typeface="Yu Gothic UI"/>
              </a:rPr>
              <a:t>仕組み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0" y="4526280"/>
            <a:ext cx="39319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5A173A"/>
                </a:solidFill>
                <a:latin typeface="Yu Gothic UI"/>
                <a:ea typeface="Yu Gothic UI"/>
                <a:cs typeface="Yu Gothic UI"/>
              </a:rPr>
              <a:t>Rulesets / CODEOWNERS / Environments / Secret scanning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5120640"/>
            <a:ext cx="10972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8B2A5A"/>
                </a:solidFill>
                <a:latin typeface="Yu Gothic UI"/>
                <a:ea typeface="Yu Gothic UI"/>
                <a:cs typeface="Yu Gothic UI"/>
              </a:rPr>
              <a:t>判定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80" y="5120640"/>
            <a:ext cx="39319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5A173A"/>
                </a:solidFill>
                <a:latin typeface="Yu Gothic UI"/>
                <a:ea typeface="Yu Gothic UI"/>
                <a:cs typeface="Yu Gothic UI"/>
              </a:rPr>
              <a:t>GitHub / CI が通過可否を持つ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5943600"/>
            <a:ext cx="73152" cy="36576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" y="5943600"/>
            <a:ext cx="108813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>
                <a:solidFill>
                  <a:srgbClr val="460073"/>
                </a:solidFill>
                <a:latin typeface="Yu Gothic UI"/>
                <a:ea typeface="Yu Gothic UI"/>
                <a:cs typeface="Yu Gothic UI"/>
              </a:rPr>
              <a:t>KEY ― 便利さと安全性を同じ仕組みに背負わせない。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6446520"/>
            <a:ext cx="11277295" cy="9525"/>
          </a:xfrm>
          <a:prstGeom prst="rect">
            <a:avLst/>
          </a:prstGeom>
          <a:solidFill>
            <a:srgbClr val="CFC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8A8A8A"/>
                </a:solidFill>
                <a:latin typeface="Yu Gothic UI"/>
                <a:ea typeface="Yu Gothic UI"/>
                <a:cs typeface="Yu Gothic UI"/>
              </a:rPr>
              <a:t>Agent Skills × ガバナンス設計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58400" y="6537960"/>
            <a:ext cx="1676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8A8A8A"/>
                </a:solidFill>
                <a:latin typeface="Yu Gothic UI"/>
                <a:ea typeface="Yu Gothic UI"/>
                <a:cs typeface="Yu Gothic UI"/>
              </a:rPr>
              <a:t>09 / 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7315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A100FF"/>
                </a:solidFill>
                <a:latin typeface="Yu Gothic UI"/>
                <a:ea typeface="Yu Gothic UI"/>
                <a:cs typeface="Yu Gothic UI"/>
              </a:rPr>
              <a:t>10 / PROBLEM × LAYER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460073"/>
                </a:solidFill>
                <a:latin typeface="Yu Gothic UI"/>
                <a:ea typeface="Yu Gothic UI"/>
                <a:cs typeface="Yu Gothic UI"/>
              </a:rPr>
              <a:t>どの問題に、どのレイヤーで答えたか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90472"/>
            <a:ext cx="1371600" cy="3175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828800"/>
            <a:ext cx="3017520" cy="731520"/>
          </a:xfrm>
          <a:prstGeom prst="rect">
            <a:avLst/>
          </a:prstGeom>
          <a:solidFill>
            <a:srgbClr val="1A1A1A"/>
          </a:solidFill>
          <a:ln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828800"/>
            <a:ext cx="2834639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問題  /  レイヤー</a:t>
            </a:r>
          </a:p>
        </p:txBody>
      </p:sp>
      <p:sp>
        <p:nvSpPr>
          <p:cNvPr id="7" name="Rectangle 6"/>
          <p:cNvSpPr/>
          <p:nvPr/>
        </p:nvSpPr>
        <p:spPr>
          <a:xfrm>
            <a:off x="3566160" y="1828800"/>
            <a:ext cx="2011680" cy="731520"/>
          </a:xfrm>
          <a:prstGeom prst="rect">
            <a:avLst/>
          </a:prstGeom>
          <a:solidFill>
            <a:srgbClr val="460073"/>
          </a:solidFill>
          <a:ln>
            <a:solidFill>
              <a:srgbClr val="4600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66160" y="1920240"/>
            <a:ext cx="20116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Layer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2194560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Skills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77840" y="1828800"/>
            <a:ext cx="2011680" cy="731520"/>
          </a:xfrm>
          <a:prstGeom prst="rect">
            <a:avLst/>
          </a:prstGeom>
          <a:solidFill>
            <a:srgbClr val="460073"/>
          </a:solidFill>
          <a:ln>
            <a:solidFill>
              <a:srgbClr val="4600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77840" y="1920240"/>
            <a:ext cx="20116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Layer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77840" y="2194560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Agents / Hooks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589520" y="1828800"/>
            <a:ext cx="2011680" cy="731520"/>
          </a:xfrm>
          <a:prstGeom prst="rect">
            <a:avLst/>
          </a:prstGeom>
          <a:solidFill>
            <a:srgbClr val="5A173A"/>
          </a:solidFill>
          <a:ln>
            <a:solidFill>
              <a:srgbClr val="5A17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89520" y="1920240"/>
            <a:ext cx="20116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Layer 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20" y="2194560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Rulesets / CODEOWNERS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601200" y="1828800"/>
            <a:ext cx="2011680" cy="731520"/>
          </a:xfrm>
          <a:prstGeom prst="rect">
            <a:avLst/>
          </a:prstGeom>
          <a:solidFill>
            <a:srgbClr val="5A173A"/>
          </a:solidFill>
          <a:ln>
            <a:solidFill>
              <a:srgbClr val="5A17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0" y="1920240"/>
            <a:ext cx="20116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Layer 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2194560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Environments / Secret scanning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2560320"/>
            <a:ext cx="3017520" cy="868680"/>
          </a:xfrm>
          <a:prstGeom prst="rect">
            <a:avLst/>
          </a:prstGeom>
          <a:solidFill>
            <a:srgbClr val="F7F3FB"/>
          </a:solidFill>
          <a:ln w="3175">
            <a:solidFill>
              <a:srgbClr val="E2D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2560320"/>
            <a:ext cx="278892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>
                <a:solidFill>
                  <a:srgbClr val="460073"/>
                </a:solidFill>
                <a:latin typeface="Yu Gothic UI"/>
                <a:ea typeface="Yu Gothic UI"/>
                <a:cs typeface="Yu Gothic UI"/>
              </a:rPr>
              <a:t>問題 A  開発手順が揃わない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66160" y="2560320"/>
            <a:ext cx="2011680" cy="868680"/>
          </a:xfrm>
          <a:prstGeom prst="rect">
            <a:avLst/>
          </a:prstGeom>
          <a:solidFill>
            <a:srgbClr val="F7F3FB"/>
          </a:solidFill>
          <a:ln w="3175">
            <a:solidFill>
              <a:srgbClr val="E2D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931920" y="2724912"/>
            <a:ext cx="1280160" cy="539496"/>
          </a:xfrm>
          <a:prstGeom prst="roundRect">
            <a:avLst>
              <a:gd name="adj" fmla="val 4000"/>
            </a:avLst>
          </a:prstGeom>
          <a:solidFill>
            <a:srgbClr val="A100FF"/>
          </a:solidFill>
          <a:ln>
            <a:solidFill>
              <a:srgbClr val="A10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931920" y="2724912"/>
            <a:ext cx="1280160" cy="5394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主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577840" y="2560320"/>
            <a:ext cx="2011680" cy="868680"/>
          </a:xfrm>
          <a:prstGeom prst="rect">
            <a:avLst/>
          </a:prstGeom>
          <a:solidFill>
            <a:srgbClr val="F7F3FB"/>
          </a:solidFill>
          <a:ln w="3175">
            <a:solidFill>
              <a:srgbClr val="E2D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577840" y="2560320"/>
            <a:ext cx="201168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8A8A8A"/>
                </a:solidFill>
                <a:latin typeface="Yu Gothic UI"/>
                <a:ea typeface="Yu Gothic UI"/>
                <a:cs typeface="Yu Gothic UI"/>
              </a:rPr>
              <a:t>—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589520" y="2560320"/>
            <a:ext cx="2011680" cy="868680"/>
          </a:xfrm>
          <a:prstGeom prst="rect">
            <a:avLst/>
          </a:prstGeom>
          <a:solidFill>
            <a:srgbClr val="F7F3FB"/>
          </a:solidFill>
          <a:ln w="3175">
            <a:solidFill>
              <a:srgbClr val="E2D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589520" y="2560320"/>
            <a:ext cx="201168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8A8A8A"/>
                </a:solidFill>
                <a:latin typeface="Yu Gothic UI"/>
                <a:ea typeface="Yu Gothic UI"/>
                <a:cs typeface="Yu Gothic UI"/>
              </a:rPr>
              <a:t>—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601200" y="2560320"/>
            <a:ext cx="2011680" cy="868680"/>
          </a:xfrm>
          <a:prstGeom prst="rect">
            <a:avLst/>
          </a:prstGeom>
          <a:solidFill>
            <a:srgbClr val="F7F3FB"/>
          </a:solidFill>
          <a:ln w="3175">
            <a:solidFill>
              <a:srgbClr val="E2D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0" y="2560320"/>
            <a:ext cx="201168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8A8A8A"/>
                </a:solidFill>
                <a:latin typeface="Yu Gothic UI"/>
                <a:ea typeface="Yu Gothic UI"/>
                <a:cs typeface="Yu Gothic UI"/>
              </a:rPr>
              <a:t>—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3429000"/>
            <a:ext cx="3017520" cy="868680"/>
          </a:xfrm>
          <a:prstGeom prst="rect">
            <a:avLst/>
          </a:prstGeom>
          <a:solidFill>
            <a:srgbClr val="FFFFFF"/>
          </a:solidFill>
          <a:ln w="3175">
            <a:solidFill>
              <a:srgbClr val="E2D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3429000"/>
            <a:ext cx="278892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>
                <a:solidFill>
                  <a:srgbClr val="460073"/>
                </a:solidFill>
                <a:latin typeface="Yu Gothic UI"/>
                <a:ea typeface="Yu Gothic UI"/>
                <a:cs typeface="Yu Gothic UI"/>
              </a:rPr>
              <a:t>問題 B  変更がレビューしづらい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566160" y="3429000"/>
            <a:ext cx="2011680" cy="868680"/>
          </a:xfrm>
          <a:prstGeom prst="rect">
            <a:avLst/>
          </a:prstGeom>
          <a:solidFill>
            <a:srgbClr val="FFFFFF"/>
          </a:solidFill>
          <a:ln w="3175">
            <a:solidFill>
              <a:srgbClr val="E2D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3931920" y="3630168"/>
            <a:ext cx="1280160" cy="46634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A10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931920" y="3630168"/>
            <a:ext cx="1280160" cy="466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A100FF"/>
                </a:solidFill>
                <a:latin typeface="Yu Gothic UI"/>
                <a:ea typeface="Yu Gothic UI"/>
                <a:cs typeface="Yu Gothic UI"/>
              </a:rPr>
              <a:t>補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577840" y="3429000"/>
            <a:ext cx="2011680" cy="868680"/>
          </a:xfrm>
          <a:prstGeom prst="rect">
            <a:avLst/>
          </a:prstGeom>
          <a:solidFill>
            <a:srgbClr val="FFFFFF"/>
          </a:solidFill>
          <a:ln w="3175">
            <a:solidFill>
              <a:srgbClr val="E2D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5943600" y="3593592"/>
            <a:ext cx="1280160" cy="539496"/>
          </a:xfrm>
          <a:prstGeom prst="roundRect">
            <a:avLst>
              <a:gd name="adj" fmla="val 4000"/>
            </a:avLst>
          </a:prstGeom>
          <a:solidFill>
            <a:srgbClr val="A100FF"/>
          </a:solidFill>
          <a:ln>
            <a:solidFill>
              <a:srgbClr val="A10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943600" y="3593592"/>
            <a:ext cx="1280160" cy="5394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主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589520" y="3429000"/>
            <a:ext cx="2011680" cy="868680"/>
          </a:xfrm>
          <a:prstGeom prst="rect">
            <a:avLst/>
          </a:prstGeom>
          <a:solidFill>
            <a:srgbClr val="FFFFFF"/>
          </a:solidFill>
          <a:ln w="3175">
            <a:solidFill>
              <a:srgbClr val="E2D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589520" y="3429000"/>
            <a:ext cx="201168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8A8A8A"/>
                </a:solidFill>
                <a:latin typeface="Yu Gothic UI"/>
                <a:ea typeface="Yu Gothic UI"/>
                <a:cs typeface="Yu Gothic UI"/>
              </a:rPr>
              <a:t>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601200" y="3429000"/>
            <a:ext cx="2011680" cy="868680"/>
          </a:xfrm>
          <a:prstGeom prst="rect">
            <a:avLst/>
          </a:prstGeom>
          <a:solidFill>
            <a:srgbClr val="FFFFFF"/>
          </a:solidFill>
          <a:ln w="3175">
            <a:solidFill>
              <a:srgbClr val="E2D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601200" y="3429000"/>
            <a:ext cx="201168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8A8A8A"/>
                </a:solidFill>
                <a:latin typeface="Yu Gothic UI"/>
                <a:ea typeface="Yu Gothic UI"/>
                <a:cs typeface="Yu Gothic UI"/>
              </a:rPr>
              <a:t>—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48640" y="4297679"/>
            <a:ext cx="3017520" cy="868680"/>
          </a:xfrm>
          <a:prstGeom prst="rect">
            <a:avLst/>
          </a:prstGeom>
          <a:solidFill>
            <a:srgbClr val="F7F3FB"/>
          </a:solidFill>
          <a:ln w="3175">
            <a:solidFill>
              <a:srgbClr val="E2D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31520" y="4297679"/>
            <a:ext cx="278892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>
                <a:solidFill>
                  <a:srgbClr val="460073"/>
                </a:solidFill>
                <a:latin typeface="Yu Gothic UI"/>
                <a:ea typeface="Yu Gothic UI"/>
                <a:cs typeface="Yu Gothic UI"/>
              </a:rPr>
              <a:t>問題 C  止めるべき境界がない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566160" y="4297679"/>
            <a:ext cx="2011680" cy="868680"/>
          </a:xfrm>
          <a:prstGeom prst="rect">
            <a:avLst/>
          </a:prstGeom>
          <a:solidFill>
            <a:srgbClr val="F7F3FB"/>
          </a:solidFill>
          <a:ln w="3175">
            <a:solidFill>
              <a:srgbClr val="E2D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66160" y="4297679"/>
            <a:ext cx="201168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8A8A8A"/>
                </a:solidFill>
                <a:latin typeface="Yu Gothic UI"/>
                <a:ea typeface="Yu Gothic UI"/>
                <a:cs typeface="Yu Gothic UI"/>
              </a:rPr>
              <a:t>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577840" y="4297679"/>
            <a:ext cx="2011680" cy="868680"/>
          </a:xfrm>
          <a:prstGeom prst="rect">
            <a:avLst/>
          </a:prstGeom>
          <a:solidFill>
            <a:srgbClr val="F7F3FB"/>
          </a:solidFill>
          <a:ln w="3175">
            <a:solidFill>
              <a:srgbClr val="E2D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943600" y="4498847"/>
            <a:ext cx="1280160" cy="46634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A10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943600" y="4498847"/>
            <a:ext cx="1280160" cy="466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A100FF"/>
                </a:solidFill>
                <a:latin typeface="Yu Gothic UI"/>
                <a:ea typeface="Yu Gothic UI"/>
                <a:cs typeface="Yu Gothic UI"/>
              </a:rPr>
              <a:t>補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589520" y="4297679"/>
            <a:ext cx="2011680" cy="868680"/>
          </a:xfrm>
          <a:prstGeom prst="rect">
            <a:avLst/>
          </a:prstGeom>
          <a:solidFill>
            <a:srgbClr val="F7F3FB"/>
          </a:solidFill>
          <a:ln w="3175">
            <a:solidFill>
              <a:srgbClr val="E2D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7955280" y="4462271"/>
            <a:ext cx="1280160" cy="539496"/>
          </a:xfrm>
          <a:prstGeom prst="roundRect">
            <a:avLst>
              <a:gd name="adj" fmla="val 4000"/>
            </a:avLst>
          </a:prstGeom>
          <a:solidFill>
            <a:srgbClr val="8B2A5A"/>
          </a:solidFill>
          <a:ln>
            <a:solidFill>
              <a:srgbClr val="8B2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955280" y="4462271"/>
            <a:ext cx="1280160" cy="5394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主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601200" y="4297679"/>
            <a:ext cx="2011680" cy="868680"/>
          </a:xfrm>
          <a:prstGeom prst="rect">
            <a:avLst/>
          </a:prstGeom>
          <a:solidFill>
            <a:srgbClr val="F7F3FB"/>
          </a:solidFill>
          <a:ln w="3175">
            <a:solidFill>
              <a:srgbClr val="E2D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9966960" y="4462271"/>
            <a:ext cx="1280160" cy="539496"/>
          </a:xfrm>
          <a:prstGeom prst="roundRect">
            <a:avLst>
              <a:gd name="adj" fmla="val 4000"/>
            </a:avLst>
          </a:prstGeom>
          <a:solidFill>
            <a:srgbClr val="8B2A5A"/>
          </a:solidFill>
          <a:ln>
            <a:solidFill>
              <a:srgbClr val="8B2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966960" y="4462271"/>
            <a:ext cx="1280160" cy="5394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主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48640" y="589788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8A8A8A"/>
                </a:solidFill>
                <a:latin typeface="Yu Gothic UI"/>
                <a:ea typeface="Yu Gothic UI"/>
                <a:cs typeface="Yu Gothic UI"/>
              </a:rPr>
              <a:t>制約（PoC は軽く始めたい）は、Phase 1 で Layer 1、Phase 2 で Layer 2、Phase 3 以降で MCP / 高度統制、と段階導入で吸収します。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57200" y="6446520"/>
            <a:ext cx="11277295" cy="9525"/>
          </a:xfrm>
          <a:prstGeom prst="rect">
            <a:avLst/>
          </a:prstGeom>
          <a:solidFill>
            <a:srgbClr val="CFC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5720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8A8A8A"/>
                </a:solidFill>
                <a:latin typeface="Yu Gothic UI"/>
                <a:ea typeface="Yu Gothic UI"/>
                <a:cs typeface="Yu Gothic UI"/>
              </a:rPr>
              <a:t>Agent Skills × ガバナンス設計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058400" y="6537960"/>
            <a:ext cx="1676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8A8A8A"/>
                </a:solidFill>
                <a:latin typeface="Yu Gothic UI"/>
                <a:ea typeface="Yu Gothic UI"/>
                <a:cs typeface="Yu Gothic UI"/>
              </a:rPr>
              <a:t>10 / 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7315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A100FF"/>
                </a:solidFill>
                <a:latin typeface="Yu Gothic UI"/>
                <a:ea typeface="Yu Gothic UI"/>
                <a:cs typeface="Yu Gothic UI"/>
              </a:rPr>
              <a:t>11 / LAYER 1-2 DETAIL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460073"/>
                </a:solidFill>
                <a:latin typeface="Yu Gothic UI"/>
                <a:ea typeface="Yu Gothic UI"/>
                <a:cs typeface="Yu Gothic UI"/>
              </a:rPr>
              <a:t>実装詳細 Layer 1-2 ― 標準化と挙動調整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90472"/>
            <a:ext cx="1371600" cy="3175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5440680" cy="3749039"/>
          </a:xfrm>
          <a:prstGeom prst="roundRect">
            <a:avLst>
              <a:gd name="adj" fmla="val 4000"/>
            </a:avLst>
          </a:prstGeom>
          <a:solidFill>
            <a:srgbClr val="E9D8FA"/>
          </a:solidFill>
          <a:ln w="6350">
            <a:solidFill>
              <a:srgbClr val="E2D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828800"/>
            <a:ext cx="50800" cy="3749039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011680"/>
            <a:ext cx="5074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A100FF"/>
                </a:solidFill>
                <a:latin typeface="Yu Gothic UI"/>
                <a:ea typeface="Yu Gothic UI"/>
                <a:cs typeface="Yu Gothic UI"/>
              </a:rPr>
              <a:t>LAYER 1  /  AI 支援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331720"/>
            <a:ext cx="5074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460073"/>
                </a:solidFill>
                <a:latin typeface="Yu Gothic UI"/>
                <a:ea typeface="Yu Gothic UI"/>
                <a:cs typeface="Yu Gothic UI"/>
              </a:rPr>
              <a:t>Skill pack で標準化するもの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108960"/>
            <a:ext cx="498348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1400" b="0">
                <a:solidFill>
                  <a:srgbClr val="1A1A1A"/>
                </a:solidFill>
                <a:latin typeface="Yu Gothic UI"/>
                <a:ea typeface="Yu Gothic UI"/>
                <a:cs typeface="Yu Gothic UI"/>
              </a:rPr>
              <a:t>•  実装計画</a:t>
            </a:r>
          </a:p>
          <a:p>
            <a:pPr algn="l">
              <a:lnSpc>
                <a:spcPct val="170000"/>
              </a:lnSpc>
            </a:pPr>
            <a:r>
              <a:rPr sz="1400" b="0">
                <a:solidFill>
                  <a:srgbClr val="1A1A1A"/>
                </a:solidFill>
                <a:latin typeface="Yu Gothic UI"/>
                <a:ea typeface="Yu Gothic UI"/>
                <a:cs typeface="Yu Gothic UI"/>
              </a:rPr>
              <a:t>•  テスト観点</a:t>
            </a:r>
          </a:p>
          <a:p>
            <a:pPr algn="l">
              <a:lnSpc>
                <a:spcPct val="170000"/>
              </a:lnSpc>
            </a:pPr>
            <a:r>
              <a:rPr sz="1400" b="0">
                <a:solidFill>
                  <a:srgbClr val="1A1A1A"/>
                </a:solidFill>
                <a:latin typeface="Yu Gothic UI"/>
                <a:ea typeface="Yu Gothic UI"/>
                <a:cs typeface="Yu Gothic UI"/>
              </a:rPr>
              <a:t>•  PR 下書き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983480"/>
            <a:ext cx="5074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A100FF"/>
                </a:solidFill>
                <a:latin typeface="Consolas"/>
                <a:ea typeface="Consolas"/>
                <a:cs typeface="Consolas"/>
              </a:rPr>
              <a:t>代表例：spec-driven-implementation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828800"/>
            <a:ext cx="5440680" cy="3749039"/>
          </a:xfrm>
          <a:prstGeom prst="roundRect">
            <a:avLst>
              <a:gd name="adj" fmla="val 4000"/>
            </a:avLst>
          </a:prstGeom>
          <a:solidFill>
            <a:srgbClr val="E9D8FA"/>
          </a:solidFill>
          <a:ln w="6350">
            <a:solidFill>
              <a:srgbClr val="E2D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7920" y="1828800"/>
            <a:ext cx="50800" cy="3749039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11680"/>
            <a:ext cx="5074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A100FF"/>
                </a:solidFill>
                <a:latin typeface="Yu Gothic UI"/>
                <a:ea typeface="Yu Gothic UI"/>
                <a:cs typeface="Yu Gothic UI"/>
              </a:rPr>
              <a:t>LAYER 2  /  AI 支援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331720"/>
            <a:ext cx="5074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460073"/>
                </a:solidFill>
                <a:latin typeface="Yu Gothic UI"/>
                <a:ea typeface="Yu Gothic UI"/>
                <a:cs typeface="Yu Gothic UI"/>
              </a:rPr>
              <a:t>Agent / Hook で調整するもの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3108960"/>
            <a:ext cx="498348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1400" b="0">
                <a:solidFill>
                  <a:srgbClr val="1A1A1A"/>
                </a:solidFill>
                <a:latin typeface="Yu Gothic UI"/>
                <a:ea typeface="Yu Gothic UI"/>
                <a:cs typeface="Yu Gothic UI"/>
              </a:rPr>
              <a:t>•  役割分離（planner / safe-implementer など）</a:t>
            </a:r>
          </a:p>
          <a:p>
            <a:pPr algn="l">
              <a:lnSpc>
                <a:spcPct val="170000"/>
              </a:lnSpc>
            </a:pPr>
            <a:r>
              <a:rPr sz="1400" b="0">
                <a:solidFill>
                  <a:srgbClr val="1A1A1A"/>
                </a:solidFill>
                <a:latin typeface="Yu Gothic UI"/>
                <a:ea typeface="Yu Gothic UI"/>
                <a:cs typeface="Yu Gothic UI"/>
              </a:rPr>
              <a:t>•  diff 分類</a:t>
            </a:r>
          </a:p>
          <a:p>
            <a:pPr algn="l">
              <a:lnSpc>
                <a:spcPct val="170000"/>
              </a:lnSpc>
            </a:pPr>
            <a:r>
              <a:rPr sz="1400" b="0">
                <a:solidFill>
                  <a:srgbClr val="1A1A1A"/>
                </a:solidFill>
                <a:latin typeface="Yu Gothic UI"/>
                <a:ea typeface="Yu Gothic UI"/>
                <a:cs typeface="Yu Gothic UI"/>
              </a:rPr>
              <a:t>•  実行時 validation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4983480"/>
            <a:ext cx="5074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A100FF"/>
                </a:solidFill>
                <a:latin typeface="Consolas"/>
                <a:ea typeface="Consolas"/>
                <a:cs typeface="Consolas"/>
              </a:rPr>
              <a:t>代表例：safe-implementer agent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71500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8A8A"/>
                </a:solidFill>
                <a:latin typeface="Yu Gothic UI"/>
                <a:ea typeface="Yu Gothic UI"/>
                <a:cs typeface="Yu Gothic UI"/>
              </a:rPr>
              <a:t>※ MCP（Model Context Protocol）による外部連携は、Phase 2 以降で必要になった段階で接続します。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6446520"/>
            <a:ext cx="11277295" cy="9525"/>
          </a:xfrm>
          <a:prstGeom prst="rect">
            <a:avLst/>
          </a:prstGeom>
          <a:solidFill>
            <a:srgbClr val="CFC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8A8A8A"/>
                </a:solidFill>
                <a:latin typeface="Yu Gothic UI"/>
                <a:ea typeface="Yu Gothic UI"/>
                <a:cs typeface="Yu Gothic UI"/>
              </a:rPr>
              <a:t>Agent Skills × ガバナンス設計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0" y="6537960"/>
            <a:ext cx="1676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8A8A8A"/>
                </a:solidFill>
                <a:latin typeface="Yu Gothic UI"/>
                <a:ea typeface="Yu Gothic UI"/>
                <a:cs typeface="Yu Gothic UI"/>
              </a:rPr>
              <a:t>11 / 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7315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8B2A5A"/>
                </a:solidFill>
                <a:latin typeface="Yu Gothic UI"/>
                <a:ea typeface="Yu Gothic UI"/>
                <a:cs typeface="Yu Gothic UI"/>
              </a:rPr>
              <a:t>12 / LAYER 3-4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460073"/>
                </a:solidFill>
                <a:latin typeface="Yu Gothic UI"/>
                <a:ea typeface="Yu Gothic UI"/>
                <a:cs typeface="Yu Gothic UI"/>
              </a:rPr>
              <a:t>実装詳細 Layer 3-4 ― どこで何が止まるか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90472"/>
            <a:ext cx="1371600" cy="31750"/>
          </a:xfrm>
          <a:prstGeom prst="rect">
            <a:avLst/>
          </a:prstGeom>
          <a:solidFill>
            <a:srgbClr val="8B2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011680"/>
            <a:ext cx="2560320" cy="3291840"/>
          </a:xfrm>
          <a:prstGeom prst="roundRect">
            <a:avLst>
              <a:gd name="adj" fmla="val 4000"/>
            </a:avLst>
          </a:prstGeom>
          <a:solidFill>
            <a:srgbClr val="F8E4EE"/>
          </a:solidFill>
          <a:ln w="6350">
            <a:solidFill>
              <a:srgbClr val="E2D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2011680"/>
            <a:ext cx="2560320" cy="594360"/>
          </a:xfrm>
          <a:prstGeom prst="rect">
            <a:avLst/>
          </a:prstGeom>
          <a:solidFill>
            <a:srgbClr val="8B2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011680"/>
            <a:ext cx="256032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Push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78892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>
                <a:solidFill>
                  <a:srgbClr val="8A8A8A"/>
                </a:solidFill>
                <a:latin typeface="Yu Gothic UI"/>
                <a:ea typeface="Yu Gothic UI"/>
                <a:cs typeface="Yu Gothic UI"/>
              </a:rPr>
              <a:t>主な仕組み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063240"/>
            <a:ext cx="219456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200" b="0">
                <a:solidFill>
                  <a:srgbClr val="5A173A"/>
                </a:solidFill>
                <a:latin typeface="Yu Gothic UI"/>
                <a:ea typeface="Yu Gothic UI"/>
                <a:cs typeface="Yu Gothic UI"/>
              </a:rPr>
              <a:t>•  secret scanning</a:t>
            </a:r>
          </a:p>
          <a:p>
            <a:pPr algn="l">
              <a:lnSpc>
                <a:spcPct val="160000"/>
              </a:lnSpc>
            </a:pPr>
            <a:r>
              <a:rPr sz="1200" b="0">
                <a:solidFill>
                  <a:srgbClr val="5A173A"/>
                </a:solidFill>
                <a:latin typeface="Yu Gothic UI"/>
                <a:ea typeface="Yu Gothic UI"/>
                <a:cs typeface="Yu Gothic UI"/>
              </a:rPr>
              <a:t>•  push protection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663440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5A173A"/>
                </a:solidFill>
                <a:latin typeface="Yu Gothic UI"/>
                <a:ea typeface="Yu Gothic UI"/>
                <a:cs typeface="Yu Gothic UI"/>
              </a:rPr>
              <a:t>repo 到達前に止める</a:t>
            </a:r>
          </a:p>
        </p:txBody>
      </p:sp>
      <p:sp>
        <p:nvSpPr>
          <p:cNvPr id="11" name="Right Triangle 10"/>
          <p:cNvSpPr/>
          <p:nvPr/>
        </p:nvSpPr>
        <p:spPr>
          <a:xfrm rot="5400000">
            <a:off x="3145535" y="3529584"/>
            <a:ext cx="201168" cy="256032"/>
          </a:xfrm>
          <a:prstGeom prst="rtTriangle">
            <a:avLst/>
          </a:prstGeom>
          <a:solidFill>
            <a:srgbClr val="5A17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383279" y="2011680"/>
            <a:ext cx="2560320" cy="3291840"/>
          </a:xfrm>
          <a:prstGeom prst="roundRect">
            <a:avLst>
              <a:gd name="adj" fmla="val 4000"/>
            </a:avLst>
          </a:prstGeom>
          <a:solidFill>
            <a:srgbClr val="F8E4EE"/>
          </a:solidFill>
          <a:ln w="6350">
            <a:solidFill>
              <a:srgbClr val="E2D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83279" y="2011680"/>
            <a:ext cx="2560320" cy="594360"/>
          </a:xfrm>
          <a:prstGeom prst="rect">
            <a:avLst/>
          </a:prstGeom>
          <a:solidFill>
            <a:srgbClr val="8B2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83279" y="2011680"/>
            <a:ext cx="256032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PR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11879" y="278892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>
                <a:solidFill>
                  <a:srgbClr val="8A8A8A"/>
                </a:solidFill>
                <a:latin typeface="Yu Gothic UI"/>
                <a:ea typeface="Yu Gothic UI"/>
                <a:cs typeface="Yu Gothic UI"/>
              </a:rPr>
              <a:t>主な仕組み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1879" y="3063240"/>
            <a:ext cx="219456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200" b="0">
                <a:solidFill>
                  <a:srgbClr val="5A173A"/>
                </a:solidFill>
                <a:latin typeface="Yu Gothic UI"/>
                <a:ea typeface="Yu Gothic UI"/>
                <a:cs typeface="Yu Gothic UI"/>
              </a:rPr>
              <a:t>•  CODEOWNERS</a:t>
            </a:r>
          </a:p>
          <a:p>
            <a:pPr algn="l">
              <a:lnSpc>
                <a:spcPct val="160000"/>
              </a:lnSpc>
            </a:pPr>
            <a:r>
              <a:rPr sz="1200" b="0">
                <a:solidFill>
                  <a:srgbClr val="5A173A"/>
                </a:solidFill>
                <a:latin typeface="Yu Gothic UI"/>
                <a:ea typeface="Yu Gothic UI"/>
                <a:cs typeface="Yu Gothic UI"/>
              </a:rPr>
              <a:t>•  required checks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11879" y="4663440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5A173A"/>
                </a:solidFill>
                <a:latin typeface="Yu Gothic UI"/>
                <a:ea typeface="Yu Gothic UI"/>
                <a:cs typeface="Yu Gothic UI"/>
              </a:rPr>
              <a:t>レビューと CI 通過を条件化</a:t>
            </a:r>
          </a:p>
        </p:txBody>
      </p:sp>
      <p:sp>
        <p:nvSpPr>
          <p:cNvPr id="18" name="Right Triangle 17"/>
          <p:cNvSpPr/>
          <p:nvPr/>
        </p:nvSpPr>
        <p:spPr>
          <a:xfrm rot="5400000">
            <a:off x="5980174" y="3529584"/>
            <a:ext cx="201168" cy="256032"/>
          </a:xfrm>
          <a:prstGeom prst="rtTriangle">
            <a:avLst/>
          </a:prstGeom>
          <a:solidFill>
            <a:srgbClr val="5A17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217919" y="2011680"/>
            <a:ext cx="2560320" cy="3291840"/>
          </a:xfrm>
          <a:prstGeom prst="roundRect">
            <a:avLst>
              <a:gd name="adj" fmla="val 4000"/>
            </a:avLst>
          </a:prstGeom>
          <a:solidFill>
            <a:srgbClr val="F8E4EE"/>
          </a:solidFill>
          <a:ln w="6350">
            <a:solidFill>
              <a:srgbClr val="E2D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17919" y="2011680"/>
            <a:ext cx="2560320" cy="594360"/>
          </a:xfrm>
          <a:prstGeom prst="rect">
            <a:avLst/>
          </a:prstGeom>
          <a:solidFill>
            <a:srgbClr val="8B2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17919" y="2011680"/>
            <a:ext cx="256032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Merge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19" y="278892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>
                <a:solidFill>
                  <a:srgbClr val="8A8A8A"/>
                </a:solidFill>
                <a:latin typeface="Yu Gothic UI"/>
                <a:ea typeface="Yu Gothic UI"/>
                <a:cs typeface="Yu Gothic UI"/>
              </a:rPr>
              <a:t>主な仕組み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19" y="3063240"/>
            <a:ext cx="219456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200" b="0">
                <a:solidFill>
                  <a:srgbClr val="5A173A"/>
                </a:solidFill>
                <a:latin typeface="Yu Gothic UI"/>
                <a:ea typeface="Yu Gothic UI"/>
                <a:cs typeface="Yu Gothic UI"/>
              </a:rPr>
              <a:t>•  rulesets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19" y="4663440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5A173A"/>
                </a:solidFill>
                <a:latin typeface="Yu Gothic UI"/>
                <a:ea typeface="Yu Gothic UI"/>
                <a:cs typeface="Yu Gothic UI"/>
              </a:rPr>
              <a:t>merge 条件を固定</a:t>
            </a:r>
          </a:p>
        </p:txBody>
      </p:sp>
      <p:sp>
        <p:nvSpPr>
          <p:cNvPr id="25" name="Right Triangle 24"/>
          <p:cNvSpPr/>
          <p:nvPr/>
        </p:nvSpPr>
        <p:spPr>
          <a:xfrm rot="5400000">
            <a:off x="8814814" y="3529584"/>
            <a:ext cx="201168" cy="256032"/>
          </a:xfrm>
          <a:prstGeom prst="rtTriangle">
            <a:avLst/>
          </a:prstGeom>
          <a:solidFill>
            <a:srgbClr val="5A17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052559" y="2011680"/>
            <a:ext cx="2560320" cy="3291840"/>
          </a:xfrm>
          <a:prstGeom prst="roundRect">
            <a:avLst>
              <a:gd name="adj" fmla="val 4000"/>
            </a:avLst>
          </a:prstGeom>
          <a:solidFill>
            <a:srgbClr val="FDEFDC"/>
          </a:solidFill>
          <a:ln w="6350">
            <a:solidFill>
              <a:srgbClr val="E2D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52559" y="2011680"/>
            <a:ext cx="2560320" cy="594360"/>
          </a:xfrm>
          <a:prstGeom prst="rect">
            <a:avLst/>
          </a:prstGeom>
          <a:solidFill>
            <a:srgbClr val="E07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52559" y="2011680"/>
            <a:ext cx="256032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Deploy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81159" y="278892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>
                <a:solidFill>
                  <a:srgbClr val="8A8A8A"/>
                </a:solidFill>
                <a:latin typeface="Yu Gothic UI"/>
                <a:ea typeface="Yu Gothic UI"/>
                <a:cs typeface="Yu Gothic UI"/>
              </a:rPr>
              <a:t>主な仕組み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81159" y="3063240"/>
            <a:ext cx="219456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200" b="0">
                <a:solidFill>
                  <a:srgbClr val="E07B1F"/>
                </a:solidFill>
                <a:latin typeface="Yu Gothic UI"/>
                <a:ea typeface="Yu Gothic UI"/>
                <a:cs typeface="Yu Gothic UI"/>
              </a:rPr>
              <a:t>•  environments</a:t>
            </a:r>
          </a:p>
          <a:p>
            <a:pPr algn="l">
              <a:lnSpc>
                <a:spcPct val="160000"/>
              </a:lnSpc>
            </a:pPr>
            <a:r>
              <a:rPr sz="1200" b="0">
                <a:solidFill>
                  <a:srgbClr val="E07B1F"/>
                </a:solidFill>
                <a:latin typeface="Yu Gothic UI"/>
                <a:ea typeface="Yu Gothic UI"/>
                <a:cs typeface="Yu Gothic UI"/>
              </a:rPr>
              <a:t>•  required reviewers</a:t>
            </a:r>
          </a:p>
          <a:p>
            <a:pPr algn="l">
              <a:lnSpc>
                <a:spcPct val="160000"/>
              </a:lnSpc>
            </a:pPr>
            <a:r>
              <a:rPr sz="1200" b="0">
                <a:solidFill>
                  <a:srgbClr val="E07B1F"/>
                </a:solidFill>
                <a:latin typeface="Yu Gothic UI"/>
                <a:ea typeface="Yu Gothic UI"/>
                <a:cs typeface="Yu Gothic UI"/>
              </a:rPr>
              <a:t>•  environment secrets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81159" y="4663440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E07B1F"/>
                </a:solidFill>
                <a:latin typeface="Yu Gothic UI"/>
                <a:ea typeface="Yu Gothic UI"/>
                <a:cs typeface="Yu Gothic UI"/>
              </a:rPr>
              <a:t>人の承認なしには進まない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6446520"/>
            <a:ext cx="11277295" cy="9525"/>
          </a:xfrm>
          <a:prstGeom prst="rect">
            <a:avLst/>
          </a:prstGeom>
          <a:solidFill>
            <a:srgbClr val="CFC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8A8A8A"/>
                </a:solidFill>
                <a:latin typeface="Yu Gothic UI"/>
                <a:ea typeface="Yu Gothic UI"/>
                <a:cs typeface="Yu Gothic UI"/>
              </a:rPr>
              <a:t>Agent Skills × ガバナンス設計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58400" y="6537960"/>
            <a:ext cx="1676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8A8A8A"/>
                </a:solidFill>
                <a:latin typeface="Yu Gothic UI"/>
                <a:ea typeface="Yu Gothic UI"/>
                <a:cs typeface="Yu Gothic UI"/>
              </a:rPr>
              <a:t>12 / 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7315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A100FF"/>
                </a:solidFill>
                <a:latin typeface="Yu Gothic UI"/>
                <a:ea typeface="Yu Gothic UI"/>
                <a:cs typeface="Yu Gothic UI"/>
              </a:rPr>
              <a:t>13 / REPOSITORY STRUCTURE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460073"/>
                </a:solidFill>
                <a:latin typeface="Yu Gothic UI"/>
                <a:ea typeface="Yu Gothic UI"/>
                <a:cs typeface="Yu Gothic UI"/>
              </a:rPr>
              <a:t>制御を repo のどこに置くか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90472"/>
            <a:ext cx="1371600" cy="3175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26567" y="1828800"/>
            <a:ext cx="3657600" cy="1783080"/>
          </a:xfrm>
          <a:prstGeom prst="roundRect">
            <a:avLst>
              <a:gd name="adj" fmla="val 4000"/>
            </a:avLst>
          </a:prstGeom>
          <a:solidFill>
            <a:srgbClr val="F7F3FB"/>
          </a:solidFill>
          <a:ln w="6350">
            <a:solidFill>
              <a:srgbClr val="E2D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6567" y="1828800"/>
            <a:ext cx="50800" cy="1783080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5167" y="1965960"/>
            <a:ext cx="3337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policy/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5167" y="2377440"/>
            <a:ext cx="3337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8A8A8A"/>
                </a:solidFill>
                <a:latin typeface="Yu Gothic UI"/>
                <a:ea typeface="Yu Gothic UI"/>
                <a:cs typeface="Yu Gothic UI"/>
              </a:rPr>
              <a:t>ルールの正本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5167" y="2788920"/>
            <a:ext cx="33375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333333"/>
                </a:solidFill>
                <a:latin typeface="Yu Gothic UI"/>
                <a:ea typeface="Yu Gothic UI"/>
                <a:cs typeface="Yu Gothic UI"/>
              </a:rPr>
              <a:t>redlines / change-classes / review-matrix をツール非依存で置く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67047" y="1828800"/>
            <a:ext cx="3657600" cy="1783080"/>
          </a:xfrm>
          <a:prstGeom prst="roundRect">
            <a:avLst>
              <a:gd name="adj" fmla="val 4000"/>
            </a:avLst>
          </a:prstGeom>
          <a:solidFill>
            <a:srgbClr val="E9D8FA"/>
          </a:solidFill>
          <a:ln w="6350">
            <a:solidFill>
              <a:srgbClr val="E2D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67047" y="1828800"/>
            <a:ext cx="50800" cy="178308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95647" y="1965960"/>
            <a:ext cx="3337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460073"/>
                </a:solidFill>
                <a:latin typeface="Consolas"/>
                <a:ea typeface="Consolas"/>
                <a:cs typeface="Consolas"/>
              </a:rPr>
              <a:t>.github/skills/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5647" y="2377440"/>
            <a:ext cx="3337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A100FF"/>
                </a:solidFill>
                <a:latin typeface="Yu Gothic UI"/>
                <a:ea typeface="Yu Gothic UI"/>
                <a:cs typeface="Yu Gothic UI"/>
              </a:rPr>
              <a:t>開発手順の標準化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95647" y="2788920"/>
            <a:ext cx="33375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333333"/>
                </a:solidFill>
                <a:latin typeface="Yu Gothic UI"/>
                <a:ea typeface="Yu Gothic UI"/>
                <a:cs typeface="Yu Gothic UI"/>
              </a:rPr>
              <a:t>Agent Skills（手順・テンプレート・補助資材）を束ねる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07527" y="1828800"/>
            <a:ext cx="3657600" cy="1783080"/>
          </a:xfrm>
          <a:prstGeom prst="roundRect">
            <a:avLst>
              <a:gd name="adj" fmla="val 4000"/>
            </a:avLst>
          </a:prstGeom>
          <a:solidFill>
            <a:srgbClr val="E9D8FA"/>
          </a:solidFill>
          <a:ln w="6350">
            <a:solidFill>
              <a:srgbClr val="E2D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07527" y="1828800"/>
            <a:ext cx="50800" cy="178308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6127" y="1965960"/>
            <a:ext cx="3337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460073"/>
                </a:solidFill>
                <a:latin typeface="Consolas"/>
                <a:ea typeface="Consolas"/>
                <a:cs typeface="Consolas"/>
              </a:rPr>
              <a:t>.github/agents/  &amp;  workflows/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36127" y="2377440"/>
            <a:ext cx="3337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A100FF"/>
                </a:solidFill>
                <a:latin typeface="Yu Gothic UI"/>
                <a:ea typeface="Yu Gothic UI"/>
                <a:cs typeface="Yu Gothic UI"/>
              </a:rPr>
              <a:t>AI 挙動と CI 制御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36127" y="2788920"/>
            <a:ext cx="33375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333333"/>
                </a:solidFill>
                <a:latin typeface="Yu Gothic UI"/>
                <a:ea typeface="Yu Gothic UI"/>
                <a:cs typeface="Yu Gothic UI"/>
              </a:rPr>
              <a:t>custom agent 定義、ci.yml / policy-check.yml / deploy.yml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432407" y="3794760"/>
            <a:ext cx="4572000" cy="1783080"/>
          </a:xfrm>
          <a:prstGeom prst="roundRect">
            <a:avLst>
              <a:gd name="adj" fmla="val 4000"/>
            </a:avLst>
          </a:prstGeom>
          <a:solidFill>
            <a:srgbClr val="F8E4EE"/>
          </a:solidFill>
          <a:ln w="6350">
            <a:solidFill>
              <a:srgbClr val="E2D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432407" y="3794760"/>
            <a:ext cx="50800" cy="1783080"/>
          </a:xfrm>
          <a:prstGeom prst="rect">
            <a:avLst/>
          </a:prstGeom>
          <a:solidFill>
            <a:srgbClr val="8B2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661007" y="3931920"/>
            <a:ext cx="4251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5A173A"/>
                </a:solidFill>
                <a:latin typeface="Consolas"/>
                <a:ea typeface="Consolas"/>
                <a:cs typeface="Consolas"/>
              </a:rPr>
              <a:t>scripts/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61007" y="4343400"/>
            <a:ext cx="4251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8B2A5A"/>
                </a:solidFill>
                <a:latin typeface="Yu Gothic UI"/>
                <a:ea typeface="Yu Gothic UI"/>
                <a:cs typeface="Yu Gothic UI"/>
              </a:rPr>
              <a:t>補助チェック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61007" y="4754880"/>
            <a:ext cx="42519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333333"/>
                </a:solidFill>
                <a:latin typeface="Yu Gothic UI"/>
                <a:ea typeface="Yu Gothic UI"/>
                <a:cs typeface="Yu Gothic UI"/>
              </a:rPr>
              <a:t>classify_diff / check_protected_paths / scan_secrets など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87287" y="3794760"/>
            <a:ext cx="4572000" cy="1783080"/>
          </a:xfrm>
          <a:prstGeom prst="roundRect">
            <a:avLst>
              <a:gd name="adj" fmla="val 4000"/>
            </a:avLst>
          </a:prstGeom>
          <a:solidFill>
            <a:srgbClr val="F7F3FB"/>
          </a:solidFill>
          <a:ln w="6350">
            <a:solidFill>
              <a:srgbClr val="E2D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87287" y="3794760"/>
            <a:ext cx="50800" cy="1783080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15887" y="3931920"/>
            <a:ext cx="4251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specs/  &amp;  src/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15887" y="4343400"/>
            <a:ext cx="4251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8A8A8A"/>
                </a:solidFill>
                <a:latin typeface="Yu Gothic UI"/>
                <a:ea typeface="Yu Gothic UI"/>
                <a:cs typeface="Yu Gothic UI"/>
              </a:rPr>
              <a:t>入力と実装対象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15887" y="4754880"/>
            <a:ext cx="42519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333333"/>
                </a:solidFill>
                <a:latin typeface="Yu Gothic UI"/>
                <a:ea typeface="Yu Gothic UI"/>
                <a:cs typeface="Yu Gothic UI"/>
              </a:rPr>
              <a:t>仕様駆動開発の起点と、アプリケーション本体コード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585216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8A8A"/>
                </a:solidFill>
                <a:latin typeface="Yu Gothic UI"/>
                <a:ea typeface="Yu Gothic UI"/>
                <a:cs typeface="Yu Gothic UI"/>
              </a:rPr>
              <a:t>※ 各ディレクトリの詳細は Appendix（最終スライド）の full tree を参照。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6446520"/>
            <a:ext cx="11277295" cy="9525"/>
          </a:xfrm>
          <a:prstGeom prst="rect">
            <a:avLst/>
          </a:prstGeom>
          <a:solidFill>
            <a:srgbClr val="CFC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8A8A8A"/>
                </a:solidFill>
                <a:latin typeface="Yu Gothic UI"/>
                <a:ea typeface="Yu Gothic UI"/>
                <a:cs typeface="Yu Gothic UI"/>
              </a:rPr>
              <a:t>Agent Skills × ガバナンス設計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58400" y="6537960"/>
            <a:ext cx="1676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8A8A8A"/>
                </a:solidFill>
                <a:latin typeface="Yu Gothic UI"/>
                <a:ea typeface="Yu Gothic UI"/>
                <a:cs typeface="Yu Gothic UI"/>
              </a:rPr>
              <a:t>13 / 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7315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A100FF"/>
                </a:solidFill>
                <a:latin typeface="Yu Gothic UI"/>
                <a:ea typeface="Yu Gothic UI"/>
                <a:cs typeface="Yu Gothic UI"/>
              </a:rPr>
              <a:t>14 / POC TIMELINE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460073"/>
                </a:solidFill>
                <a:latin typeface="Yu Gothic UI"/>
                <a:ea typeface="Yu Gothic UI"/>
                <a:cs typeface="Yu Gothic UI"/>
              </a:rPr>
              <a:t>PoC / デモ ― 7 ステップの動線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90472"/>
            <a:ext cx="1371600" cy="3175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965960"/>
            <a:ext cx="1502228" cy="3657600"/>
          </a:xfrm>
          <a:prstGeom prst="roundRect">
            <a:avLst>
              <a:gd name="adj" fmla="val 4000"/>
            </a:avLst>
          </a:prstGeom>
          <a:solidFill>
            <a:srgbClr val="E9D8FA"/>
          </a:solidFill>
          <a:ln w="6350">
            <a:solidFill>
              <a:srgbClr val="E2D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148840"/>
            <a:ext cx="150222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200" b="1">
                <a:solidFill>
                  <a:srgbClr val="A100FF"/>
                </a:solidFill>
                <a:latin typeface="Yu Gothic UI"/>
                <a:ea typeface="Yu Gothic UI"/>
                <a:cs typeface="Yu Gothic U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971800"/>
            <a:ext cx="15022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>
                <a:solidFill>
                  <a:srgbClr val="460073"/>
                </a:solidFill>
                <a:latin typeface="Yu Gothic UI"/>
                <a:ea typeface="Yu Gothic UI"/>
                <a:cs typeface="Yu Gothic UI"/>
              </a:rPr>
              <a:t>Spec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474720"/>
            <a:ext cx="953588" cy="1905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3657600"/>
            <a:ext cx="1227908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100" b="0">
                <a:solidFill>
                  <a:srgbClr val="1A1A1A"/>
                </a:solidFill>
                <a:latin typeface="Yu Gothic UI"/>
                <a:ea typeface="Yu Gothic UI"/>
                <a:cs typeface="Yu Gothic UI"/>
              </a:rPr>
              <a:t>仕様書を起点にする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42308" y="1965960"/>
            <a:ext cx="1502228" cy="3657600"/>
          </a:xfrm>
          <a:prstGeom prst="roundRect">
            <a:avLst>
              <a:gd name="adj" fmla="val 4000"/>
            </a:avLst>
          </a:prstGeom>
          <a:solidFill>
            <a:srgbClr val="E9D8FA"/>
          </a:solidFill>
          <a:ln w="6350">
            <a:solidFill>
              <a:srgbClr val="E2D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42308" y="2148840"/>
            <a:ext cx="150222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200" b="1">
                <a:solidFill>
                  <a:srgbClr val="A100FF"/>
                </a:solidFill>
                <a:latin typeface="Yu Gothic UI"/>
                <a:ea typeface="Yu Gothic UI"/>
                <a:cs typeface="Yu Gothic U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42308" y="2971800"/>
            <a:ext cx="15022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>
                <a:solidFill>
                  <a:srgbClr val="460073"/>
                </a:solidFill>
                <a:latin typeface="Yu Gothic UI"/>
                <a:ea typeface="Yu Gothic UI"/>
                <a:cs typeface="Yu Gothic UI"/>
              </a:rPr>
              <a:t>Skill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416628" y="3474720"/>
            <a:ext cx="953588" cy="1905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79468" y="3657600"/>
            <a:ext cx="1227908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100" b="0">
                <a:solidFill>
                  <a:srgbClr val="1A1A1A"/>
                </a:solidFill>
                <a:latin typeface="Yu Gothic UI"/>
                <a:ea typeface="Yu Gothic UI"/>
                <a:cs typeface="Yu Gothic UI"/>
              </a:rPr>
              <a:t>計画・テスト・PR を標準化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735977" y="1965960"/>
            <a:ext cx="1502228" cy="3657600"/>
          </a:xfrm>
          <a:prstGeom prst="roundRect">
            <a:avLst>
              <a:gd name="adj" fmla="val 4000"/>
            </a:avLst>
          </a:prstGeom>
          <a:solidFill>
            <a:srgbClr val="E9D8FA"/>
          </a:solidFill>
          <a:ln w="6350">
            <a:solidFill>
              <a:srgbClr val="E2D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35977" y="2148840"/>
            <a:ext cx="150222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200" b="1">
                <a:solidFill>
                  <a:srgbClr val="A100FF"/>
                </a:solidFill>
                <a:latin typeface="Yu Gothic UI"/>
                <a:ea typeface="Yu Gothic UI"/>
                <a:cs typeface="Yu Gothic U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35977" y="2971800"/>
            <a:ext cx="15022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>
                <a:solidFill>
                  <a:srgbClr val="460073"/>
                </a:solidFill>
                <a:latin typeface="Yu Gothic UI"/>
                <a:ea typeface="Yu Gothic UI"/>
                <a:cs typeface="Yu Gothic UI"/>
              </a:rPr>
              <a:t>Agent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10297" y="3474720"/>
            <a:ext cx="953588" cy="1905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873137" y="3657600"/>
            <a:ext cx="1227908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100" b="0">
                <a:solidFill>
                  <a:srgbClr val="1A1A1A"/>
                </a:solidFill>
                <a:latin typeface="Yu Gothic UI"/>
                <a:ea typeface="Yu Gothic UI"/>
                <a:cs typeface="Yu Gothic UI"/>
              </a:rPr>
              <a:t>通常変更を safe-implementer が実施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329645" y="1965960"/>
            <a:ext cx="1502228" cy="3657600"/>
          </a:xfrm>
          <a:prstGeom prst="roundRect">
            <a:avLst>
              <a:gd name="adj" fmla="val 4000"/>
            </a:avLst>
          </a:prstGeom>
          <a:solidFill>
            <a:srgbClr val="E9D8FA"/>
          </a:solidFill>
          <a:ln w="6350">
            <a:solidFill>
              <a:srgbClr val="E2D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29645" y="2148840"/>
            <a:ext cx="150222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200" b="1">
                <a:solidFill>
                  <a:srgbClr val="A100FF"/>
                </a:solidFill>
                <a:latin typeface="Yu Gothic UI"/>
                <a:ea typeface="Yu Gothic UI"/>
                <a:cs typeface="Yu Gothic U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29645" y="2971800"/>
            <a:ext cx="15022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>
                <a:solidFill>
                  <a:srgbClr val="460073"/>
                </a:solidFill>
                <a:latin typeface="Yu Gothic UI"/>
                <a:ea typeface="Yu Gothic UI"/>
                <a:cs typeface="Yu Gothic UI"/>
              </a:rPr>
              <a:t>PR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03965" y="3474720"/>
            <a:ext cx="953588" cy="1905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66805" y="3657600"/>
            <a:ext cx="1227908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100" b="0">
                <a:solidFill>
                  <a:srgbClr val="1A1A1A"/>
                </a:solidFill>
                <a:latin typeface="Yu Gothic UI"/>
                <a:ea typeface="Yu Gothic UI"/>
                <a:cs typeface="Yu Gothic UI"/>
              </a:rPr>
              <a:t>確認観点を整形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23314" y="1965960"/>
            <a:ext cx="1502228" cy="3657600"/>
          </a:xfrm>
          <a:prstGeom prst="roundRect">
            <a:avLst>
              <a:gd name="adj" fmla="val 4000"/>
            </a:avLst>
          </a:prstGeom>
          <a:solidFill>
            <a:srgbClr val="F8E4EE"/>
          </a:solidFill>
          <a:ln w="6350">
            <a:solidFill>
              <a:srgbClr val="E2D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23314" y="2148840"/>
            <a:ext cx="150222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200" b="1">
                <a:solidFill>
                  <a:srgbClr val="8B2A5A"/>
                </a:solidFill>
                <a:latin typeface="Yu Gothic UI"/>
                <a:ea typeface="Yu Gothic UI"/>
                <a:cs typeface="Yu Gothic UI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23314" y="2971800"/>
            <a:ext cx="15022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>
                <a:solidFill>
                  <a:srgbClr val="5A173A"/>
                </a:solidFill>
                <a:latin typeface="Yu Gothic UI"/>
                <a:ea typeface="Yu Gothic UI"/>
                <a:cs typeface="Yu Gothic UI"/>
              </a:rPr>
              <a:t>Push Block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197634" y="3474720"/>
            <a:ext cx="953588" cy="19050"/>
          </a:xfrm>
          <a:prstGeom prst="rect">
            <a:avLst/>
          </a:prstGeom>
          <a:solidFill>
            <a:srgbClr val="8B2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60474" y="3657600"/>
            <a:ext cx="1227908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100" b="0">
                <a:solidFill>
                  <a:srgbClr val="1A1A1A"/>
                </a:solidFill>
                <a:latin typeface="Yu Gothic UI"/>
                <a:ea typeface="Yu Gothic UI"/>
                <a:cs typeface="Yu Gothic UI"/>
              </a:rPr>
              <a:t>secret は repo 到達前に止める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516982" y="1965960"/>
            <a:ext cx="1502228" cy="3657600"/>
          </a:xfrm>
          <a:prstGeom prst="roundRect">
            <a:avLst>
              <a:gd name="adj" fmla="val 4000"/>
            </a:avLst>
          </a:prstGeom>
          <a:solidFill>
            <a:srgbClr val="F8E4EE"/>
          </a:solidFill>
          <a:ln w="6350">
            <a:solidFill>
              <a:srgbClr val="E2D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16982" y="2148840"/>
            <a:ext cx="150222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200" b="1">
                <a:solidFill>
                  <a:srgbClr val="8B2A5A"/>
                </a:solidFill>
                <a:latin typeface="Yu Gothic UI"/>
                <a:ea typeface="Yu Gothic UI"/>
                <a:cs typeface="Yu Gothic UI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16982" y="2971800"/>
            <a:ext cx="15022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>
                <a:solidFill>
                  <a:srgbClr val="5A173A"/>
                </a:solidFill>
                <a:latin typeface="Yu Gothic UI"/>
                <a:ea typeface="Yu Gothic UI"/>
                <a:cs typeface="Yu Gothic UI"/>
              </a:rPr>
              <a:t>Review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791302" y="3474720"/>
            <a:ext cx="953588" cy="19050"/>
          </a:xfrm>
          <a:prstGeom prst="rect">
            <a:avLst/>
          </a:prstGeom>
          <a:solidFill>
            <a:srgbClr val="8B2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54142" y="3657600"/>
            <a:ext cx="1227908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100" b="0">
                <a:solidFill>
                  <a:srgbClr val="1A1A1A"/>
                </a:solidFill>
                <a:latin typeface="Yu Gothic UI"/>
                <a:ea typeface="Yu Gothic UI"/>
                <a:cs typeface="Yu Gothic UI"/>
              </a:rPr>
              <a:t>重要変更は承認必須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110651" y="1965960"/>
            <a:ext cx="1502228" cy="3657600"/>
          </a:xfrm>
          <a:prstGeom prst="roundRect">
            <a:avLst>
              <a:gd name="adj" fmla="val 4000"/>
            </a:avLst>
          </a:prstGeom>
          <a:solidFill>
            <a:srgbClr val="FDEFDC"/>
          </a:solidFill>
          <a:ln w="6350">
            <a:solidFill>
              <a:srgbClr val="E2D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110651" y="2148840"/>
            <a:ext cx="150222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200" b="1">
                <a:solidFill>
                  <a:srgbClr val="E07B1F"/>
                </a:solidFill>
                <a:latin typeface="Yu Gothic UI"/>
                <a:ea typeface="Yu Gothic UI"/>
                <a:cs typeface="Yu Gothic UI"/>
              </a:rPr>
              <a:t>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10651" y="2971800"/>
            <a:ext cx="15022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>
                <a:solidFill>
                  <a:srgbClr val="E07B1F"/>
                </a:solidFill>
                <a:latin typeface="Yu Gothic UI"/>
                <a:ea typeface="Yu Gothic UI"/>
                <a:cs typeface="Yu Gothic UI"/>
              </a:rPr>
              <a:t>Deploy Approval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384971" y="3474720"/>
            <a:ext cx="953588" cy="19050"/>
          </a:xfrm>
          <a:prstGeom prst="rect">
            <a:avLst/>
          </a:prstGeom>
          <a:solidFill>
            <a:srgbClr val="E07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247811" y="3657600"/>
            <a:ext cx="1227908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100" b="0">
                <a:solidFill>
                  <a:srgbClr val="1A1A1A"/>
                </a:solidFill>
                <a:latin typeface="Yu Gothic UI"/>
                <a:ea typeface="Yu Gothic UI"/>
                <a:cs typeface="Yu Gothic UI"/>
              </a:rPr>
              <a:t>本番は reviewer 承認必須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40" y="5943600"/>
            <a:ext cx="73152" cy="36576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77240" y="5943600"/>
            <a:ext cx="108813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>
                <a:solidFill>
                  <a:srgbClr val="460073"/>
                </a:solidFill>
                <a:latin typeface="Yu Gothic UI"/>
                <a:ea typeface="Yu Gothic UI"/>
                <a:cs typeface="Yu Gothic UI"/>
              </a:rPr>
              <a:t>KEY ― 見せ場は「書ける」ではなく、「標準化できる」「止まる」「承認境界がある」。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6446520"/>
            <a:ext cx="11277295" cy="9525"/>
          </a:xfrm>
          <a:prstGeom prst="rect">
            <a:avLst/>
          </a:prstGeom>
          <a:solidFill>
            <a:srgbClr val="CFC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8A8A8A"/>
                </a:solidFill>
                <a:latin typeface="Yu Gothic UI"/>
                <a:ea typeface="Yu Gothic UI"/>
                <a:cs typeface="Yu Gothic UI"/>
              </a:rPr>
              <a:t>Agent Skills × ガバナンス設計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8400" y="6537960"/>
            <a:ext cx="1676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8A8A8A"/>
                </a:solidFill>
                <a:latin typeface="Yu Gothic UI"/>
                <a:ea typeface="Yu Gothic UI"/>
                <a:cs typeface="Yu Gothic UI"/>
              </a:rPr>
              <a:t>14 / 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7315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A100FF"/>
                </a:solidFill>
                <a:latin typeface="Yu Gothic UI"/>
                <a:ea typeface="Yu Gothic UI"/>
                <a:cs typeface="Yu Gothic UI"/>
              </a:rPr>
              <a:t>15 / HYPOTHESIS &amp; CRITERIA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460073"/>
                </a:solidFill>
                <a:latin typeface="Yu Gothic UI"/>
                <a:ea typeface="Yu Gothic UI"/>
                <a:cs typeface="Yu Gothic UI"/>
              </a:rPr>
              <a:t>検証仮説と成功基準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90472"/>
            <a:ext cx="1371600" cy="3175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11064240" cy="1737360"/>
          </a:xfrm>
          <a:prstGeom prst="roundRect">
            <a:avLst>
              <a:gd name="adj" fmla="val 4000"/>
            </a:avLst>
          </a:prstGeom>
          <a:solidFill>
            <a:srgbClr val="E9D8FA"/>
          </a:solidFill>
          <a:ln w="6350">
            <a:solidFill>
              <a:srgbClr val="E2D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828800"/>
            <a:ext cx="50800" cy="173736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96596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A100FF"/>
                </a:solidFill>
                <a:latin typeface="Yu Gothic UI"/>
                <a:ea typeface="Yu Gothic UI"/>
                <a:cs typeface="Yu Gothic UI"/>
              </a:rPr>
              <a:t>検証仮説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33172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A100FF"/>
                </a:solidFill>
                <a:latin typeface="Yu Gothic UI"/>
                <a:ea typeface="Yu Gothic UI"/>
                <a:cs typeface="Yu Gothic UI"/>
              </a:rPr>
              <a:t>H1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2377440"/>
            <a:ext cx="30175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>
                <a:solidFill>
                  <a:srgbClr val="1A1A1A"/>
                </a:solidFill>
                <a:latin typeface="Yu Gothic UI"/>
                <a:ea typeface="Yu Gothic UI"/>
                <a:cs typeface="Yu Gothic UI"/>
              </a:rPr>
              <a:t>Skill により、計画・テスト・PR の起票が早くなる。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233172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A100FF"/>
                </a:solidFill>
                <a:latin typeface="Yu Gothic UI"/>
                <a:ea typeface="Yu Gothic UI"/>
                <a:cs typeface="Yu Gothic UI"/>
              </a:rPr>
              <a:t>H2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2377440"/>
            <a:ext cx="30175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>
                <a:solidFill>
                  <a:srgbClr val="1A1A1A"/>
                </a:solidFill>
                <a:latin typeface="Yu Gothic UI"/>
                <a:ea typeface="Yu Gothic UI"/>
                <a:cs typeface="Yu Gothic UI"/>
              </a:rPr>
              <a:t>Block 制御により、危険変更は通らなくなる。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33172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A100FF"/>
                </a:solidFill>
                <a:latin typeface="Yu Gothic UI"/>
                <a:ea typeface="Yu Gothic UI"/>
                <a:cs typeface="Yu Gothic UI"/>
              </a:rPr>
              <a:t>H3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2377440"/>
            <a:ext cx="30175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>
                <a:solidFill>
                  <a:srgbClr val="1A1A1A"/>
                </a:solidFill>
                <a:latin typeface="Yu Gothic UI"/>
                <a:ea typeface="Yu Gothic UI"/>
                <a:cs typeface="Yu Gothic UI"/>
              </a:rPr>
              <a:t>Review の説明コストが下がる。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3832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8B2A5A"/>
                </a:solidFill>
                <a:latin typeface="Yu Gothic UI"/>
                <a:ea typeface="Yu Gothic UI"/>
                <a:cs typeface="Yu Gothic UI"/>
              </a:rPr>
              <a:t>成功基準（例）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703320"/>
            <a:ext cx="2642615" cy="2011680"/>
          </a:xfrm>
          <a:prstGeom prst="roundRect">
            <a:avLst>
              <a:gd name="adj" fmla="val 4000"/>
            </a:avLst>
          </a:prstGeom>
          <a:solidFill>
            <a:srgbClr val="F8E4EE"/>
          </a:solidFill>
          <a:ln w="6350">
            <a:solidFill>
              <a:srgbClr val="E2D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3703320"/>
            <a:ext cx="2642615" cy="457200"/>
          </a:xfrm>
          <a:prstGeom prst="rect">
            <a:avLst/>
          </a:prstGeom>
          <a:solidFill>
            <a:srgbClr val="8B2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3703320"/>
            <a:ext cx="2642615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KPI 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297680"/>
            <a:ext cx="2368296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333333"/>
                </a:solidFill>
                <a:latin typeface="Yu Gothic UI"/>
                <a:ea typeface="Yu Gothic UI"/>
                <a:cs typeface="Yu Gothic UI"/>
              </a:rPr>
              <a:t>実装計画ドラフト作成時間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937760"/>
            <a:ext cx="2368296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>
                <a:solidFill>
                  <a:srgbClr val="5A173A"/>
                </a:solidFill>
                <a:latin typeface="Yu Gothic UI"/>
                <a:ea typeface="Yu Gothic UI"/>
                <a:cs typeface="Yu Gothic UI"/>
              </a:rPr>
              <a:t>30 分 → 10 分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355848" y="3703320"/>
            <a:ext cx="2642615" cy="2011680"/>
          </a:xfrm>
          <a:prstGeom prst="roundRect">
            <a:avLst>
              <a:gd name="adj" fmla="val 4000"/>
            </a:avLst>
          </a:prstGeom>
          <a:solidFill>
            <a:srgbClr val="F8E4EE"/>
          </a:solidFill>
          <a:ln w="6350">
            <a:solidFill>
              <a:srgbClr val="E2D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355848" y="3703320"/>
            <a:ext cx="2642615" cy="457200"/>
          </a:xfrm>
          <a:prstGeom prst="rect">
            <a:avLst/>
          </a:prstGeom>
          <a:solidFill>
            <a:srgbClr val="8B2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55848" y="3703320"/>
            <a:ext cx="2642615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KPI 02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38728" y="4297680"/>
            <a:ext cx="2368296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333333"/>
                </a:solidFill>
                <a:latin typeface="Yu Gothic UI"/>
                <a:ea typeface="Yu Gothic UI"/>
                <a:cs typeface="Yu Gothic UI"/>
              </a:rPr>
              <a:t>PR テンプレート充足率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38728" y="4937760"/>
            <a:ext cx="2368296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>
                <a:solidFill>
                  <a:srgbClr val="5A173A"/>
                </a:solidFill>
                <a:latin typeface="Yu Gothic UI"/>
                <a:ea typeface="Yu Gothic UI"/>
                <a:cs typeface="Yu Gothic UI"/>
              </a:rPr>
              <a:t>80% 以上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63055" y="3703320"/>
            <a:ext cx="2642615" cy="2011680"/>
          </a:xfrm>
          <a:prstGeom prst="roundRect">
            <a:avLst>
              <a:gd name="adj" fmla="val 4000"/>
            </a:avLst>
          </a:prstGeom>
          <a:solidFill>
            <a:srgbClr val="F8E4EE"/>
          </a:solidFill>
          <a:ln w="6350">
            <a:solidFill>
              <a:srgbClr val="E2D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63055" y="3703320"/>
            <a:ext cx="2642615" cy="457200"/>
          </a:xfrm>
          <a:prstGeom prst="rect">
            <a:avLst/>
          </a:prstGeom>
          <a:solidFill>
            <a:srgbClr val="8B2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63055" y="3703320"/>
            <a:ext cx="2642615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KPI 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45935" y="4297680"/>
            <a:ext cx="2368296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333333"/>
                </a:solidFill>
                <a:latin typeface="Yu Gothic UI"/>
                <a:ea typeface="Yu Gothic UI"/>
                <a:cs typeface="Yu Gothic UI"/>
              </a:rPr>
              <a:t>想定 secret 混入シナリオ停止率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45935" y="4937760"/>
            <a:ext cx="2368296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>
                <a:solidFill>
                  <a:srgbClr val="5A173A"/>
                </a:solidFill>
                <a:latin typeface="Yu Gothic UI"/>
                <a:ea typeface="Yu Gothic UI"/>
                <a:cs typeface="Yu Gothic UI"/>
              </a:rPr>
              <a:t>100%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70263" y="3703320"/>
            <a:ext cx="2642615" cy="2011680"/>
          </a:xfrm>
          <a:prstGeom prst="roundRect">
            <a:avLst>
              <a:gd name="adj" fmla="val 4000"/>
            </a:avLst>
          </a:prstGeom>
          <a:solidFill>
            <a:srgbClr val="F8E4EE"/>
          </a:solidFill>
          <a:ln w="6350">
            <a:solidFill>
              <a:srgbClr val="E2D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970263" y="3703320"/>
            <a:ext cx="2642615" cy="457200"/>
          </a:xfrm>
          <a:prstGeom prst="rect">
            <a:avLst/>
          </a:prstGeom>
          <a:solidFill>
            <a:srgbClr val="8B2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970263" y="3703320"/>
            <a:ext cx="2642615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KPI 04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53143" y="4297680"/>
            <a:ext cx="2368296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333333"/>
                </a:solidFill>
                <a:latin typeface="Yu Gothic UI"/>
                <a:ea typeface="Yu Gothic UI"/>
                <a:cs typeface="Yu Gothic UI"/>
              </a:rPr>
              <a:t>重要変更の code owner review 実施率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53143" y="4937760"/>
            <a:ext cx="2368296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>
                <a:solidFill>
                  <a:srgbClr val="5A173A"/>
                </a:solidFill>
                <a:latin typeface="Yu Gothic UI"/>
                <a:ea typeface="Yu Gothic UI"/>
                <a:cs typeface="Yu Gothic UI"/>
              </a:rPr>
              <a:t>100%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6446520"/>
            <a:ext cx="11277295" cy="9525"/>
          </a:xfrm>
          <a:prstGeom prst="rect">
            <a:avLst/>
          </a:prstGeom>
          <a:solidFill>
            <a:srgbClr val="CFC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720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8A8A8A"/>
                </a:solidFill>
                <a:latin typeface="Yu Gothic UI"/>
                <a:ea typeface="Yu Gothic UI"/>
                <a:cs typeface="Yu Gothic UI"/>
              </a:rPr>
              <a:t>Agent Skills × ガバナンス設計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058400" y="6537960"/>
            <a:ext cx="1676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8A8A8A"/>
                </a:solidFill>
                <a:latin typeface="Yu Gothic UI"/>
                <a:ea typeface="Yu Gothic UI"/>
                <a:cs typeface="Yu Gothic UI"/>
              </a:rPr>
              <a:t>15 / 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7315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A100FF"/>
                </a:solidFill>
                <a:latin typeface="Yu Gothic UI"/>
                <a:ea typeface="Yu Gothic UI"/>
                <a:cs typeface="Yu Gothic UI"/>
              </a:rPr>
              <a:t>16 / HARNESS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460073"/>
                </a:solidFill>
                <a:latin typeface="Yu Gothic UI"/>
                <a:ea typeface="Yu Gothic UI"/>
                <a:cs typeface="Yu Gothic UI"/>
              </a:rPr>
              <a:t>最近の Harness Engineering が示すこと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90472"/>
            <a:ext cx="1371600" cy="3175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572768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8A8A"/>
                </a:solidFill>
                <a:latin typeface="Yu Gothic UI"/>
                <a:ea typeface="Yu Gothic UI"/>
                <a:cs typeface="Yu Gothic UI"/>
              </a:rPr>
              <a:t>Copilot 活用は prompt 設計だけでなく、harness 設計の比重が上がっている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28800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333333"/>
                </a:solidFill>
                <a:latin typeface="Yu Gothic UI"/>
                <a:ea typeface="Yu Gothic UI"/>
                <a:cs typeface="Yu Gothic UI"/>
              </a:rPr>
              <a:t>最近の agent 実装では、モデル単体よりも「どう走らせるか・どう文脈を持ち越すか・どう評価するか」という harness 設計の重要性が高まっています。Anthropic は長時間エージェントで progress / handoff / structured artifacts の重要性を強調し、OpenAI も repo・CI・sandbox を含む harness を agent-first 開発の基盤として扱っています。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468880"/>
            <a:ext cx="3566160" cy="2788920"/>
          </a:xfrm>
          <a:prstGeom prst="roundRect">
            <a:avLst>
              <a:gd name="adj" fmla="val 4000"/>
            </a:avLst>
          </a:prstGeom>
          <a:solidFill>
            <a:srgbClr val="E9D8FA"/>
          </a:solidFill>
          <a:ln w="6350">
            <a:solidFill>
              <a:srgbClr val="E2D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468880"/>
            <a:ext cx="3566160" cy="384048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468880"/>
            <a:ext cx="31089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ARTIFACTS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468880"/>
            <a:ext cx="32004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44368"/>
            <a:ext cx="3200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>
                <a:solidFill>
                  <a:srgbClr val="460073"/>
                </a:solidFill>
                <a:latin typeface="Yu Gothic UI"/>
                <a:ea typeface="Yu Gothic UI"/>
                <a:cs typeface="Yu Gothic UI"/>
              </a:rPr>
              <a:t>長時間タスクでは artifact 設計が効く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547872"/>
            <a:ext cx="32004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00" b="0">
                <a:solidFill>
                  <a:srgbClr val="333333"/>
                </a:solidFill>
                <a:latin typeface="Yu Gothic UI"/>
                <a:ea typeface="Yu Gothic UI"/>
                <a:cs typeface="Yu Gothic UI"/>
              </a:rPr>
              <a:t>•  progress / handoff / summary の外部化が重要になる。</a:t>
            </a:r>
          </a:p>
          <a:p>
            <a:pPr algn="l">
              <a:lnSpc>
                <a:spcPct val="135000"/>
              </a:lnSpc>
            </a:pPr>
            <a:r>
              <a:rPr sz="900" b="0">
                <a:solidFill>
                  <a:srgbClr val="333333"/>
                </a:solidFill>
                <a:latin typeface="Yu Gothic UI"/>
                <a:ea typeface="Yu Gothic UI"/>
                <a:cs typeface="Yu Gothic UI"/>
              </a:rPr>
              <a:t>•  initializer・structured handoff・incremental progress を重視 [Anthropic]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4590288"/>
            <a:ext cx="3108960" cy="6350"/>
          </a:xfrm>
          <a:prstGeom prst="rect">
            <a:avLst/>
          </a:prstGeom>
          <a:solidFill>
            <a:srgbClr val="CFC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4645152"/>
            <a:ext cx="3200400" cy="6126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A100FF"/>
                </a:solidFill>
                <a:latin typeface="Yu Gothic UI"/>
                <a:ea typeface="Yu Gothic UI"/>
                <a:cs typeface="Yu Gothic UI"/>
              </a:rPr>
              <a:t>→ Hook の handoff、Skill のテンプレート、specs/ や policy/ は、agent の実質的な作業記憶になる。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97679" y="2468880"/>
            <a:ext cx="3566160" cy="2788920"/>
          </a:xfrm>
          <a:prstGeom prst="roundRect">
            <a:avLst>
              <a:gd name="adj" fmla="val 4000"/>
            </a:avLst>
          </a:prstGeom>
          <a:solidFill>
            <a:srgbClr val="E9D8FA"/>
          </a:solidFill>
          <a:ln w="6350">
            <a:solidFill>
              <a:srgbClr val="E2D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97679" y="2468880"/>
            <a:ext cx="3566160" cy="384048"/>
          </a:xfrm>
          <a:prstGeom prst="rect">
            <a:avLst/>
          </a:prstGeom>
          <a:solidFill>
            <a:srgbClr val="460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26279" y="2468880"/>
            <a:ext cx="31089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REPO AS HARNESS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79" y="2468880"/>
            <a:ext cx="32004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26279" y="2944368"/>
            <a:ext cx="3200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>
                <a:solidFill>
                  <a:srgbClr val="460073"/>
                </a:solidFill>
                <a:latin typeface="Yu Gothic UI"/>
                <a:ea typeface="Yu Gothic UI"/>
                <a:cs typeface="Yu Gothic UI"/>
              </a:rPr>
              <a:t>repo は agent の system of record になる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26279" y="3547872"/>
            <a:ext cx="32004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00" b="0">
                <a:solidFill>
                  <a:srgbClr val="333333"/>
                </a:solidFill>
                <a:latin typeface="Yu Gothic UI"/>
                <a:ea typeface="Yu Gothic UI"/>
                <a:cs typeface="Yu Gothic UI"/>
              </a:rPr>
              <a:t>•  OpenAI は repo / CI / AGENTS.md などの scaffold を agent-first 開発の中核に置く [OpenAI]</a:t>
            </a:r>
          </a:p>
          <a:p>
            <a:pPr algn="l">
              <a:lnSpc>
                <a:spcPct val="135000"/>
              </a:lnSpc>
            </a:pPr>
            <a:r>
              <a:rPr sz="900" b="0">
                <a:solidFill>
                  <a:srgbClr val="333333"/>
                </a:solidFill>
                <a:latin typeface="Yu Gothic UI"/>
                <a:ea typeface="Yu Gothic UI"/>
                <a:cs typeface="Yu Gothic UI"/>
              </a:rPr>
              <a:t>•  Anthropic は simple, composable patterns と構造化 context 管理を重視 [Anthropic]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26279" y="4590288"/>
            <a:ext cx="3108960" cy="6350"/>
          </a:xfrm>
          <a:prstGeom prst="rect">
            <a:avLst/>
          </a:prstGeom>
          <a:solidFill>
            <a:srgbClr val="CFC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26279" y="4645152"/>
            <a:ext cx="3200400" cy="6126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460073"/>
                </a:solidFill>
                <a:latin typeface="Yu Gothic UI"/>
                <a:ea typeface="Yu Gothic UI"/>
                <a:cs typeface="Yu Gothic UI"/>
              </a:rPr>
              <a:t>→ policy/、.github/skills/、.github/agents/、workflows/ の分離は Copilot 設定ではなく harness 設計として読むのが妥当。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46719" y="2468880"/>
            <a:ext cx="3566160" cy="2788920"/>
          </a:xfrm>
          <a:prstGeom prst="roundRect">
            <a:avLst>
              <a:gd name="adj" fmla="val 4000"/>
            </a:avLst>
          </a:prstGeom>
          <a:solidFill>
            <a:srgbClr val="F8E4EE"/>
          </a:solidFill>
          <a:ln w="6350">
            <a:solidFill>
              <a:srgbClr val="E2D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046719" y="2468880"/>
            <a:ext cx="3566160" cy="384048"/>
          </a:xfrm>
          <a:prstGeom prst="rect">
            <a:avLst/>
          </a:prstGeom>
          <a:solidFill>
            <a:srgbClr val="8B2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75319" y="2468880"/>
            <a:ext cx="31089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HARNESS EVALS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5319" y="2468880"/>
            <a:ext cx="32004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75319" y="2944368"/>
            <a:ext cx="3200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>
                <a:solidFill>
                  <a:srgbClr val="5A173A"/>
                </a:solidFill>
                <a:latin typeface="Yu Gothic UI"/>
                <a:ea typeface="Yu Gothic UI"/>
                <a:cs typeface="Yu Gothic UI"/>
              </a:rPr>
              <a:t>評価対象は model 単体ではなく harness + model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75319" y="3547872"/>
            <a:ext cx="32004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00" b="0">
                <a:solidFill>
                  <a:srgbClr val="333333"/>
                </a:solidFill>
                <a:latin typeface="Yu Gothic UI"/>
                <a:ea typeface="Yu Gothic UI"/>
                <a:cs typeface="Yu Gothic UI"/>
              </a:rPr>
              <a:t>•  Anthropic は agent eval を agent 全体のふるまいとして整理 [Anthropic]</a:t>
            </a:r>
          </a:p>
          <a:p>
            <a:pPr algn="l">
              <a:lnSpc>
                <a:spcPct val="135000"/>
              </a:lnSpc>
            </a:pPr>
            <a:r>
              <a:rPr sz="900" b="0">
                <a:solidFill>
                  <a:srgbClr val="333333"/>
                </a:solidFill>
                <a:latin typeface="Yu Gothic UI"/>
                <a:ea typeface="Yu Gothic UI"/>
                <a:cs typeface="Yu Gothic UI"/>
              </a:rPr>
              <a:t>•  OpenAI は model-native harness と native sandbox execution を打ち出し [OpenAI]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75319" y="4590288"/>
            <a:ext cx="3108960" cy="6350"/>
          </a:xfrm>
          <a:prstGeom prst="rect">
            <a:avLst/>
          </a:prstGeom>
          <a:solidFill>
            <a:srgbClr val="CFC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75319" y="4645152"/>
            <a:ext cx="3200400" cy="6126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8B2A5A"/>
                </a:solidFill>
                <a:latin typeface="Yu Gothic UI"/>
                <a:ea typeface="Yu Gothic UI"/>
                <a:cs typeface="Yu Gothic UI"/>
              </a:rPr>
              <a:t>→ 前ページの KPI（PR 品質 / secret 停止率 / code owner review 実施率 / 実装計画ドラフト時間）は harness を含む PoC 評価として整合的。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8640" y="5349240"/>
            <a:ext cx="11064240" cy="502920"/>
          </a:xfrm>
          <a:prstGeom prst="roundRect">
            <a:avLst>
              <a:gd name="adj" fmla="val 4000"/>
            </a:avLst>
          </a:prstGeom>
          <a:solidFill>
            <a:srgbClr val="5A173A"/>
          </a:solidFill>
          <a:ln w="6350">
            <a:solidFill>
              <a:srgbClr val="5A17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7240" y="5349240"/>
            <a:ext cx="3931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>
                <a:solidFill>
                  <a:srgbClr val="FDEFDC"/>
                </a:solidFill>
                <a:latin typeface="Yu Gothic UI"/>
                <a:ea typeface="Yu Gothic UI"/>
                <a:cs typeface="Yu Gothic UI"/>
              </a:rPr>
              <a:t>今回の設計は方向として合っているが、次に強化すべき点がある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00600" y="5349240"/>
            <a:ext cx="3200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07B1F"/>
                </a:solidFill>
                <a:latin typeface="Yu Gothic UI"/>
                <a:ea typeface="Yu Gothic UI"/>
                <a:cs typeface="Yu Gothic UI"/>
              </a:rPr>
              <a:t>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120640" y="5349240"/>
            <a:ext cx="1874519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progress / handoff / plan / quality artifacts を正式な設計要素として定義する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86600" y="5349240"/>
            <a:ext cx="3200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07B1F"/>
                </a:solidFill>
                <a:latin typeface="Yu Gothic UI"/>
                <a:ea typeface="Yu Gothic UI"/>
                <a:cs typeface="Yu Gothic UI"/>
              </a:rPr>
              <a:t>02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06640" y="5349240"/>
            <a:ext cx="1874519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planner の次に evaluator / reviewer 的な役割を入れる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72600" y="5349240"/>
            <a:ext cx="3200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07B1F"/>
                </a:solidFill>
                <a:latin typeface="Yu Gothic UI"/>
                <a:ea typeface="Yu Gothic UI"/>
                <a:cs typeface="Yu Gothic UI"/>
              </a:rPr>
              <a:t>03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92640" y="5349240"/>
            <a:ext cx="1874519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モデル更新ごとに harness の前提を見直す [Anthropic]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8640" y="5943600"/>
            <a:ext cx="73152" cy="36576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77240" y="5943600"/>
            <a:ext cx="108813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>
                <a:solidFill>
                  <a:srgbClr val="460073"/>
                </a:solidFill>
                <a:latin typeface="Yu Gothic UI"/>
                <a:ea typeface="Yu Gothic UI"/>
                <a:cs typeface="Yu Gothic UI"/>
              </a:rPr>
              <a:t>KEY ― これからの差は、モデル単体より「どう走らせ、どう記録し、どう評価し、どう劣化を防ぐか」でつく。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" y="6446520"/>
            <a:ext cx="11277295" cy="9525"/>
          </a:xfrm>
          <a:prstGeom prst="rect">
            <a:avLst/>
          </a:prstGeom>
          <a:solidFill>
            <a:srgbClr val="CFC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5720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8A8A8A"/>
                </a:solidFill>
                <a:latin typeface="Yu Gothic UI"/>
                <a:ea typeface="Yu Gothic UI"/>
                <a:cs typeface="Yu Gothic UI"/>
              </a:rPr>
              <a:t>Agent Skills × ガバナンス設計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058400" y="6537960"/>
            <a:ext cx="1676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8A8A8A"/>
                </a:solidFill>
                <a:latin typeface="Yu Gothic UI"/>
                <a:ea typeface="Yu Gothic UI"/>
                <a:cs typeface="Yu Gothic UI"/>
              </a:rPr>
              <a:t>16 / 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7315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A100FF"/>
                </a:solidFill>
                <a:latin typeface="Yu Gothic UI"/>
                <a:ea typeface="Yu Gothic UI"/>
                <a:cs typeface="Yu Gothic UI"/>
              </a:rPr>
              <a:t>17 / CLOSING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460073"/>
                </a:solidFill>
                <a:latin typeface="Yu Gothic UI"/>
                <a:ea typeface="Yu Gothic UI"/>
                <a:cs typeface="Yu Gothic UI"/>
              </a:rPr>
              <a:t>まとめ ― 3 つの持ち帰りと次の打ち手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90472"/>
            <a:ext cx="1371600" cy="3175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783080"/>
            <a:ext cx="11064240" cy="1691640"/>
          </a:xfrm>
          <a:prstGeom prst="roundRect">
            <a:avLst>
              <a:gd name="adj" fmla="val 4000"/>
            </a:avLst>
          </a:prstGeom>
          <a:solidFill>
            <a:srgbClr val="E9D8FA"/>
          </a:solidFill>
          <a:ln w="6350">
            <a:solidFill>
              <a:srgbClr val="E2D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783080"/>
            <a:ext cx="50800" cy="169164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92024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A100FF"/>
                </a:solidFill>
                <a:latin typeface="Yu Gothic UI"/>
                <a:ea typeface="Yu Gothic UI"/>
                <a:cs typeface="Yu Gothic UI"/>
              </a:rPr>
              <a:t>TAKEAWAYS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286000"/>
            <a:ext cx="502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A100FF"/>
                </a:solidFill>
                <a:latin typeface="Yu Gothic UI"/>
                <a:ea typeface="Yu Gothic UI"/>
                <a:cs typeface="Yu Gothic U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2331720"/>
            <a:ext cx="292608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1">
                <a:solidFill>
                  <a:srgbClr val="460073"/>
                </a:solidFill>
                <a:latin typeface="Yu Gothic UI"/>
                <a:ea typeface="Yu Gothic UI"/>
                <a:cs typeface="Yu Gothic UI"/>
              </a:rPr>
              <a:t>標準化は Agent Skills から始める。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2286000"/>
            <a:ext cx="502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A100FF"/>
                </a:solidFill>
                <a:latin typeface="Yu Gothic UI"/>
                <a:ea typeface="Yu Gothic UI"/>
                <a:cs typeface="Yu Gothic U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0600" y="2331720"/>
            <a:ext cx="292608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1">
                <a:solidFill>
                  <a:srgbClr val="460073"/>
                </a:solidFill>
                <a:latin typeface="Yu Gothic UI"/>
                <a:ea typeface="Yu Gothic UI"/>
                <a:cs typeface="Yu Gothic UI"/>
              </a:rPr>
              <a:t>保護境界は GitHub / CI 側に持たせる。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286000"/>
            <a:ext cx="502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A100FF"/>
                </a:solidFill>
                <a:latin typeface="Yu Gothic UI"/>
                <a:ea typeface="Yu Gothic UI"/>
                <a:cs typeface="Yu Gothic UI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5320" y="2331720"/>
            <a:ext cx="292608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1">
                <a:solidFill>
                  <a:srgbClr val="460073"/>
                </a:solidFill>
                <a:latin typeface="Yu Gothic UI"/>
                <a:ea typeface="Yu Gothic UI"/>
                <a:cs typeface="Yu Gothic UI"/>
              </a:rPr>
              <a:t>外部連携や高度化は後から足す。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2918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8B2A5A"/>
                </a:solidFill>
                <a:latin typeface="Yu Gothic UI"/>
                <a:ea typeface="Yu Gothic UI"/>
                <a:cs typeface="Yu Gothic UI"/>
              </a:rPr>
              <a:t>NEXT STEP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611880"/>
            <a:ext cx="356616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8B2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3611880"/>
            <a:ext cx="3566160" cy="457200"/>
          </a:xfrm>
          <a:prstGeom prst="rect">
            <a:avLst/>
          </a:prstGeom>
          <a:solidFill>
            <a:srgbClr val="8B2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3611880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PHASE 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20624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>
                <a:solidFill>
                  <a:srgbClr val="5A173A"/>
                </a:solidFill>
                <a:latin typeface="Yu Gothic UI"/>
                <a:ea typeface="Yu Gothic UI"/>
                <a:cs typeface="Yu Gothic UI"/>
              </a:rPr>
              <a:t>標準化の土台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663440"/>
            <a:ext cx="320040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333333"/>
                </a:solidFill>
                <a:latin typeface="Yu Gothic UI"/>
                <a:ea typeface="Yu Gothic UI"/>
                <a:cs typeface="Yu Gothic UI"/>
              </a:rPr>
              <a:t>•  instructions</a:t>
            </a:r>
          </a:p>
          <a:p>
            <a:pPr algn="l">
              <a:lnSpc>
                <a:spcPct val="150000"/>
              </a:lnSpc>
            </a:pPr>
            <a:r>
              <a:rPr sz="1100" b="0">
                <a:solidFill>
                  <a:srgbClr val="333333"/>
                </a:solidFill>
                <a:latin typeface="Yu Gothic UI"/>
                <a:ea typeface="Yu Gothic UI"/>
                <a:cs typeface="Yu Gothic UI"/>
              </a:rPr>
              <a:t>•  Agent Skills</a:t>
            </a:r>
          </a:p>
          <a:p>
            <a:pPr algn="l">
              <a:lnSpc>
                <a:spcPct val="150000"/>
              </a:lnSpc>
            </a:pPr>
            <a:r>
              <a:rPr sz="1100" b="0">
                <a:solidFill>
                  <a:srgbClr val="333333"/>
                </a:solidFill>
                <a:latin typeface="Yu Gothic UI"/>
                <a:ea typeface="Yu Gothic UI"/>
                <a:cs typeface="Yu Gothic UI"/>
              </a:rPr>
              <a:t>•  基本 CI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97679" y="3611880"/>
            <a:ext cx="356616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D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97679" y="3611880"/>
            <a:ext cx="3566160" cy="457200"/>
          </a:xfrm>
          <a:prstGeom prst="rect">
            <a:avLst/>
          </a:prstGeom>
          <a:solidFill>
            <a:srgbClr val="5A17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97679" y="3611880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PHASE 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6279" y="420624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>
                <a:solidFill>
                  <a:srgbClr val="5A173A"/>
                </a:solidFill>
                <a:latin typeface="Yu Gothic UI"/>
                <a:ea typeface="Yu Gothic UI"/>
                <a:cs typeface="Yu Gothic UI"/>
              </a:rPr>
              <a:t>挙動調整と保護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79" y="4663440"/>
            <a:ext cx="320040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333333"/>
                </a:solidFill>
                <a:latin typeface="Yu Gothic UI"/>
                <a:ea typeface="Yu Gothic UI"/>
                <a:cs typeface="Yu Gothic UI"/>
              </a:rPr>
              <a:t>•  custom agents</a:t>
            </a:r>
          </a:p>
          <a:p>
            <a:pPr algn="l">
              <a:lnSpc>
                <a:spcPct val="150000"/>
              </a:lnSpc>
            </a:pPr>
            <a:r>
              <a:rPr sz="1100" b="0">
                <a:solidFill>
                  <a:srgbClr val="333333"/>
                </a:solidFill>
                <a:latin typeface="Yu Gothic UI"/>
                <a:ea typeface="Yu Gothic UI"/>
                <a:cs typeface="Yu Gothic UI"/>
              </a:rPr>
              <a:t>•  hooks</a:t>
            </a:r>
          </a:p>
          <a:p>
            <a:pPr algn="l">
              <a:lnSpc>
                <a:spcPct val="150000"/>
              </a:lnSpc>
            </a:pPr>
            <a:r>
              <a:rPr sz="1100" b="0">
                <a:solidFill>
                  <a:srgbClr val="333333"/>
                </a:solidFill>
                <a:latin typeface="Yu Gothic UI"/>
                <a:ea typeface="Yu Gothic UI"/>
                <a:cs typeface="Yu Gothic UI"/>
              </a:rPr>
              <a:t>•  policy-check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46719" y="3611880"/>
            <a:ext cx="356616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D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46719" y="3611880"/>
            <a:ext cx="3566160" cy="457200"/>
          </a:xfrm>
          <a:prstGeom prst="rect">
            <a:avLst/>
          </a:prstGeom>
          <a:solidFill>
            <a:srgbClr val="5A17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19" y="3611880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PHASE 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75319" y="420624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>
                <a:solidFill>
                  <a:srgbClr val="5A173A"/>
                </a:solidFill>
                <a:latin typeface="Yu Gothic UI"/>
                <a:ea typeface="Yu Gothic UI"/>
                <a:cs typeface="Yu Gothic UI"/>
              </a:rPr>
              <a:t>連携と監査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19" y="4663440"/>
            <a:ext cx="320040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333333"/>
                </a:solidFill>
                <a:latin typeface="Yu Gothic UI"/>
                <a:ea typeface="Yu Gothic UI"/>
                <a:cs typeface="Yu Gothic UI"/>
              </a:rPr>
              <a:t>•  MCP 連携</a:t>
            </a:r>
          </a:p>
          <a:p>
            <a:pPr algn="l">
              <a:lnSpc>
                <a:spcPct val="150000"/>
              </a:lnSpc>
            </a:pPr>
            <a:r>
              <a:rPr sz="1100" b="0">
                <a:solidFill>
                  <a:srgbClr val="333333"/>
                </a:solidFill>
                <a:latin typeface="Yu Gothic UI"/>
                <a:ea typeface="Yu Gothic UI"/>
                <a:cs typeface="Yu Gothic UI"/>
              </a:rPr>
              <a:t>•  高度承認</a:t>
            </a:r>
          </a:p>
          <a:p>
            <a:pPr algn="l">
              <a:lnSpc>
                <a:spcPct val="150000"/>
              </a:lnSpc>
            </a:pPr>
            <a:r>
              <a:rPr sz="1100" b="0">
                <a:solidFill>
                  <a:srgbClr val="333333"/>
                </a:solidFill>
                <a:latin typeface="Yu Gothic UI"/>
                <a:ea typeface="Yu Gothic UI"/>
                <a:cs typeface="Yu Gothic UI"/>
              </a:rPr>
              <a:t>•  監査・audit 設計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5943600"/>
            <a:ext cx="73152" cy="36576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5943600"/>
            <a:ext cx="108813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>
                <a:solidFill>
                  <a:srgbClr val="460073"/>
                </a:solidFill>
                <a:latin typeface="Yu Gothic UI"/>
                <a:ea typeface="Yu Gothic UI"/>
                <a:cs typeface="Yu Gothic UI"/>
              </a:rPr>
              <a:t>便利さと安全性を同じ仕組みに背負わせず、役割を分けることが導入の前提と考えています。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6446520"/>
            <a:ext cx="11277295" cy="9525"/>
          </a:xfrm>
          <a:prstGeom prst="rect">
            <a:avLst/>
          </a:prstGeom>
          <a:solidFill>
            <a:srgbClr val="CFC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8A8A8A"/>
                </a:solidFill>
                <a:latin typeface="Yu Gothic UI"/>
                <a:ea typeface="Yu Gothic UI"/>
                <a:cs typeface="Yu Gothic UI"/>
              </a:rPr>
              <a:t>Agent Skills × ガバナンス設計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58400" y="6537960"/>
            <a:ext cx="1676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8A8A8A"/>
                </a:solidFill>
                <a:latin typeface="Yu Gothic UI"/>
                <a:ea typeface="Yu Gothic UI"/>
                <a:cs typeface="Yu Gothic UI"/>
              </a:rPr>
              <a:t>17 / 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7315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A100FF"/>
                </a:solidFill>
                <a:latin typeface="Yu Gothic UI"/>
                <a:ea typeface="Yu Gothic UI"/>
                <a:cs typeface="Yu Gothic UI"/>
              </a:rPr>
              <a:t>APPENDIX  /  REPOSITORY TREE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460073"/>
                </a:solidFill>
                <a:latin typeface="Yu Gothic UI"/>
                <a:ea typeface="Yu Gothic UI"/>
                <a:cs typeface="Yu Gothic UI"/>
              </a:rPr>
              <a:t>Repository / 詳細ディレクトリ構成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90472"/>
            <a:ext cx="1371600" cy="3175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691640"/>
            <a:ext cx="11064240" cy="4663440"/>
          </a:xfrm>
          <a:prstGeom prst="roundRect">
            <a:avLst>
              <a:gd name="adj" fmla="val 4000"/>
            </a:avLst>
          </a:prstGeom>
          <a:solidFill>
            <a:srgbClr val="1A1A1A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22960" y="1892808"/>
            <a:ext cx="128016" cy="128016"/>
          </a:xfrm>
          <a:prstGeom prst="ellipse">
            <a:avLst/>
          </a:prstGeom>
          <a:solidFill>
            <a:srgbClr val="FF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1560" y="1892808"/>
            <a:ext cx="128016" cy="128016"/>
          </a:xfrm>
          <a:prstGeom prst="ellipse">
            <a:avLst/>
          </a:prstGeom>
          <a:solidFill>
            <a:srgbClr val="FFB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280160" y="1892808"/>
            <a:ext cx="128016" cy="128016"/>
          </a:xfrm>
          <a:prstGeom prst="ellipse">
            <a:avLst/>
          </a:prstGeom>
          <a:solidFill>
            <a:srgbClr val="5AC8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45920" y="1856232"/>
            <a:ext cx="5486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E9D8FA"/>
                </a:solidFill>
                <a:latin typeface="Consolas"/>
                <a:ea typeface="Consolas"/>
                <a:cs typeface="Consolas"/>
              </a:rPr>
              <a:t>repository tree  /  project-root/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0" y="1856232"/>
            <a:ext cx="42976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8A8A8A"/>
                </a:solidFill>
                <a:latin typeface="Consolas"/>
                <a:ea typeface="Consolas"/>
                <a:cs typeface="Consolas"/>
              </a:rPr>
              <a:t>path    /    # 役割・責務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21992"/>
            <a:ext cx="10424160" cy="3977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800">
                <a:solidFill>
                  <a:srgbClr val="FFFFFF"/>
                </a:solidFill>
                <a:latin typeface="Consolas"/>
                <a:ea typeface="Yu Gothic UI"/>
                <a:cs typeface="Yu Gothic UI"/>
              </a:rPr>
              <a:t>project-root/</a:t>
            </a:r>
          </a:p>
          <a:p>
            <a:pPr>
              <a:lnSpc>
                <a:spcPct val="100000"/>
              </a:lnSpc>
            </a:pPr>
            <a:r>
              <a:rPr sz="800">
                <a:solidFill>
                  <a:srgbClr val="FFFFFF"/>
                </a:solidFill>
                <a:latin typeface="Consolas"/>
                <a:ea typeface="Yu Gothic UI"/>
                <a:cs typeface="Yu Gothic UI"/>
              </a:rPr>
              <a:t>├── policy/                                </a:t>
            </a:r>
            <a:r>
              <a:rPr sz="800">
                <a:solidFill>
                  <a:srgbClr val="E9D8FA"/>
                </a:solidFill>
                <a:latin typeface="Consolas"/>
                <a:ea typeface="Yu Gothic UI"/>
                <a:cs typeface="Yu Gothic UI"/>
              </a:rPr>
              <a:t>  # AI開発運用におけるルール定義の置き場（ツール非依存の正本）</a:t>
            </a:r>
          </a:p>
          <a:p>
            <a:pPr>
              <a:lnSpc>
                <a:spcPct val="100000"/>
              </a:lnSpc>
            </a:pPr>
            <a:r>
              <a:rPr sz="800">
                <a:solidFill>
                  <a:srgbClr val="FFFFFF"/>
                </a:solidFill>
                <a:latin typeface="Consolas"/>
                <a:ea typeface="Yu Gothic UI"/>
                <a:cs typeface="Yu Gothic UI"/>
              </a:rPr>
              <a:t>│   ├── redlines.yaml                      </a:t>
            </a:r>
            <a:r>
              <a:rPr sz="800">
                <a:solidFill>
                  <a:srgbClr val="E9D8FA"/>
                </a:solidFill>
                <a:latin typeface="Consolas"/>
                <a:ea typeface="Yu Gothic UI"/>
                <a:cs typeface="Yu Gothic UI"/>
              </a:rPr>
              <a:t>  # AIが原則触れてはいけない領域・操作を定義する</a:t>
            </a:r>
          </a:p>
          <a:p>
            <a:pPr>
              <a:lnSpc>
                <a:spcPct val="100000"/>
              </a:lnSpc>
            </a:pPr>
            <a:r>
              <a:rPr sz="800">
                <a:solidFill>
                  <a:srgbClr val="FFFFFF"/>
                </a:solidFill>
                <a:latin typeface="Consolas"/>
                <a:ea typeface="Yu Gothic UI"/>
                <a:cs typeface="Yu Gothic UI"/>
              </a:rPr>
              <a:t>│   ├── change-classes.yaml                </a:t>
            </a:r>
            <a:r>
              <a:rPr sz="800">
                <a:solidFill>
                  <a:srgbClr val="E9D8FA"/>
                </a:solidFill>
                <a:latin typeface="Consolas"/>
                <a:ea typeface="Yu Gothic UI"/>
                <a:cs typeface="Yu Gothic UI"/>
              </a:rPr>
              <a:t>  # 変更の重要度分類（通常変更／要注意／要承認など）を定義する</a:t>
            </a:r>
          </a:p>
          <a:p>
            <a:pPr>
              <a:lnSpc>
                <a:spcPct val="100000"/>
              </a:lnSpc>
            </a:pPr>
            <a:r>
              <a:rPr sz="800">
                <a:solidFill>
                  <a:srgbClr val="FFFFFF"/>
                </a:solidFill>
                <a:latin typeface="Consolas"/>
                <a:ea typeface="Yu Gothic UI"/>
                <a:cs typeface="Yu Gothic UI"/>
              </a:rPr>
              <a:t>│   └── review-matrix.yaml                 </a:t>
            </a:r>
            <a:r>
              <a:rPr sz="800">
                <a:solidFill>
                  <a:srgbClr val="E9D8FA"/>
                </a:solidFill>
                <a:latin typeface="Consolas"/>
                <a:ea typeface="Yu Gothic UI"/>
                <a:cs typeface="Yu Gothic UI"/>
              </a:rPr>
              <a:t>  # 変更種別ごとに必要なレビュー者・承認条件を定義する</a:t>
            </a:r>
          </a:p>
          <a:p>
            <a:pPr>
              <a:lnSpc>
                <a:spcPct val="100000"/>
              </a:lnSpc>
            </a:pPr>
            <a:r>
              <a:rPr sz="300">
                <a:solidFill>
                  <a:srgbClr val="8A8A8A"/>
                </a:solidFill>
                <a:latin typeface="Consolas"/>
                <a:ea typeface="Yu Gothic UI"/>
                <a:cs typeface="Yu Gothic UI"/>
              </a:rPr>
              <a:t>│</a:t>
            </a:r>
          </a:p>
          <a:p>
            <a:pPr>
              <a:lnSpc>
                <a:spcPct val="100000"/>
              </a:lnSpc>
            </a:pPr>
            <a:r>
              <a:rPr sz="800">
                <a:solidFill>
                  <a:srgbClr val="FFFFFF"/>
                </a:solidFill>
                <a:latin typeface="Consolas"/>
                <a:ea typeface="Yu Gothic UI"/>
                <a:cs typeface="Yu Gothic UI"/>
              </a:rPr>
              <a:t>├── .github/                               </a:t>
            </a:r>
            <a:r>
              <a:rPr sz="800">
                <a:solidFill>
                  <a:srgbClr val="E9D8FA"/>
                </a:solidFill>
                <a:latin typeface="Consolas"/>
                <a:ea typeface="Yu Gothic UI"/>
                <a:cs typeface="Yu Gothic UI"/>
              </a:rPr>
              <a:t>  # GitHub / Copilot / CI / CD に関する設定を集約する</a:t>
            </a:r>
          </a:p>
          <a:p>
            <a:pPr>
              <a:lnSpc>
                <a:spcPct val="100000"/>
              </a:lnSpc>
            </a:pPr>
            <a:r>
              <a:rPr sz="800">
                <a:solidFill>
                  <a:srgbClr val="FFFFFF"/>
                </a:solidFill>
                <a:latin typeface="Consolas"/>
                <a:ea typeface="Yu Gothic UI"/>
                <a:cs typeface="Yu Gothic UI"/>
              </a:rPr>
              <a:t>│   ├── copilot-instructions.md            </a:t>
            </a:r>
            <a:r>
              <a:rPr sz="800">
                <a:solidFill>
                  <a:srgbClr val="E9D8FA"/>
                </a:solidFill>
                <a:latin typeface="Consolas"/>
                <a:ea typeface="Yu Gothic UI"/>
                <a:cs typeface="Yu Gothic UI"/>
              </a:rPr>
              <a:t>  # リポジトリ全体でCopilotに共通適用する基本方針・開発ルール</a:t>
            </a:r>
          </a:p>
          <a:p>
            <a:pPr>
              <a:lnSpc>
                <a:spcPct val="100000"/>
              </a:lnSpc>
            </a:pPr>
            <a:r>
              <a:rPr sz="800">
                <a:solidFill>
                  <a:srgbClr val="FFFFFF"/>
                </a:solidFill>
                <a:latin typeface="Consolas"/>
                <a:ea typeface="Yu Gothic UI"/>
                <a:cs typeface="Yu Gothic UI"/>
              </a:rPr>
              <a:t>│   ├── instructions/                      </a:t>
            </a:r>
            <a:r>
              <a:rPr sz="800">
                <a:solidFill>
                  <a:srgbClr val="E9D8FA"/>
                </a:solidFill>
                <a:latin typeface="Consolas"/>
                <a:ea typeface="Yu Gothic UI"/>
                <a:cs typeface="Yu Gothic UI"/>
              </a:rPr>
              <a:t>  # パスや用途ごとにCopilotへ追加注入する個別指示</a:t>
            </a:r>
          </a:p>
          <a:p>
            <a:pPr>
              <a:lnSpc>
                <a:spcPct val="100000"/>
              </a:lnSpc>
            </a:pPr>
            <a:r>
              <a:rPr sz="800">
                <a:solidFill>
                  <a:srgbClr val="FFFFFF"/>
                </a:solidFill>
                <a:latin typeface="Consolas"/>
                <a:ea typeface="Yu Gothic UI"/>
                <a:cs typeface="Yu Gothic UI"/>
              </a:rPr>
              <a:t>│   │   ├── backend.instructions.md        </a:t>
            </a:r>
            <a:r>
              <a:rPr sz="800">
                <a:solidFill>
                  <a:srgbClr val="E9D8FA"/>
                </a:solidFill>
                <a:latin typeface="Consolas"/>
                <a:ea typeface="Yu Gothic UI"/>
                <a:cs typeface="Yu Gothic UI"/>
              </a:rPr>
              <a:t>  # バックエンド実装時に守らせたい設計・品質ルール</a:t>
            </a:r>
          </a:p>
          <a:p>
            <a:pPr>
              <a:lnSpc>
                <a:spcPct val="100000"/>
              </a:lnSpc>
            </a:pPr>
            <a:r>
              <a:rPr sz="800">
                <a:solidFill>
                  <a:srgbClr val="FFFFFF"/>
                </a:solidFill>
                <a:latin typeface="Consolas"/>
                <a:ea typeface="Yu Gothic UI"/>
                <a:cs typeface="Yu Gothic UI"/>
              </a:rPr>
              <a:t>│   │   └── security.instructions.md       </a:t>
            </a:r>
            <a:r>
              <a:rPr sz="800">
                <a:solidFill>
                  <a:srgbClr val="E9D8FA"/>
                </a:solidFill>
                <a:latin typeface="Consolas"/>
                <a:ea typeface="Yu Gothic UI"/>
                <a:cs typeface="Yu Gothic UI"/>
              </a:rPr>
              <a:t>  # セキュリティ観点で特に注意させたい実装ルール</a:t>
            </a:r>
          </a:p>
          <a:p>
            <a:pPr>
              <a:lnSpc>
                <a:spcPct val="100000"/>
              </a:lnSpc>
            </a:pPr>
            <a:r>
              <a:rPr sz="300">
                <a:solidFill>
                  <a:srgbClr val="8A8A8A"/>
                </a:solidFill>
                <a:latin typeface="Consolas"/>
                <a:ea typeface="Yu Gothic UI"/>
                <a:cs typeface="Yu Gothic UI"/>
              </a:rPr>
              <a:t>│   │</a:t>
            </a:r>
          </a:p>
          <a:p>
            <a:pPr>
              <a:lnSpc>
                <a:spcPct val="100000"/>
              </a:lnSpc>
            </a:pPr>
            <a:r>
              <a:rPr sz="800">
                <a:solidFill>
                  <a:srgbClr val="FFFFFF"/>
                </a:solidFill>
                <a:latin typeface="Consolas"/>
                <a:ea typeface="Yu Gothic UI"/>
                <a:cs typeface="Yu Gothic UI"/>
              </a:rPr>
              <a:t>│   ├── agents/                            </a:t>
            </a:r>
            <a:r>
              <a:rPr sz="800">
                <a:solidFill>
                  <a:srgbClr val="E9D8FA"/>
                </a:solidFill>
                <a:latin typeface="Consolas"/>
                <a:ea typeface="Yu Gothic UI"/>
                <a:cs typeface="Yu Gothic UI"/>
              </a:rPr>
              <a:t>  # Copilot Custom Agent の定義置き場</a:t>
            </a:r>
          </a:p>
          <a:p>
            <a:pPr>
              <a:lnSpc>
                <a:spcPct val="100000"/>
              </a:lnSpc>
            </a:pPr>
            <a:r>
              <a:rPr sz="800">
                <a:solidFill>
                  <a:srgbClr val="FFFFFF"/>
                </a:solidFill>
                <a:latin typeface="Consolas"/>
                <a:ea typeface="Yu Gothic UI"/>
                <a:cs typeface="Yu Gothic UI"/>
              </a:rPr>
              <a:t>│   │   └── safe-implementer.md            </a:t>
            </a:r>
            <a:r>
              <a:rPr sz="800">
                <a:solidFill>
                  <a:srgbClr val="E9D8FA"/>
                </a:solidFill>
                <a:latin typeface="Consolas"/>
                <a:ea typeface="Yu Gothic UI"/>
                <a:cs typeface="Yu Gothic UI"/>
              </a:rPr>
              <a:t>  # 安全側に倒した実装専用エージェントの役割・制約を定義する</a:t>
            </a:r>
          </a:p>
          <a:p>
            <a:pPr>
              <a:lnSpc>
                <a:spcPct val="100000"/>
              </a:lnSpc>
            </a:pPr>
            <a:r>
              <a:rPr sz="300">
                <a:solidFill>
                  <a:srgbClr val="8A8A8A"/>
                </a:solidFill>
                <a:latin typeface="Consolas"/>
                <a:ea typeface="Yu Gothic UI"/>
                <a:cs typeface="Yu Gothic UI"/>
              </a:rPr>
              <a:t>│   │</a:t>
            </a:r>
          </a:p>
          <a:p>
            <a:pPr>
              <a:lnSpc>
                <a:spcPct val="100000"/>
              </a:lnSpc>
            </a:pPr>
            <a:r>
              <a:rPr sz="800">
                <a:solidFill>
                  <a:srgbClr val="FFFFFF"/>
                </a:solidFill>
                <a:latin typeface="Consolas"/>
                <a:ea typeface="Yu Gothic UI"/>
                <a:cs typeface="Yu Gothic UI"/>
              </a:rPr>
              <a:t>│   ├── skills/                            </a:t>
            </a:r>
            <a:r>
              <a:rPr sz="800">
                <a:solidFill>
                  <a:srgbClr val="E9D8FA"/>
                </a:solidFill>
                <a:latin typeface="Consolas"/>
                <a:ea typeface="Yu Gothic UI"/>
                <a:cs typeface="Yu Gothic UI"/>
              </a:rPr>
              <a:t>  # Agent Skills の定義群（手順・知識・補助資材を束ねる）</a:t>
            </a:r>
          </a:p>
          <a:p>
            <a:pPr>
              <a:lnSpc>
                <a:spcPct val="100000"/>
              </a:lnSpc>
            </a:pPr>
            <a:r>
              <a:rPr sz="800">
                <a:solidFill>
                  <a:srgbClr val="FFFFFF"/>
                </a:solidFill>
                <a:latin typeface="Consolas"/>
                <a:ea typeface="Yu Gothic UI"/>
                <a:cs typeface="Yu Gothic UI"/>
              </a:rPr>
              <a:t>│   │   ├── spec-driven-implementation/    </a:t>
            </a:r>
            <a:r>
              <a:rPr sz="800">
                <a:solidFill>
                  <a:srgbClr val="E9D8FA"/>
                </a:solidFill>
                <a:latin typeface="Consolas"/>
                <a:ea typeface="Yu Gothic UI"/>
                <a:cs typeface="Yu Gothic UI"/>
              </a:rPr>
              <a:t>  # 仕様駆動開発を支援する Skill</a:t>
            </a:r>
          </a:p>
          <a:p>
            <a:pPr>
              <a:lnSpc>
                <a:spcPct val="100000"/>
              </a:lnSpc>
            </a:pPr>
            <a:r>
              <a:rPr sz="800">
                <a:solidFill>
                  <a:srgbClr val="FFFFFF"/>
                </a:solidFill>
                <a:latin typeface="Consolas"/>
                <a:ea typeface="Yu Gothic UI"/>
                <a:cs typeface="Yu Gothic UI"/>
              </a:rPr>
              <a:t>│   │   │   ├── SKILL.md                   </a:t>
            </a:r>
            <a:r>
              <a:rPr sz="800">
                <a:solidFill>
                  <a:srgbClr val="E9D8FA"/>
                </a:solidFill>
                <a:latin typeface="Consolas"/>
                <a:ea typeface="Yu Gothic UI"/>
                <a:cs typeface="Yu Gothic UI"/>
              </a:rPr>
              <a:t>  # 仕様確認→設計→実装→テストの標準手順を記述する</a:t>
            </a:r>
          </a:p>
          <a:p>
            <a:pPr>
              <a:lnSpc>
                <a:spcPct val="100000"/>
              </a:lnSpc>
            </a:pPr>
            <a:r>
              <a:rPr sz="800">
                <a:solidFill>
                  <a:srgbClr val="FFFFFF"/>
                </a:solidFill>
                <a:latin typeface="Consolas"/>
                <a:ea typeface="Yu Gothic UI"/>
                <a:cs typeface="Yu Gothic UI"/>
              </a:rPr>
              <a:t>│   │   │   └── templates/                 </a:t>
            </a:r>
            <a:r>
              <a:rPr sz="800">
                <a:solidFill>
                  <a:srgbClr val="E9D8FA"/>
                </a:solidFill>
                <a:latin typeface="Consolas"/>
                <a:ea typeface="Yu Gothic UI"/>
                <a:cs typeface="Yu Gothic UI"/>
              </a:rPr>
              <a:t>  # 仕様書テンプレートや実装計画テンプレートを格納する</a:t>
            </a:r>
          </a:p>
          <a:p>
            <a:pPr>
              <a:lnSpc>
                <a:spcPct val="100000"/>
              </a:lnSpc>
            </a:pPr>
            <a:r>
              <a:rPr sz="300">
                <a:solidFill>
                  <a:srgbClr val="8A8A8A"/>
                </a:solidFill>
                <a:latin typeface="Consolas"/>
                <a:ea typeface="Yu Gothic UI"/>
                <a:cs typeface="Yu Gothic UI"/>
              </a:rPr>
              <a:t>│   │   │</a:t>
            </a:r>
          </a:p>
          <a:p>
            <a:pPr>
              <a:lnSpc>
                <a:spcPct val="100000"/>
              </a:lnSpc>
            </a:pPr>
            <a:r>
              <a:rPr sz="800">
                <a:solidFill>
                  <a:srgbClr val="FFFFFF"/>
                </a:solidFill>
                <a:latin typeface="Consolas"/>
                <a:ea typeface="Yu Gothic UI"/>
                <a:cs typeface="Yu Gothic UI"/>
              </a:rPr>
              <a:t>│   │   ├── secure-change-review/          </a:t>
            </a:r>
            <a:r>
              <a:rPr sz="800">
                <a:solidFill>
                  <a:srgbClr val="E9D8FA"/>
                </a:solidFill>
                <a:latin typeface="Consolas"/>
                <a:ea typeface="Yu Gothic UI"/>
                <a:cs typeface="Yu Gothic UI"/>
              </a:rPr>
              <a:t>  # セキュア変更レビューを支援する Skill</a:t>
            </a:r>
          </a:p>
          <a:p>
            <a:pPr>
              <a:lnSpc>
                <a:spcPct val="100000"/>
              </a:lnSpc>
            </a:pPr>
            <a:r>
              <a:rPr sz="800">
                <a:solidFill>
                  <a:srgbClr val="FFFFFF"/>
                </a:solidFill>
                <a:latin typeface="Consolas"/>
                <a:ea typeface="Yu Gothic UI"/>
                <a:cs typeface="Yu Gothic UI"/>
              </a:rPr>
              <a:t>│   │   │   ├── SKILL.md                   </a:t>
            </a:r>
            <a:r>
              <a:rPr sz="800">
                <a:solidFill>
                  <a:srgbClr val="E9D8FA"/>
                </a:solidFill>
                <a:latin typeface="Consolas"/>
                <a:ea typeface="Yu Gothic UI"/>
                <a:cs typeface="Yu Gothic UI"/>
              </a:rPr>
              <a:t>  # 認証・認可・機密情報・監査ログ等の確認観点を記述する</a:t>
            </a:r>
          </a:p>
          <a:p>
            <a:pPr>
              <a:lnSpc>
                <a:spcPct val="100000"/>
              </a:lnSpc>
            </a:pPr>
            <a:r>
              <a:rPr sz="800">
                <a:solidFill>
                  <a:srgbClr val="FFFFFF"/>
                </a:solidFill>
                <a:latin typeface="Consolas"/>
                <a:ea typeface="Yu Gothic UI"/>
                <a:cs typeface="Yu Gothic UI"/>
              </a:rPr>
              <a:t>│   │   │   └── checklists/                </a:t>
            </a:r>
            <a:r>
              <a:rPr sz="800">
                <a:solidFill>
                  <a:srgbClr val="E9D8FA"/>
                </a:solidFill>
                <a:latin typeface="Consolas"/>
                <a:ea typeface="Yu Gothic UI"/>
                <a:cs typeface="Yu Gothic UI"/>
              </a:rPr>
              <a:t>  # レビュー時に使う観点チェックリストを格納する</a:t>
            </a:r>
          </a:p>
          <a:p>
            <a:pPr>
              <a:lnSpc>
                <a:spcPct val="100000"/>
              </a:lnSpc>
            </a:pPr>
            <a:r>
              <a:rPr sz="300">
                <a:solidFill>
                  <a:srgbClr val="8A8A8A"/>
                </a:solidFill>
                <a:latin typeface="Consolas"/>
                <a:ea typeface="Yu Gothic UI"/>
                <a:cs typeface="Yu Gothic UI"/>
              </a:rPr>
              <a:t>│   │   │</a:t>
            </a:r>
          </a:p>
          <a:p>
            <a:pPr>
              <a:lnSpc>
                <a:spcPct val="100000"/>
              </a:lnSpc>
            </a:pPr>
            <a:r>
              <a:rPr sz="800">
                <a:solidFill>
                  <a:srgbClr val="FFFFFF"/>
                </a:solidFill>
                <a:latin typeface="Consolas"/>
                <a:ea typeface="Yu Gothic UI"/>
                <a:cs typeface="Yu Gothic UI"/>
              </a:rPr>
              <a:t>│   │   └── github-actions-debug/          </a:t>
            </a:r>
            <a:r>
              <a:rPr sz="800">
                <a:solidFill>
                  <a:srgbClr val="E9D8FA"/>
                </a:solidFill>
                <a:latin typeface="Consolas"/>
                <a:ea typeface="Yu Gothic UI"/>
                <a:cs typeface="Yu Gothic UI"/>
              </a:rPr>
              <a:t>  # GitHub Actions 障害解析を支援する Skill</a:t>
            </a:r>
          </a:p>
          <a:p>
            <a:pPr>
              <a:lnSpc>
                <a:spcPct val="100000"/>
              </a:lnSpc>
            </a:pPr>
            <a:r>
              <a:rPr sz="800">
                <a:solidFill>
                  <a:srgbClr val="FFFFFF"/>
                </a:solidFill>
                <a:latin typeface="Consolas"/>
                <a:ea typeface="Yu Gothic UI"/>
                <a:cs typeface="Yu Gothic UI"/>
              </a:rPr>
              <a:t>│   │       ├── SKILL.md                   </a:t>
            </a:r>
            <a:r>
              <a:rPr sz="800">
                <a:solidFill>
                  <a:srgbClr val="E9D8FA"/>
                </a:solidFill>
                <a:latin typeface="Consolas"/>
                <a:ea typeface="Yu Gothic UI"/>
                <a:cs typeface="Yu Gothic UI"/>
              </a:rPr>
              <a:t>  # ログ確認、失敗箇所切り分け、再現手順の標準フローを記述する</a:t>
            </a:r>
          </a:p>
          <a:p>
            <a:pPr>
              <a:lnSpc>
                <a:spcPct val="100000"/>
              </a:lnSpc>
            </a:pPr>
            <a:r>
              <a:rPr sz="800">
                <a:solidFill>
                  <a:srgbClr val="FFFFFF"/>
                </a:solidFill>
                <a:latin typeface="Consolas"/>
                <a:ea typeface="Yu Gothic UI"/>
                <a:cs typeface="Yu Gothic UI"/>
              </a:rPr>
              <a:t>│   │       └── scripts/                   </a:t>
            </a:r>
            <a:r>
              <a:rPr sz="800">
                <a:solidFill>
                  <a:srgbClr val="E9D8FA"/>
                </a:solidFill>
                <a:latin typeface="Consolas"/>
                <a:ea typeface="Yu Gothic UI"/>
                <a:cs typeface="Yu Gothic UI"/>
              </a:rPr>
              <a:t>  # デバッグ補助用の簡易スクリプトを格納する</a:t>
            </a:r>
          </a:p>
          <a:p>
            <a:pPr>
              <a:lnSpc>
                <a:spcPct val="100000"/>
              </a:lnSpc>
            </a:pPr>
            <a:r>
              <a:rPr sz="300">
                <a:solidFill>
                  <a:srgbClr val="8A8A8A"/>
                </a:solidFill>
                <a:latin typeface="Consolas"/>
                <a:ea typeface="Yu Gothic UI"/>
                <a:cs typeface="Yu Gothic UI"/>
              </a:rPr>
              <a:t>│   │</a:t>
            </a:r>
          </a:p>
          <a:p>
            <a:pPr>
              <a:lnSpc>
                <a:spcPct val="100000"/>
              </a:lnSpc>
            </a:pPr>
            <a:r>
              <a:rPr sz="800">
                <a:solidFill>
                  <a:srgbClr val="FFFFFF"/>
                </a:solidFill>
                <a:latin typeface="Consolas"/>
                <a:ea typeface="Yu Gothic UI"/>
                <a:cs typeface="Yu Gothic UI"/>
              </a:rPr>
              <a:t>│   ├── workflows/                         </a:t>
            </a:r>
            <a:r>
              <a:rPr sz="800">
                <a:solidFill>
                  <a:srgbClr val="E9D8FA"/>
                </a:solidFill>
                <a:latin typeface="Consolas"/>
                <a:ea typeface="Yu Gothic UI"/>
                <a:cs typeface="Yu Gothic UI"/>
              </a:rPr>
              <a:t>  # GitHub Actions のワークフロー定義</a:t>
            </a:r>
          </a:p>
          <a:p>
            <a:pPr>
              <a:lnSpc>
                <a:spcPct val="100000"/>
              </a:lnSpc>
            </a:pPr>
            <a:r>
              <a:rPr sz="800">
                <a:solidFill>
                  <a:srgbClr val="FFFFFF"/>
                </a:solidFill>
                <a:latin typeface="Consolas"/>
                <a:ea typeface="Yu Gothic UI"/>
                <a:cs typeface="Yu Gothic UI"/>
              </a:rPr>
              <a:t>│   │   ├── ci.yml                         </a:t>
            </a:r>
            <a:r>
              <a:rPr sz="800">
                <a:solidFill>
                  <a:srgbClr val="E9D8FA"/>
                </a:solidFill>
                <a:latin typeface="Consolas"/>
                <a:ea typeface="Yu Gothic UI"/>
                <a:cs typeface="Yu Gothic UI"/>
              </a:rPr>
              <a:t>  # Lint / Test / Build / Security Scan 等の基本CIを実行する</a:t>
            </a:r>
          </a:p>
          <a:p>
            <a:pPr>
              <a:lnSpc>
                <a:spcPct val="100000"/>
              </a:lnSpc>
            </a:pPr>
            <a:r>
              <a:rPr sz="800">
                <a:solidFill>
                  <a:srgbClr val="FFFFFF"/>
                </a:solidFill>
                <a:latin typeface="Consolas"/>
                <a:ea typeface="Yu Gothic UI"/>
                <a:cs typeface="Yu Gothic UI"/>
              </a:rPr>
              <a:t>│   │   ├── policy-check.yml               </a:t>
            </a:r>
            <a:r>
              <a:rPr sz="800">
                <a:solidFill>
                  <a:srgbClr val="E9D8FA"/>
                </a:solidFill>
                <a:latin typeface="Consolas"/>
                <a:ea typeface="Yu Gothic UI"/>
                <a:cs typeface="Yu Gothic UI"/>
              </a:rPr>
              <a:t>  # redline違反や保護対象変更などのポリシー違反を検知する</a:t>
            </a:r>
          </a:p>
          <a:p>
            <a:pPr>
              <a:lnSpc>
                <a:spcPct val="100000"/>
              </a:lnSpc>
            </a:pPr>
            <a:r>
              <a:rPr sz="800">
                <a:solidFill>
                  <a:srgbClr val="FFFFFF"/>
                </a:solidFill>
                <a:latin typeface="Consolas"/>
                <a:ea typeface="Yu Gothic UI"/>
                <a:cs typeface="Yu Gothic UI"/>
              </a:rPr>
              <a:t>│   │   └── deploy.yml                     </a:t>
            </a:r>
            <a:r>
              <a:rPr sz="800">
                <a:solidFill>
                  <a:srgbClr val="E9D8FA"/>
                </a:solidFill>
                <a:latin typeface="Consolas"/>
                <a:ea typeface="Yu Gothic UI"/>
                <a:cs typeface="Yu Gothic UI"/>
              </a:rPr>
              <a:t>  # デプロイ処理を実行する（必要に応じて承認付き）</a:t>
            </a:r>
          </a:p>
          <a:p>
            <a:pPr>
              <a:lnSpc>
                <a:spcPct val="100000"/>
              </a:lnSpc>
            </a:pPr>
            <a:r>
              <a:rPr sz="300">
                <a:solidFill>
                  <a:srgbClr val="8A8A8A"/>
                </a:solidFill>
                <a:latin typeface="Consolas"/>
                <a:ea typeface="Yu Gothic UI"/>
                <a:cs typeface="Yu Gothic UI"/>
              </a:rPr>
              <a:t>│   │</a:t>
            </a:r>
          </a:p>
          <a:p>
            <a:pPr>
              <a:lnSpc>
                <a:spcPct val="100000"/>
              </a:lnSpc>
            </a:pPr>
            <a:r>
              <a:rPr sz="800">
                <a:solidFill>
                  <a:srgbClr val="FFFFFF"/>
                </a:solidFill>
                <a:latin typeface="Consolas"/>
                <a:ea typeface="Yu Gothic UI"/>
                <a:cs typeface="Yu Gothic UI"/>
              </a:rPr>
              <a:t>│   └── CODEOWNERS                         </a:t>
            </a:r>
            <a:r>
              <a:rPr sz="800">
                <a:solidFill>
                  <a:srgbClr val="E9D8FA"/>
                </a:solidFill>
                <a:latin typeface="Consolas"/>
                <a:ea typeface="Yu Gothic UI"/>
                <a:cs typeface="Yu Gothic UI"/>
              </a:rPr>
              <a:t>  # 重要領域の変更時に必須となるレビュアーを指定する</a:t>
            </a:r>
          </a:p>
          <a:p>
            <a:pPr>
              <a:lnSpc>
                <a:spcPct val="100000"/>
              </a:lnSpc>
            </a:pPr>
            <a:r>
              <a:rPr sz="300">
                <a:solidFill>
                  <a:srgbClr val="8A8A8A"/>
                </a:solidFill>
                <a:latin typeface="Consolas"/>
                <a:ea typeface="Yu Gothic UI"/>
                <a:cs typeface="Yu Gothic UI"/>
              </a:rPr>
              <a:t>│</a:t>
            </a:r>
          </a:p>
          <a:p>
            <a:pPr>
              <a:lnSpc>
                <a:spcPct val="100000"/>
              </a:lnSpc>
            </a:pPr>
            <a:r>
              <a:rPr sz="800">
                <a:solidFill>
                  <a:srgbClr val="FFFFFF"/>
                </a:solidFill>
                <a:latin typeface="Consolas"/>
                <a:ea typeface="Yu Gothic UI"/>
                <a:cs typeface="Yu Gothic UI"/>
              </a:rPr>
              <a:t>├── scripts/                               </a:t>
            </a:r>
            <a:r>
              <a:rPr sz="800">
                <a:solidFill>
                  <a:srgbClr val="E9D8FA"/>
                </a:solidFill>
                <a:latin typeface="Consolas"/>
                <a:ea typeface="Yu Gothic UI"/>
                <a:cs typeface="Yu Gothic UI"/>
              </a:rPr>
              <a:t>  # ローカル実行やCIから呼び出す補助スクリプト群</a:t>
            </a:r>
          </a:p>
          <a:p>
            <a:pPr>
              <a:lnSpc>
                <a:spcPct val="100000"/>
              </a:lnSpc>
            </a:pPr>
            <a:r>
              <a:rPr sz="800">
                <a:solidFill>
                  <a:srgbClr val="FFFFFF"/>
                </a:solidFill>
                <a:latin typeface="Consolas"/>
                <a:ea typeface="Yu Gothic UI"/>
                <a:cs typeface="Yu Gothic UI"/>
              </a:rPr>
              <a:t>│   ├── classify_diff.sh                   </a:t>
            </a:r>
            <a:r>
              <a:rPr sz="800">
                <a:solidFill>
                  <a:srgbClr val="E9D8FA"/>
                </a:solidFill>
                <a:latin typeface="Consolas"/>
                <a:ea typeface="Yu Gothic UI"/>
                <a:cs typeface="Yu Gothic UI"/>
              </a:rPr>
              <a:t>  # 変更差分を解析し、変更クラスを判定する</a:t>
            </a:r>
          </a:p>
          <a:p>
            <a:pPr>
              <a:lnSpc>
                <a:spcPct val="100000"/>
              </a:lnSpc>
            </a:pPr>
            <a:r>
              <a:rPr sz="800">
                <a:solidFill>
                  <a:srgbClr val="FFFFFF"/>
                </a:solidFill>
                <a:latin typeface="Consolas"/>
                <a:ea typeface="Yu Gothic UI"/>
                <a:cs typeface="Yu Gothic UI"/>
              </a:rPr>
              <a:t>│   ├── check_protected_paths.sh           </a:t>
            </a:r>
            <a:r>
              <a:rPr sz="800">
                <a:solidFill>
                  <a:srgbClr val="E9D8FA"/>
                </a:solidFill>
                <a:latin typeface="Consolas"/>
                <a:ea typeface="Yu Gothic UI"/>
                <a:cs typeface="Yu Gothic UI"/>
              </a:rPr>
              <a:t>  # 保護対象パスへの変更有無を確認する</a:t>
            </a:r>
          </a:p>
          <a:p>
            <a:pPr>
              <a:lnSpc>
                <a:spcPct val="100000"/>
              </a:lnSpc>
            </a:pPr>
            <a:r>
              <a:rPr sz="800">
                <a:solidFill>
                  <a:srgbClr val="FFFFFF"/>
                </a:solidFill>
                <a:latin typeface="Consolas"/>
                <a:ea typeface="Yu Gothic UI"/>
                <a:cs typeface="Yu Gothic UI"/>
              </a:rPr>
              <a:t>│   └── scan_secrets.sh                    </a:t>
            </a:r>
            <a:r>
              <a:rPr sz="800">
                <a:solidFill>
                  <a:srgbClr val="E9D8FA"/>
                </a:solidFill>
                <a:latin typeface="Consolas"/>
                <a:ea typeface="Yu Gothic UI"/>
                <a:cs typeface="Yu Gothic UI"/>
              </a:rPr>
              <a:t>  # 秘密情報や機密文字列の混入を簡易スキャンする</a:t>
            </a:r>
          </a:p>
          <a:p>
            <a:pPr>
              <a:lnSpc>
                <a:spcPct val="100000"/>
              </a:lnSpc>
            </a:pPr>
            <a:r>
              <a:rPr sz="300">
                <a:solidFill>
                  <a:srgbClr val="8A8A8A"/>
                </a:solidFill>
                <a:latin typeface="Consolas"/>
                <a:ea typeface="Yu Gothic UI"/>
                <a:cs typeface="Yu Gothic UI"/>
              </a:rPr>
              <a:t>│</a:t>
            </a:r>
          </a:p>
          <a:p>
            <a:pPr>
              <a:lnSpc>
                <a:spcPct val="100000"/>
              </a:lnSpc>
            </a:pPr>
            <a:r>
              <a:rPr sz="800">
                <a:solidFill>
                  <a:srgbClr val="FFFFFF"/>
                </a:solidFill>
                <a:latin typeface="Consolas"/>
                <a:ea typeface="Yu Gothic UI"/>
                <a:cs typeface="Yu Gothic UI"/>
              </a:rPr>
              <a:t>├── specs/                                 </a:t>
            </a:r>
            <a:r>
              <a:rPr sz="800">
                <a:solidFill>
                  <a:srgbClr val="E9D8FA"/>
                </a:solidFill>
                <a:latin typeface="Consolas"/>
                <a:ea typeface="Yu Gothic UI"/>
                <a:cs typeface="Yu Gothic UI"/>
              </a:rPr>
              <a:t>  # 仕様書・要件定義・受入条件など、仕様駆動開発の起点を置く</a:t>
            </a:r>
          </a:p>
          <a:p>
            <a:pPr>
              <a:lnSpc>
                <a:spcPct val="100000"/>
              </a:lnSpc>
            </a:pPr>
            <a:r>
              <a:rPr sz="300">
                <a:solidFill>
                  <a:srgbClr val="8A8A8A"/>
                </a:solidFill>
                <a:latin typeface="Consolas"/>
                <a:ea typeface="Yu Gothic UI"/>
                <a:cs typeface="Yu Gothic UI"/>
              </a:rPr>
              <a:t>│</a:t>
            </a:r>
          </a:p>
          <a:p>
            <a:pPr>
              <a:lnSpc>
                <a:spcPct val="100000"/>
              </a:lnSpc>
            </a:pPr>
            <a:r>
              <a:rPr sz="800">
                <a:solidFill>
                  <a:srgbClr val="FFFFFF"/>
                </a:solidFill>
                <a:latin typeface="Consolas"/>
                <a:ea typeface="Yu Gothic UI"/>
                <a:cs typeface="Yu Gothic UI"/>
              </a:rPr>
              <a:t>└── src/                                   </a:t>
            </a:r>
            <a:r>
              <a:rPr sz="800">
                <a:solidFill>
                  <a:srgbClr val="E9D8FA"/>
                </a:solidFill>
                <a:latin typeface="Consolas"/>
                <a:ea typeface="Yu Gothic UI"/>
                <a:cs typeface="Yu Gothic UI"/>
              </a:rPr>
              <a:t>  # アプリケーション本体コード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6446520"/>
            <a:ext cx="11277295" cy="9525"/>
          </a:xfrm>
          <a:prstGeom prst="rect">
            <a:avLst/>
          </a:prstGeom>
          <a:solidFill>
            <a:srgbClr val="CFC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8A8A8A"/>
                </a:solidFill>
                <a:latin typeface="Yu Gothic UI"/>
                <a:ea typeface="Yu Gothic UI"/>
                <a:cs typeface="Yu Gothic UI"/>
              </a:rPr>
              <a:t>Agent Skills × ガバナンス設計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0" y="6537960"/>
            <a:ext cx="1676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8A8A8A"/>
                </a:solidFill>
                <a:latin typeface="Yu Gothic UI"/>
                <a:ea typeface="Yu Gothic UI"/>
                <a:cs typeface="Yu Gothic UI"/>
              </a:rPr>
              <a:t>18 / 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