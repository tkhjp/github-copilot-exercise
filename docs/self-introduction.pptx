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11"/>
    <p:restoredTop sz="94658"/>
  </p:normalViewPr>
  <p:slideViewPr>
    <p:cSldViewPr snapToGrid="0" snapToObjects="1">
      <p:cViewPr varScale="1">
        <p:scale>
          <a:sx n="120" d="100"/>
          <a:sy n="120" d="100"/>
        </p:scale>
        <p:origin x="800" y="18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4/13/26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4/13/26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4/13/26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4/13/26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4/13/26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4/13/26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4/13/26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4/13/26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4/13/26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4/13/26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4/13/26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4/13/26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A1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1097280" y="1828800"/>
            <a:ext cx="10058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800" b="1">
                <a:solidFill>
                  <a:srgbClr val="FFFFFF"/>
                </a:solidFill>
                <a:latin typeface="Arial"/>
              </a:defRPr>
            </a:pPr>
            <a:r>
              <a:t>自己紹介 &amp; LLM最前線</a:t>
            </a:r>
          </a:p>
        </p:txBody>
      </p:sp>
      <p:sp>
        <p:nvSpPr>
          <p:cNvPr id="4" name="Rectangle 3"/>
          <p:cNvSpPr/>
          <p:nvPr/>
        </p:nvSpPr>
        <p:spPr>
          <a:xfrm>
            <a:off x="1097280" y="3200400"/>
            <a:ext cx="2743200" cy="38100"/>
          </a:xfrm>
          <a:prstGeom prst="rect">
            <a:avLst/>
          </a:prstGeom>
          <a:solidFill>
            <a:srgbClr val="A1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097280" y="347472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
                  <a:srgbClr val="FFFFFF"/>
                </a:solidFill>
                <a:latin typeface="Arial"/>
              </a:defRPr>
            </a:pPr>
            <a:r>
              <a:t>姜（JIANG）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" y="402336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7F7F7F"/>
                </a:solidFill>
                <a:latin typeface="Arial"/>
              </a:defRPr>
            </a:pPr>
            <a:r>
              <a:t>2026.04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731520" y="365760"/>
            <a:ext cx="50800" cy="502920"/>
          </a:xfrm>
          <a:prstGeom prst="rect">
            <a:avLst/>
          </a:prstGeom>
          <a:solidFill>
            <a:srgbClr val="A1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914400" y="27432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000000"/>
                </a:solidFill>
                <a:latin typeface="Arial"/>
              </a:defRPr>
            </a:pPr>
            <a:r>
              <a:t>アジェンダ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914400" y="1371600"/>
          <a:ext cx="10058400" cy="250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71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400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286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00000"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#</a:t>
                      </a:r>
                    </a:p>
                  </a:txBody>
                  <a:tcPr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内容</a:t>
                      </a:r>
                    </a:p>
                  </a:txBody>
                  <a:tcPr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時間</a:t>
                      </a:r>
                    </a:p>
                  </a:txBody>
                  <a:tcPr>
                    <a:solidFill>
                      <a:srgbClr val="00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00000"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333333"/>
                          </a:solidFill>
                          <a:latin typeface="Arial"/>
                        </a:defRPr>
                      </a:pPr>
                      <a:r>
                        <a:t>Part 1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333333"/>
                          </a:solidFill>
                          <a:latin typeface="Arial"/>
                        </a:defRPr>
                      </a:pPr>
                      <a:r>
                        <a:t>自己紹介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333333"/>
                          </a:solidFill>
                          <a:latin typeface="Arial"/>
                        </a:defRPr>
                      </a:pPr>
                      <a:r>
                        <a:t>5分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00000"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333333"/>
                          </a:solidFill>
                          <a:latin typeface="Arial"/>
                        </a:defRPr>
                      </a:pPr>
                      <a:r>
                        <a:t>Part 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333333"/>
                          </a:solidFill>
                          <a:latin typeface="Arial"/>
                        </a:defRPr>
                      </a:pPr>
                      <a:r>
                        <a:t>これまでの実績 — 金融AIチャットの設計と実装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333333"/>
                          </a:solidFill>
                          <a:latin typeface="Arial"/>
                        </a:defRPr>
                      </a:pPr>
                      <a:r>
                        <a:t>25分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00000"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333333"/>
                          </a:solidFill>
                          <a:latin typeface="Arial"/>
                        </a:defRPr>
                      </a:pPr>
                      <a:r>
                        <a:t>Part 3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333333"/>
                          </a:solidFill>
                          <a:latin typeface="Arial"/>
                        </a:defRPr>
                      </a:pPr>
                      <a:r>
                        <a:t>LLM 最前線 — LLM Wiki &amp; ハーネスエンジニアリング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333333"/>
                          </a:solidFill>
                          <a:latin typeface="Arial"/>
                        </a:defRPr>
                      </a:pPr>
                      <a:r>
                        <a:t>15分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00000"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333333"/>
                          </a:solidFill>
                          <a:latin typeface="Arial"/>
                        </a:defRPr>
                      </a:pPr>
                      <a:r>
                        <a:t>Part 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333333"/>
                          </a:solidFill>
                          <a:latin typeface="Arial"/>
                        </a:defRPr>
                      </a:pPr>
                      <a:r>
                        <a:t>Q&amp;A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333333"/>
                          </a:solidFill>
                          <a:latin typeface="Arial"/>
                        </a:defRPr>
                      </a:pPr>
                      <a:r>
                        <a:t>15分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1097280" y="2743200"/>
            <a:ext cx="2286000" cy="50800"/>
          </a:xfrm>
          <a:prstGeom prst="rect">
            <a:avLst/>
          </a:prstGeom>
          <a:solidFill>
            <a:srgbClr val="A1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1097280" y="292608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000000"/>
                </a:solidFill>
                <a:latin typeface="Arial"/>
              </a:defRPr>
            </a:pPr>
            <a:r>
              <a:t>Part 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384048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4A4A4A"/>
                </a:solidFill>
                <a:latin typeface="Arial"/>
              </a:defRPr>
            </a:pPr>
            <a:r>
              <a:t>自己紹介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731520" y="365760"/>
            <a:ext cx="50800" cy="502920"/>
          </a:xfrm>
          <a:prstGeom prst="rect">
            <a:avLst/>
          </a:prstGeom>
          <a:solidFill>
            <a:srgbClr val="A1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914400" y="27432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000000"/>
                </a:solidFill>
                <a:latin typeface="Arial"/>
              </a:defRPr>
            </a:pPr>
            <a:r>
              <a:t>自己紹介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09728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000000"/>
                </a:solidFill>
                <a:latin typeface="Arial"/>
              </a:defRPr>
            </a:pPr>
            <a:r>
              <a:t>姜（ジャン）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155448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4A4A4A"/>
                </a:solidFill>
                <a:latin typeface="Arial"/>
              </a:defRPr>
            </a:pPr>
            <a:r>
              <a:t>ビットエー経由で参画  |  専門: AI/LLM を活用したアプリケーション開発</a:t>
            </a:r>
          </a:p>
        </p:txBody>
      </p:sp>
      <p:sp>
        <p:nvSpPr>
          <p:cNvPr id="6" name="Rectangle 5"/>
          <p:cNvSpPr/>
          <p:nvPr/>
        </p:nvSpPr>
        <p:spPr>
          <a:xfrm>
            <a:off x="914400" y="2103120"/>
            <a:ext cx="10515600" cy="12700"/>
          </a:xfrm>
          <a:prstGeom prst="rect">
            <a:avLst/>
          </a:prstGeom>
          <a:solidFill>
            <a:srgbClr val="BDBDB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914400" y="2286000"/>
            <a:ext cx="4846320" cy="9951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  <a:defRPr sz="1600" b="1">
                <a:solidFill>
                  <a:srgbClr val="000000"/>
                </a:solidFill>
                <a:latin typeface="Arial"/>
              </a:defRPr>
            </a:pPr>
            <a:r>
              <a:rPr dirty="0" err="1"/>
              <a:t>スキルセット</a:t>
            </a:r>
            <a:endParaRPr dirty="0"/>
          </a:p>
          <a:p>
            <a:pPr>
              <a:spcBef>
                <a:spcPts val="800"/>
              </a:spcBef>
              <a:spcAft>
                <a:spcPts val="200"/>
              </a:spcAft>
            </a:pPr>
            <a:r>
              <a:rPr sz="1300" dirty="0">
                <a:solidFill>
                  <a:srgbClr val="333333"/>
                </a:solidFill>
                <a:latin typeface="Arial"/>
              </a:rPr>
              <a:t>  </a:t>
            </a:r>
            <a:r>
              <a:rPr sz="1300" dirty="0" err="1">
                <a:solidFill>
                  <a:srgbClr val="333333"/>
                </a:solidFill>
                <a:latin typeface="Arial"/>
              </a:rPr>
              <a:t>フルスタック開発（React</a:t>
            </a:r>
            <a:r>
              <a:rPr sz="1300" dirty="0">
                <a:solidFill>
                  <a:srgbClr val="333333"/>
                </a:solidFill>
                <a:latin typeface="Arial"/>
              </a:rPr>
              <a:t> ~ Express ~ AWS CDK）</a:t>
            </a:r>
          </a:p>
          <a:p>
            <a:pPr>
              <a:spcBef>
                <a:spcPts val="600"/>
              </a:spcBef>
              <a:spcAft>
                <a:spcPts val="200"/>
              </a:spcAft>
            </a:pPr>
            <a:r>
              <a:rPr sz="1300" dirty="0">
                <a:solidFill>
                  <a:srgbClr val="333333"/>
                </a:solidFill>
                <a:latin typeface="Arial"/>
              </a:rPr>
              <a:t>  </a:t>
            </a:r>
            <a:r>
              <a:rPr sz="1300" dirty="0" err="1">
                <a:solidFill>
                  <a:srgbClr val="333333"/>
                </a:solidFill>
                <a:latin typeface="Arial"/>
              </a:rPr>
              <a:t>高速プロトタイピング（アイデア</a:t>
            </a:r>
            <a:r>
              <a:rPr sz="1300" dirty="0">
                <a:solidFill>
                  <a:srgbClr val="333333"/>
                </a:solidFill>
                <a:latin typeface="Arial"/>
              </a:rPr>
              <a:t> → </a:t>
            </a:r>
            <a:r>
              <a:rPr sz="1300" dirty="0" err="1">
                <a:solidFill>
                  <a:srgbClr val="333333"/>
                </a:solidFill>
                <a:latin typeface="Arial"/>
              </a:rPr>
              <a:t>動くデモ</a:t>
            </a:r>
            <a:r>
              <a:rPr sz="1300" dirty="0">
                <a:solidFill>
                  <a:srgbClr val="333333"/>
                </a:solidFill>
                <a:latin typeface="Arial"/>
              </a:rPr>
              <a:t> </a:t>
            </a:r>
            <a:r>
              <a:rPr sz="1300" dirty="0" err="1">
                <a:solidFill>
                  <a:srgbClr val="333333"/>
                </a:solidFill>
                <a:latin typeface="Arial"/>
              </a:rPr>
              <a:t>を短期間で</a:t>
            </a:r>
            <a:r>
              <a:rPr sz="1300" dirty="0">
                <a:solidFill>
                  <a:srgbClr val="333333"/>
                </a:solidFill>
                <a:latin typeface="Arial"/>
              </a:rPr>
              <a:t>）</a:t>
            </a:r>
          </a:p>
        </p:txBody>
      </p:sp>
      <p:sp>
        <p:nvSpPr>
          <p:cNvPr id="8" name="Rectangle 7"/>
          <p:cNvSpPr/>
          <p:nvPr/>
        </p:nvSpPr>
        <p:spPr>
          <a:xfrm>
            <a:off x="6080760" y="2286000"/>
            <a:ext cx="12700" cy="2743200"/>
          </a:xfrm>
          <a:prstGeom prst="rect">
            <a:avLst/>
          </a:prstGeom>
          <a:solidFill>
            <a:srgbClr val="BDBDB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6400800" y="2286000"/>
            <a:ext cx="484632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  <a:defRPr sz="1600" b="1">
                <a:solidFill>
                  <a:srgbClr val="000000"/>
                </a:solidFill>
                <a:latin typeface="Arial"/>
              </a:defRPr>
            </a:pPr>
            <a:r>
              <a:t>働き方</a:t>
            </a:r>
          </a:p>
          <a:p>
            <a:pPr>
              <a:spcBef>
                <a:spcPts val="800"/>
              </a:spcBef>
              <a:spcAft>
                <a:spcPts val="200"/>
              </a:spcAft>
            </a:pPr>
            <a:r>
              <a:rPr sz="1300">
                <a:solidFill>
                  <a:srgbClr val="333333"/>
                </a:solidFill>
                <a:latin typeface="Arial"/>
              </a:rPr>
              <a:t>  育児の関係で稼働時間に制約あり</a:t>
            </a:r>
          </a:p>
          <a:p>
            <a:pPr>
              <a:spcBef>
                <a:spcPts val="600"/>
              </a:spcBef>
              <a:spcAft>
                <a:spcPts val="200"/>
              </a:spcAft>
            </a:pPr>
            <a:r>
              <a:rPr sz="1300" b="1">
                <a:solidFill>
                  <a:srgbClr val="333333"/>
                </a:solidFill>
                <a:latin typeface="Arial"/>
              </a:rPr>
              <a:t>要件が明確であれば自走して成果物を出します</a:t>
            </a:r>
          </a:p>
          <a:p>
            <a:pPr>
              <a:spcBef>
                <a:spcPts val="600"/>
              </a:spcBef>
              <a:spcAft>
                <a:spcPts val="200"/>
              </a:spcAft>
            </a:pPr>
            <a:r>
              <a:rPr sz="1300">
                <a:solidFill>
                  <a:srgbClr val="333333"/>
                </a:solidFill>
                <a:latin typeface="Arial"/>
              </a:rPr>
              <a:t>  進捗はテキストベースで随時共有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1097280" y="2743200"/>
            <a:ext cx="2286000" cy="50800"/>
          </a:xfrm>
          <a:prstGeom prst="rect">
            <a:avLst/>
          </a:prstGeom>
          <a:solidFill>
            <a:srgbClr val="A1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1097280" y="292608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000000"/>
                </a:solidFill>
                <a:latin typeface="Arial"/>
              </a:defRPr>
            </a:pPr>
            <a:r>
              <a:t>Part 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384048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4A4A4A"/>
                </a:solidFill>
                <a:latin typeface="Arial"/>
              </a:defRPr>
            </a:pPr>
            <a:r>
              <a:t>これまでの実績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731520" y="365760"/>
            <a:ext cx="50800" cy="502920"/>
          </a:xfrm>
          <a:prstGeom prst="rect">
            <a:avLst/>
          </a:prstGeom>
          <a:solidFill>
            <a:srgbClr val="A1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914400" y="27432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000000"/>
                </a:solidFill>
                <a:latin typeface="Arial"/>
              </a:defRPr>
            </a:pPr>
            <a:r>
              <a:t>プロジェクト全体の流れ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914400" y="1188720"/>
          <a:ext cx="10332720" cy="258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28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114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3891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30000"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時期</a:t>
                      </a:r>
                    </a:p>
                  </a:txBody>
                  <a:tcPr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テーマ</a:t>
                      </a:r>
                    </a:p>
                  </a:txBody>
                  <a:tcPr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成果物</a:t>
                      </a:r>
                    </a:p>
                  </a:txBody>
                  <a:tcPr>
                    <a:solidFill>
                      <a:srgbClr val="00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3000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  <a:latin typeface="Arial"/>
                        </a:defRPr>
                      </a:pPr>
                      <a:r>
                        <a:t>1月末~2月初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  <a:latin typeface="Arial"/>
                        </a:defRPr>
                      </a:pPr>
                      <a:r>
                        <a:t>dヘルスケア PBI自動生成デモ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  <a:latin typeface="Arial"/>
                        </a:defRPr>
                      </a:pPr>
                      <a:r>
                        <a:t>VS Code + Copilot + MCP で検証環境構築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3000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  <a:latin typeface="Arial"/>
                        </a:defRPr>
                      </a:pPr>
                      <a:r>
                        <a:t>2月初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  <a:latin typeface="Arial"/>
                        </a:defRPr>
                      </a:pPr>
                      <a:r>
                        <a:t>テーマ急遽変更（金融領域へ）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  <a:latin typeface="Arial"/>
                        </a:defRPr>
                      </a:pPr>
                      <a:r>
                        <a:t>1週間でデモ環境をゼロから再構築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3000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  <a:latin typeface="Arial"/>
                        </a:defRPr>
                      </a:pPr>
                      <a:r>
                        <a:t>2月中~下旬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  <a:latin typeface="Arial"/>
                        </a:defRPr>
                      </a:pPr>
                      <a:r>
                        <a:t>金融AIチャット 完成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  <a:latin typeface="Arial"/>
                        </a:defRPr>
                      </a:pPr>
                      <a:r>
                        <a:t>フルスタック Web アプリ（React + Express + AWS）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3000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  <a:latin typeface="Arial"/>
                        </a:defRPr>
                      </a:pPr>
                      <a:r>
                        <a:t>3月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  <a:latin typeface="Arial"/>
                        </a:defRPr>
                      </a:pPr>
                      <a:r>
                        <a:t>DevOps Copilot デモ &amp; AI安全装置設計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  <a:latin typeface="Arial"/>
                        </a:defRPr>
                      </a:pPr>
                      <a:r>
                        <a:t>マルチエージェント + Hook/Linter 設計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3000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  <a:latin typeface="Arial"/>
                        </a:defRPr>
                      </a:pPr>
                      <a:r>
                        <a:t>4月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  <a:latin typeface="Arial"/>
                        </a:defRPr>
                      </a:pPr>
                      <a:r>
                        <a:t>PPTX分析の調査研究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  <a:latin typeface="Arial"/>
                        </a:defRPr>
                      </a:pPr>
                      <a:r>
                        <a:t>LLM入力評価フレームワーク設計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5" name="Rectangle 4"/>
          <p:cNvSpPr/>
          <p:nvPr/>
        </p:nvSpPr>
        <p:spPr>
          <a:xfrm>
            <a:off x="914400" y="5029200"/>
            <a:ext cx="10332720" cy="548640"/>
          </a:xfrm>
          <a:prstGeom prst="rect">
            <a:avLst/>
          </a:prstGeom>
          <a:solidFill>
            <a:srgbClr val="F3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914400" y="5029200"/>
            <a:ext cx="50800" cy="548640"/>
          </a:xfrm>
          <a:prstGeom prst="rect">
            <a:avLst/>
          </a:prstGeom>
          <a:solidFill>
            <a:srgbClr val="A1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143000" y="5102352"/>
            <a:ext cx="996696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333333"/>
                </a:solidFill>
                <a:latin typeface="Arial"/>
              </a:defRPr>
            </a:pPr>
            <a:r>
              <a:t>テーマが急に変わっても、短期間で動くプロトタイプを出せる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731520" y="365760"/>
            <a:ext cx="50800" cy="502920"/>
          </a:xfrm>
          <a:prstGeom prst="rect">
            <a:avLst/>
          </a:prstGeom>
          <a:solidFill>
            <a:srgbClr val="A1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914400" y="27432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000000"/>
                </a:solidFill>
                <a:latin typeface="Arial"/>
              </a:defRPr>
            </a:pPr>
            <a:r>
              <a:t>金融AIチャット: 全体アーキテクチャ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00584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4A4A4A"/>
                </a:solidFill>
                <a:latin typeface="Arial"/>
              </a:defRPr>
            </a:pPr>
            <a:r>
              <a:t>一人で設計・実装した範囲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914400" y="1463040"/>
            <a:ext cx="10332720" cy="1188720"/>
          </a:xfrm>
          <a:prstGeom prst="roundRect">
            <a:avLst/>
          </a:prstGeom>
          <a:solidFill>
            <a:srgbClr val="F5F5F5"/>
          </a:solidFill>
          <a:ln w="12700">
            <a:solidFill>
              <a:srgbClr val="BDBDB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spcBef>
                <a:spcPts val="0"/>
              </a:spcBef>
              <a:spcAft>
                <a:spcPts val="100"/>
              </a:spcAft>
              <a:defRPr sz="1000" b="0">
                <a:solidFill>
                  <a:srgbClr val="333333"/>
                </a:solidFill>
                <a:latin typeface="Arial"/>
              </a:defRPr>
            </a:pPr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1097280" y="1600200"/>
            <a:ext cx="1828800" cy="365760"/>
          </a:xfrm>
          <a:prstGeom prst="roundRect">
            <a:avLst/>
          </a:prstGeom>
          <a:solidFill>
            <a:srgbClr val="A100FF"/>
          </a:solidFill>
          <a:ln w="12700">
            <a:solidFill>
              <a:srgbClr val="A10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spcBef>
                <a:spcPts val="0"/>
              </a:spcBef>
              <a:spcAft>
                <a:spcPts val="100"/>
              </a:spcAft>
              <a:defRPr sz="1200" b="1">
                <a:solidFill>
                  <a:srgbClr val="FFFFFF"/>
                </a:solidFill>
                <a:latin typeface="Arial"/>
              </a:defRPr>
            </a:pPr>
            <a:r>
              <a:t>Frontend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108960" y="1572768"/>
            <a:ext cx="7315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4A4A4A"/>
                </a:solidFill>
                <a:latin typeface="Arial"/>
              </a:defRPr>
            </a:pPr>
            <a:r>
              <a:t>React + TypeScript + Vite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80160" y="2011680"/>
            <a:ext cx="9601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333333"/>
                </a:solidFill>
                <a:latin typeface="Arial"/>
              </a:defRPr>
            </a:pPr>
            <a:r>
              <a:t>チャットUI (SSEストリーミング)  |  ダッシュボード (KPI)  |  ユーザー設定  |  エージェント稼働表示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914400" y="2926080"/>
            <a:ext cx="10332720" cy="1188720"/>
          </a:xfrm>
          <a:prstGeom prst="roundRect">
            <a:avLst/>
          </a:prstGeom>
          <a:solidFill>
            <a:srgbClr val="F5F5F5"/>
          </a:solidFill>
          <a:ln w="12700">
            <a:solidFill>
              <a:srgbClr val="BDBDB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spcBef>
                <a:spcPts val="0"/>
              </a:spcBef>
              <a:spcAft>
                <a:spcPts val="100"/>
              </a:spcAft>
              <a:defRPr sz="1000" b="0">
                <a:solidFill>
                  <a:srgbClr val="333333"/>
                </a:solidFill>
                <a:latin typeface="Arial"/>
              </a:defRPr>
            </a:pPr>
            <a:endParaRPr/>
          </a:p>
        </p:txBody>
      </p:sp>
      <p:sp>
        <p:nvSpPr>
          <p:cNvPr id="10" name="Rounded Rectangle 9"/>
          <p:cNvSpPr/>
          <p:nvPr/>
        </p:nvSpPr>
        <p:spPr>
          <a:xfrm>
            <a:off x="1097280" y="3063240"/>
            <a:ext cx="1828800" cy="365760"/>
          </a:xfrm>
          <a:prstGeom prst="roundRect">
            <a:avLst/>
          </a:prstGeom>
          <a:solidFill>
            <a:srgbClr val="A100FF"/>
          </a:solidFill>
          <a:ln w="12700">
            <a:solidFill>
              <a:srgbClr val="A10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spcBef>
                <a:spcPts val="0"/>
              </a:spcBef>
              <a:spcAft>
                <a:spcPts val="100"/>
              </a:spcAft>
              <a:defRPr sz="1200" b="1">
                <a:solidFill>
                  <a:srgbClr val="FFFFFF"/>
                </a:solidFill>
                <a:latin typeface="Arial"/>
              </a:defRPr>
            </a:pPr>
            <a:r>
              <a:t>Backend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108960" y="3035808"/>
            <a:ext cx="7315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4A4A4A"/>
                </a:solidFill>
                <a:latin typeface="Arial"/>
              </a:defRPr>
            </a:pPr>
            <a:r>
              <a:t>Express + Node.js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280160" y="3474720"/>
            <a:ext cx="9601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333333"/>
                </a:solidFill>
                <a:latin typeface="Arial"/>
              </a:defRPr>
            </a:pPr>
            <a:r>
              <a:t>マルチエージェント・オーケストレーター  |  5専門サブエージェント  |  金融計算エンジン  |  2段階LLM呼び出し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914400" y="4389120"/>
            <a:ext cx="10332720" cy="1188720"/>
          </a:xfrm>
          <a:prstGeom prst="roundRect">
            <a:avLst/>
          </a:prstGeom>
          <a:solidFill>
            <a:srgbClr val="F5F5F5"/>
          </a:solidFill>
          <a:ln w="12700">
            <a:solidFill>
              <a:srgbClr val="BDBDB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spcBef>
                <a:spcPts val="0"/>
              </a:spcBef>
              <a:spcAft>
                <a:spcPts val="100"/>
              </a:spcAft>
              <a:defRPr sz="1000" b="0">
                <a:solidFill>
                  <a:srgbClr val="333333"/>
                </a:solidFill>
                <a:latin typeface="Arial"/>
              </a:defRPr>
            </a:pPr>
            <a:endParaRPr/>
          </a:p>
        </p:txBody>
      </p:sp>
      <p:sp>
        <p:nvSpPr>
          <p:cNvPr id="14" name="Rounded Rectangle 13"/>
          <p:cNvSpPr/>
          <p:nvPr/>
        </p:nvSpPr>
        <p:spPr>
          <a:xfrm>
            <a:off x="1097280" y="4526280"/>
            <a:ext cx="1828800" cy="365760"/>
          </a:xfrm>
          <a:prstGeom prst="roundRect">
            <a:avLst/>
          </a:prstGeom>
          <a:solidFill>
            <a:srgbClr val="A100FF"/>
          </a:solidFill>
          <a:ln w="12700">
            <a:solidFill>
              <a:srgbClr val="A10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spcBef>
                <a:spcPts val="0"/>
              </a:spcBef>
              <a:spcAft>
                <a:spcPts val="100"/>
              </a:spcAft>
              <a:defRPr sz="1200" b="1">
                <a:solidFill>
                  <a:srgbClr val="FFFFFF"/>
                </a:solidFill>
                <a:latin typeface="Arial"/>
              </a:defRPr>
            </a:pPr>
            <a:r>
              <a:t>Infrastructure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108960" y="4498848"/>
            <a:ext cx="7315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4A4A4A"/>
                </a:solidFill>
                <a:latin typeface="Arial"/>
              </a:defRPr>
            </a:pPr>
            <a:r>
              <a:t>AWS CDK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280160" y="4937759"/>
            <a:ext cx="9601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333333"/>
                </a:solidFill>
                <a:latin typeface="Arial"/>
              </a:defRPr>
            </a:pPr>
            <a:r>
              <a:t>ECS Fargate + ALB + CloudFront  |  Cognito認証  |  Docker  |  3スタック並列運用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731520" y="365760"/>
            <a:ext cx="50800" cy="502920"/>
          </a:xfrm>
          <a:prstGeom prst="rect">
            <a:avLst/>
          </a:prstGeom>
          <a:solidFill>
            <a:srgbClr val="A1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914400" y="27432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000000"/>
                </a:solidFill>
                <a:latin typeface="Arial"/>
              </a:defRPr>
            </a:pPr>
            <a:r>
              <a:t>マルチエージェント・オーケストレーション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00584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4A4A4A"/>
                </a:solidFill>
                <a:latin typeface="Arial"/>
              </a:defRPr>
            </a:pPr>
            <a:r>
              <a:t>6つの専門エージェントが連携して回答を生成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114800" y="1463040"/>
            <a:ext cx="3931920" cy="502920"/>
          </a:xfrm>
          <a:prstGeom prst="roundRect">
            <a:avLst/>
          </a:prstGeom>
          <a:solidFill>
            <a:srgbClr val="F5F5F5"/>
          </a:solidFill>
          <a:ln w="12700">
            <a:solidFill>
              <a:srgbClr val="BDBDB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spcBef>
                <a:spcPts val="0"/>
              </a:spcBef>
              <a:spcAft>
                <a:spcPts val="100"/>
              </a:spcAft>
              <a:defRPr sz="1200" b="1">
                <a:solidFill>
                  <a:srgbClr val="333333"/>
                </a:solidFill>
                <a:latin typeface="Arial"/>
              </a:defRPr>
            </a:pPr>
            <a:r>
              <a:t>ユーザー入力:「車を買いたい」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852160" y="1965960"/>
            <a:ext cx="457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A100FF"/>
                </a:solidFill>
                <a:latin typeface="Arial"/>
              </a:defRPr>
            </a:pPr>
            <a:r>
              <a:t>▼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286000" y="2286000"/>
            <a:ext cx="7589520" cy="731520"/>
          </a:xfrm>
          <a:prstGeom prst="roundRect">
            <a:avLst/>
          </a:prstGeom>
          <a:solidFill>
            <a:srgbClr val="F3E5FF"/>
          </a:solidFill>
          <a:ln w="19050">
            <a:solidFill>
              <a:srgbClr val="A10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spcBef>
                <a:spcPts val="0"/>
              </a:spcBef>
              <a:spcAft>
                <a:spcPts val="100"/>
              </a:spcAft>
              <a:defRPr sz="1100" b="1">
                <a:solidFill>
                  <a:srgbClr val="333333"/>
                </a:solidFill>
                <a:latin typeface="Arial"/>
              </a:defRPr>
            </a:pPr>
            <a:r>
              <a:t>総合FPエージェント（オーケストレーター）</a:t>
            </a:r>
          </a:p>
          <a:p>
            <a:pPr algn="ctr">
              <a:spcBef>
                <a:spcPts val="0"/>
              </a:spcBef>
              <a:spcAft>
                <a:spcPts val="100"/>
              </a:spcAft>
              <a:defRPr sz="1100" b="0">
                <a:solidFill>
                  <a:srgbClr val="333333"/>
                </a:solidFill>
                <a:latin typeface="Arial"/>
              </a:defRPr>
            </a:pPr>
            <a:r>
              <a:t>3段階ルーティング: ①キーワード → ②意図パターン → ③フォールバック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852160" y="3017520"/>
            <a:ext cx="457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A100FF"/>
                </a:solidFill>
                <a:latin typeface="Arial"/>
              </a:defRPr>
            </a:pPr>
            <a:r>
              <a:t>▼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371600" y="3383280"/>
            <a:ext cx="1691640" cy="594360"/>
          </a:xfrm>
          <a:prstGeom prst="roundRect">
            <a:avLst/>
          </a:prstGeom>
          <a:solidFill>
            <a:srgbClr val="F5F5F5"/>
          </a:solidFill>
          <a:ln w="12700">
            <a:solidFill>
              <a:srgbClr val="4A4A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spcBef>
                <a:spcPts val="0"/>
              </a:spcBef>
              <a:spcAft>
                <a:spcPts val="100"/>
              </a:spcAft>
              <a:defRPr sz="1100" b="1">
                <a:solidFill>
                  <a:srgbClr val="333333"/>
                </a:solidFill>
                <a:latin typeface="Arial"/>
              </a:defRPr>
            </a:pPr>
            <a:r>
              <a:t>保険</a:t>
            </a:r>
          </a:p>
          <a:p>
            <a:pPr algn="ctr">
              <a:spcBef>
                <a:spcPts val="0"/>
              </a:spcBef>
              <a:spcAft>
                <a:spcPts val="100"/>
              </a:spcAft>
              <a:defRPr sz="1100" b="0">
                <a:solidFill>
                  <a:srgbClr val="333333"/>
                </a:solidFill>
                <a:latin typeface="Arial"/>
              </a:defRPr>
            </a:pPr>
            <a:r>
              <a:t>Agent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337560" y="3383280"/>
            <a:ext cx="1691640" cy="594360"/>
          </a:xfrm>
          <a:prstGeom prst="roundRect">
            <a:avLst/>
          </a:prstGeom>
          <a:solidFill>
            <a:srgbClr val="F5F5F5"/>
          </a:solidFill>
          <a:ln w="12700">
            <a:solidFill>
              <a:srgbClr val="4A4A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spcBef>
                <a:spcPts val="0"/>
              </a:spcBef>
              <a:spcAft>
                <a:spcPts val="100"/>
              </a:spcAft>
              <a:defRPr sz="1100" b="1">
                <a:solidFill>
                  <a:srgbClr val="333333"/>
                </a:solidFill>
                <a:latin typeface="Arial"/>
              </a:defRPr>
            </a:pPr>
            <a:r>
              <a:t>税務</a:t>
            </a:r>
          </a:p>
          <a:p>
            <a:pPr algn="ctr">
              <a:spcBef>
                <a:spcPts val="0"/>
              </a:spcBef>
              <a:spcAft>
                <a:spcPts val="100"/>
              </a:spcAft>
              <a:defRPr sz="1100" b="0">
                <a:solidFill>
                  <a:srgbClr val="333333"/>
                </a:solidFill>
                <a:latin typeface="Arial"/>
              </a:defRPr>
            </a:pPr>
            <a:r>
              <a:t>Agent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303520" y="3383280"/>
            <a:ext cx="1691640" cy="594360"/>
          </a:xfrm>
          <a:prstGeom prst="roundRect">
            <a:avLst/>
          </a:prstGeom>
          <a:solidFill>
            <a:srgbClr val="F5F5F5"/>
          </a:solidFill>
          <a:ln w="12700">
            <a:solidFill>
              <a:srgbClr val="4A4A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spcBef>
                <a:spcPts val="0"/>
              </a:spcBef>
              <a:spcAft>
                <a:spcPts val="100"/>
              </a:spcAft>
              <a:defRPr sz="1100" b="1">
                <a:solidFill>
                  <a:srgbClr val="333333"/>
                </a:solidFill>
                <a:latin typeface="Arial"/>
              </a:defRPr>
            </a:pPr>
            <a:r>
              <a:t>家族</a:t>
            </a:r>
          </a:p>
          <a:p>
            <a:pPr algn="ctr">
              <a:spcBef>
                <a:spcPts val="0"/>
              </a:spcBef>
              <a:spcAft>
                <a:spcPts val="100"/>
              </a:spcAft>
              <a:defRPr sz="1100" b="0">
                <a:solidFill>
                  <a:srgbClr val="333333"/>
                </a:solidFill>
                <a:latin typeface="Arial"/>
              </a:defRPr>
            </a:pPr>
            <a:r>
              <a:t>Agent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269479" y="3383280"/>
            <a:ext cx="1691640" cy="594360"/>
          </a:xfrm>
          <a:prstGeom prst="roundRect">
            <a:avLst/>
          </a:prstGeom>
          <a:solidFill>
            <a:srgbClr val="F5F5F5"/>
          </a:solidFill>
          <a:ln w="12700">
            <a:solidFill>
              <a:srgbClr val="4A4A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spcBef>
                <a:spcPts val="0"/>
              </a:spcBef>
              <a:spcAft>
                <a:spcPts val="100"/>
              </a:spcAft>
              <a:defRPr sz="1100" b="1">
                <a:solidFill>
                  <a:srgbClr val="333333"/>
                </a:solidFill>
                <a:latin typeface="Arial"/>
              </a:defRPr>
            </a:pPr>
            <a:r>
              <a:t>投資</a:t>
            </a:r>
          </a:p>
          <a:p>
            <a:pPr algn="ctr">
              <a:spcBef>
                <a:spcPts val="0"/>
              </a:spcBef>
              <a:spcAft>
                <a:spcPts val="100"/>
              </a:spcAft>
              <a:defRPr sz="1100" b="0">
                <a:solidFill>
                  <a:srgbClr val="333333"/>
                </a:solidFill>
                <a:latin typeface="Arial"/>
              </a:defRPr>
            </a:pPr>
            <a:r>
              <a:t>Agent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9235440" y="3383280"/>
            <a:ext cx="1691640" cy="594360"/>
          </a:xfrm>
          <a:prstGeom prst="roundRect">
            <a:avLst/>
          </a:prstGeom>
          <a:solidFill>
            <a:srgbClr val="F5F5F5"/>
          </a:solidFill>
          <a:ln w="12700">
            <a:solidFill>
              <a:srgbClr val="4A4A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spcBef>
                <a:spcPts val="0"/>
              </a:spcBef>
              <a:spcAft>
                <a:spcPts val="100"/>
              </a:spcAft>
              <a:defRPr sz="1100" b="1">
                <a:solidFill>
                  <a:srgbClr val="333333"/>
                </a:solidFill>
                <a:latin typeface="Arial"/>
              </a:defRPr>
            </a:pPr>
            <a:r>
              <a:t>決済</a:t>
            </a:r>
          </a:p>
          <a:p>
            <a:pPr algn="ctr">
              <a:spcBef>
                <a:spcPts val="0"/>
              </a:spcBef>
              <a:spcAft>
                <a:spcPts val="100"/>
              </a:spcAft>
              <a:defRPr sz="1100" b="0">
                <a:solidFill>
                  <a:srgbClr val="333333"/>
                </a:solidFill>
                <a:latin typeface="Arial"/>
              </a:defRPr>
            </a:pPr>
            <a:r>
              <a:t>Agent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852160" y="4023360"/>
            <a:ext cx="457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A100FF"/>
                </a:solidFill>
                <a:latin typeface="Arial"/>
              </a:defRPr>
            </a:pPr>
            <a:r>
              <a:t>▼</a:t>
            </a:r>
          </a:p>
        </p:txBody>
      </p:sp>
      <p:sp>
        <p:nvSpPr>
          <p:cNvPr id="15" name="Rectangle 14"/>
          <p:cNvSpPr/>
          <p:nvPr/>
        </p:nvSpPr>
        <p:spPr>
          <a:xfrm>
            <a:off x="2286000" y="4389120"/>
            <a:ext cx="7589520" cy="502920"/>
          </a:xfrm>
          <a:prstGeom prst="rect">
            <a:avLst/>
          </a:prstGeom>
          <a:solidFill>
            <a:srgbClr val="F3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2286000" y="4389120"/>
            <a:ext cx="50800" cy="502920"/>
          </a:xfrm>
          <a:prstGeom prst="rect">
            <a:avLst/>
          </a:prstGeom>
          <a:solidFill>
            <a:srgbClr val="A1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2514600" y="4462272"/>
            <a:ext cx="7223760" cy="356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333333"/>
                </a:solidFill>
                <a:latin typeface="Arial"/>
              </a:defRPr>
            </a:pPr>
            <a:r>
              <a:t>SSE ストリーミングでパーソナライズされた回答を逐次表示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14400" y="5212080"/>
            <a:ext cx="103327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  <a:defRPr sz="1200" b="0">
                <a:solidFill>
                  <a:srgbClr val="4A4A4A"/>
                </a:solidFill>
                <a:latin typeface="Arial"/>
              </a:defRPr>
            </a:pPr>
            <a:r>
              <a:t>各エージェントの稼働状況をリアルタイム表示:</a:t>
            </a:r>
          </a:p>
          <a:p>
            <a:pPr algn="l">
              <a:spcBef>
                <a:spcPts val="0"/>
              </a:spcBef>
              <a:spcAft>
                <a:spcPts val="400"/>
              </a:spcAft>
              <a:defRPr sz="1200" b="1">
                <a:solidFill>
                  <a:srgbClr val="7B00C4"/>
                </a:solidFill>
                <a:latin typeface="Arial"/>
              </a:defRPr>
            </a:pPr>
            <a:r>
              <a:t>idle → activating → fetching → analyzing → responding → done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731520" y="365760"/>
            <a:ext cx="50800" cy="502920"/>
          </a:xfrm>
          <a:prstGeom prst="rect">
            <a:avLst/>
          </a:prstGeom>
          <a:solidFill>
            <a:srgbClr val="A1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914400" y="27432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000000"/>
                </a:solidFill>
                <a:latin typeface="Arial"/>
              </a:defRPr>
            </a:pPr>
            <a:r>
              <a:t>2段階 LLM 呼び出しの設計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00584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4A4A4A"/>
                </a:solidFill>
                <a:latin typeface="Arial"/>
              </a:defRPr>
            </a:pPr>
            <a:r>
              <a:t>なぜ 1回で済ませないのか？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914400" y="1554480"/>
            <a:ext cx="4846320" cy="411480"/>
          </a:xfrm>
          <a:prstGeom prst="roundRect">
            <a:avLst/>
          </a:prstGeom>
          <a:solidFill>
            <a:srgbClr val="000000"/>
          </a:solidFill>
          <a:ln w="1270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spcBef>
                <a:spcPts val="0"/>
              </a:spcBef>
              <a:spcAft>
                <a:spcPts val="100"/>
              </a:spcAft>
              <a:defRPr sz="1300" b="1">
                <a:solidFill>
                  <a:srgbClr val="FFFFFF"/>
                </a:solidFill>
                <a:latin typeface="Arial"/>
              </a:defRPr>
            </a:pPr>
            <a:r>
              <a:t>Call 1: 意図分類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2103120"/>
            <a:ext cx="4846320" cy="221086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  <a:spcAft>
                <a:spcPts val="200"/>
              </a:spcAft>
            </a:pPr>
            <a:r>
              <a:rPr sz="1300" b="1" dirty="0">
                <a:solidFill>
                  <a:srgbClr val="333333"/>
                </a:solidFill>
                <a:latin typeface="Arial"/>
              </a:rPr>
              <a:t>temperature = 0</a:t>
            </a:r>
          </a:p>
          <a:p>
            <a:pPr>
              <a:spcBef>
                <a:spcPts val="200"/>
              </a:spcBef>
              <a:spcAft>
                <a:spcPts val="200"/>
              </a:spcAft>
            </a:pPr>
            <a:r>
              <a:rPr sz="1200" dirty="0">
                <a:solidFill>
                  <a:srgbClr val="4A4A4A"/>
                </a:solidFill>
                <a:latin typeface="Arial"/>
              </a:rPr>
              <a:t>  </a:t>
            </a:r>
            <a:r>
              <a:rPr sz="1200" dirty="0" err="1">
                <a:solidFill>
                  <a:srgbClr val="4A4A4A"/>
                </a:solidFill>
                <a:latin typeface="Arial"/>
              </a:rPr>
              <a:t>再現性重視</a:t>
            </a:r>
            <a:r>
              <a:rPr sz="1200" dirty="0">
                <a:solidFill>
                  <a:srgbClr val="4A4A4A"/>
                </a:solidFill>
                <a:latin typeface="Arial"/>
              </a:rPr>
              <a:t> — </a:t>
            </a:r>
            <a:r>
              <a:rPr sz="1200" dirty="0" err="1">
                <a:solidFill>
                  <a:srgbClr val="4A4A4A"/>
                </a:solidFill>
                <a:latin typeface="Arial"/>
              </a:rPr>
              <a:t>同じ入力は必ず同じ分類</a:t>
            </a:r>
            <a:endParaRPr sz="1200" dirty="0">
              <a:solidFill>
                <a:srgbClr val="4A4A4A"/>
              </a:solidFill>
              <a:latin typeface="Arial"/>
            </a:endParaRPr>
          </a:p>
          <a:p>
            <a:pPr>
              <a:spcBef>
                <a:spcPts val="800"/>
              </a:spcBef>
              <a:spcAft>
                <a:spcPts val="200"/>
              </a:spcAft>
            </a:pPr>
            <a:r>
              <a:rPr sz="1300" b="1" dirty="0" err="1">
                <a:solidFill>
                  <a:srgbClr val="333333"/>
                </a:solidFill>
                <a:latin typeface="Arial"/>
              </a:rPr>
              <a:t>max_tokens</a:t>
            </a:r>
            <a:r>
              <a:rPr sz="1300" b="1" dirty="0">
                <a:solidFill>
                  <a:srgbClr val="333333"/>
                </a:solidFill>
                <a:latin typeface="Arial"/>
              </a:rPr>
              <a:t> = 100</a:t>
            </a:r>
          </a:p>
          <a:p>
            <a:pPr>
              <a:spcBef>
                <a:spcPts val="200"/>
              </a:spcBef>
              <a:spcAft>
                <a:spcPts val="200"/>
              </a:spcAft>
            </a:pPr>
            <a:r>
              <a:rPr sz="1200" dirty="0">
                <a:solidFill>
                  <a:srgbClr val="4A4A4A"/>
                </a:solidFill>
                <a:latin typeface="Arial"/>
              </a:rPr>
              <a:t>  </a:t>
            </a:r>
            <a:r>
              <a:rPr sz="1200" dirty="0" err="1">
                <a:solidFill>
                  <a:srgbClr val="4A4A4A"/>
                </a:solidFill>
                <a:latin typeface="Arial"/>
              </a:rPr>
              <a:t>高速・低コスト</a:t>
            </a:r>
            <a:endParaRPr sz="1200" dirty="0">
              <a:solidFill>
                <a:srgbClr val="4A4A4A"/>
              </a:solidFill>
              <a:latin typeface="Arial"/>
            </a:endParaRPr>
          </a:p>
          <a:p>
            <a:pPr>
              <a:spcBef>
                <a:spcPts val="800"/>
              </a:spcBef>
              <a:spcAft>
                <a:spcPts val="200"/>
              </a:spcAft>
            </a:pPr>
            <a:r>
              <a:rPr sz="1300" b="1" dirty="0">
                <a:solidFill>
                  <a:srgbClr val="333333"/>
                </a:solidFill>
                <a:latin typeface="Arial"/>
              </a:rPr>
              <a:t>JSON </a:t>
            </a:r>
            <a:r>
              <a:rPr sz="1300" b="1" dirty="0" err="1">
                <a:solidFill>
                  <a:srgbClr val="333333"/>
                </a:solidFill>
                <a:latin typeface="Arial"/>
              </a:rPr>
              <a:t>のみ出力</a:t>
            </a:r>
            <a:r>
              <a:rPr sz="1300" b="1" dirty="0">
                <a:solidFill>
                  <a:srgbClr val="333333"/>
                </a:solidFill>
                <a:latin typeface="Arial"/>
              </a:rPr>
              <a:t>:</a:t>
            </a:r>
          </a:p>
          <a:p>
            <a:pPr algn="l">
              <a:spcBef>
                <a:spcPts val="400"/>
              </a:spcBef>
              <a:spcAft>
                <a:spcPts val="400"/>
              </a:spcAft>
              <a:defRPr sz="1200" b="0">
                <a:solidFill>
                  <a:srgbClr val="7B00C4"/>
                </a:solidFill>
                <a:latin typeface="Arial"/>
              </a:defRPr>
            </a:pPr>
            <a:r>
              <a:rPr dirty="0"/>
              <a:t>  {"</a:t>
            </a:r>
            <a:r>
              <a:rPr dirty="0" err="1"/>
              <a:t>scenario":"housing</a:t>
            </a:r>
            <a:r>
              <a:rPr dirty="0"/>
              <a:t>", "</a:t>
            </a:r>
            <a:r>
              <a:rPr dirty="0" err="1"/>
              <a:t>subCategory</a:t>
            </a:r>
            <a:r>
              <a:rPr dirty="0"/>
              <a:t>":"purchase"}</a:t>
            </a:r>
          </a:p>
          <a:p>
            <a:pPr algn="l">
              <a:spcBef>
                <a:spcPts val="0"/>
              </a:spcBef>
              <a:spcAft>
                <a:spcPts val="400"/>
              </a:spcAft>
              <a:defRPr sz="600" b="0">
                <a:solidFill>
                  <a:srgbClr val="333333"/>
                </a:solidFill>
                <a:latin typeface="Arial"/>
              </a:defRPr>
            </a:pPr>
            <a:endParaRPr dirty="0"/>
          </a:p>
          <a:p>
            <a:pPr algn="l">
              <a:spcBef>
                <a:spcPts val="800"/>
              </a:spcBef>
              <a:spcAft>
                <a:spcPts val="400"/>
              </a:spcAft>
              <a:defRPr sz="1500" b="1">
                <a:solidFill>
                  <a:srgbClr val="A100FF"/>
                </a:solidFill>
                <a:latin typeface="Arial"/>
              </a:defRPr>
            </a:pPr>
            <a:r>
              <a:rPr dirty="0"/>
              <a:t>  </a:t>
            </a:r>
          </a:p>
        </p:txBody>
      </p:sp>
      <p:sp>
        <p:nvSpPr>
          <p:cNvPr id="7" name="Rectangle 6"/>
          <p:cNvSpPr/>
          <p:nvPr/>
        </p:nvSpPr>
        <p:spPr>
          <a:xfrm>
            <a:off x="6080760" y="1554480"/>
            <a:ext cx="12700" cy="3931920"/>
          </a:xfrm>
          <a:prstGeom prst="rect">
            <a:avLst/>
          </a:prstGeom>
          <a:solidFill>
            <a:srgbClr val="BDBDB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ounded Rectangle 7"/>
          <p:cNvSpPr/>
          <p:nvPr/>
        </p:nvSpPr>
        <p:spPr>
          <a:xfrm>
            <a:off x="6400800" y="1554480"/>
            <a:ext cx="4846320" cy="411480"/>
          </a:xfrm>
          <a:prstGeom prst="roundRect">
            <a:avLst/>
          </a:prstGeom>
          <a:solidFill>
            <a:srgbClr val="000000"/>
          </a:solidFill>
          <a:ln w="1270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spcBef>
                <a:spcPts val="0"/>
              </a:spcBef>
              <a:spcAft>
                <a:spcPts val="100"/>
              </a:spcAft>
              <a:defRPr sz="1300" b="1">
                <a:solidFill>
                  <a:srgbClr val="FFFFFF"/>
                </a:solidFill>
                <a:latin typeface="Arial"/>
              </a:defRPr>
            </a:pPr>
            <a:r>
              <a:t>Call 2: 回答生成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0" y="2103120"/>
            <a:ext cx="484632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  <a:spcAft>
                <a:spcPts val="200"/>
              </a:spcAft>
            </a:pPr>
            <a:r>
              <a:rPr sz="1300" b="1">
                <a:solidFill>
                  <a:srgbClr val="333333"/>
                </a:solidFill>
                <a:latin typeface="Arial"/>
              </a:rPr>
              <a:t>temperature = 0.7</a:t>
            </a:r>
          </a:p>
          <a:p>
            <a:pPr>
              <a:spcBef>
                <a:spcPts val="200"/>
              </a:spcBef>
              <a:spcAft>
                <a:spcPts val="200"/>
              </a:spcAft>
            </a:pPr>
            <a:r>
              <a:rPr sz="1200">
                <a:solidFill>
                  <a:srgbClr val="4A4A4A"/>
                </a:solidFill>
                <a:latin typeface="Arial"/>
              </a:rPr>
              <a:t>  自然さ重視</a:t>
            </a:r>
          </a:p>
          <a:p>
            <a:pPr>
              <a:spcBef>
                <a:spcPts val="800"/>
              </a:spcBef>
              <a:spcAft>
                <a:spcPts val="200"/>
              </a:spcAft>
            </a:pPr>
            <a:r>
              <a:rPr sz="1300" b="1">
                <a:solidFill>
                  <a:srgbClr val="333333"/>
                </a:solidFill>
                <a:latin typeface="Arial"/>
              </a:rPr>
              <a:t>max_tokens = 2000</a:t>
            </a:r>
          </a:p>
          <a:p>
            <a:pPr>
              <a:spcBef>
                <a:spcPts val="200"/>
              </a:spcBef>
              <a:spcAft>
                <a:spcPts val="200"/>
              </a:spcAft>
            </a:pPr>
            <a:r>
              <a:rPr sz="1200">
                <a:solidFill>
                  <a:srgbClr val="4A4A4A"/>
                </a:solidFill>
                <a:latin typeface="Arial"/>
              </a:rPr>
              <a:t>  SSE ストリーミング</a:t>
            </a:r>
          </a:p>
          <a:p>
            <a:pPr algn="l">
              <a:spcBef>
                <a:spcPts val="0"/>
              </a:spcBef>
              <a:spcAft>
                <a:spcPts val="400"/>
              </a:spcAft>
              <a:defRPr sz="600" b="0">
                <a:solidFill>
                  <a:srgbClr val="333333"/>
                </a:solidFill>
                <a:latin typeface="Arial"/>
              </a:defRPr>
            </a:pPr>
            <a:endParaRPr sz="1200">
              <a:solidFill>
                <a:srgbClr val="4A4A4A"/>
              </a:solidFill>
              <a:latin typeface="Arial"/>
            </a:endParaRPr>
          </a:p>
          <a:p>
            <a:pPr algn="l">
              <a:spcBef>
                <a:spcPts val="800"/>
              </a:spcBef>
              <a:spcAft>
                <a:spcPts val="400"/>
              </a:spcAft>
              <a:defRPr sz="1300" b="1">
                <a:solidFill>
                  <a:srgbClr val="000000"/>
                </a:solidFill>
                <a:latin typeface="Arial"/>
              </a:defRPr>
            </a:pPr>
            <a:r>
              <a:t>  注入するコンテキスト:</a:t>
            </a:r>
          </a:p>
          <a:p>
            <a:pPr>
              <a:spcBef>
                <a:spcPts val="400"/>
              </a:spcBef>
              <a:spcAft>
                <a:spcPts val="200"/>
              </a:spcAft>
            </a:pPr>
            <a:r>
              <a:rPr sz="1200">
                <a:solidFill>
                  <a:srgbClr val="333333"/>
                </a:solidFill>
                <a:latin typeface="Arial"/>
              </a:rPr>
              <a:t>  ユーザーの資産・家族情報</a:t>
            </a:r>
          </a:p>
          <a:p>
            <a:pPr>
              <a:spcBef>
                <a:spcPts val="200"/>
              </a:spcBef>
              <a:spcAft>
                <a:spcPts val="200"/>
              </a:spcAft>
            </a:pPr>
            <a:r>
              <a:rPr sz="1200">
                <a:solidFill>
                  <a:srgbClr val="333333"/>
                </a:solidFill>
                <a:latin typeface="Arial"/>
              </a:rPr>
              <a:t>  シナリオ別の専門知識</a:t>
            </a:r>
          </a:p>
          <a:p>
            <a:pPr>
              <a:spcBef>
                <a:spcPts val="200"/>
              </a:spcBef>
              <a:spcAft>
                <a:spcPts val="200"/>
              </a:spcAft>
            </a:pPr>
            <a:r>
              <a:rPr sz="1200" b="1">
                <a:solidFill>
                  <a:srgbClr val="333333"/>
                </a:solidFill>
                <a:latin typeface="Arial"/>
              </a:rPr>
              <a:t>事前計算済みの金融指標</a:t>
            </a:r>
          </a:p>
        </p:txBody>
      </p:sp>
      <p:sp>
        <p:nvSpPr>
          <p:cNvPr id="10" name="Rectangle 9"/>
          <p:cNvSpPr/>
          <p:nvPr/>
        </p:nvSpPr>
        <p:spPr>
          <a:xfrm>
            <a:off x="914400" y="5577840"/>
            <a:ext cx="10332720" cy="548640"/>
          </a:xfrm>
          <a:prstGeom prst="rect">
            <a:avLst/>
          </a:prstGeom>
          <a:solidFill>
            <a:srgbClr val="F3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914400" y="5577840"/>
            <a:ext cx="50800" cy="548640"/>
          </a:xfrm>
          <a:prstGeom prst="rect">
            <a:avLst/>
          </a:prstGeom>
          <a:solidFill>
            <a:srgbClr val="A1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1143000" y="5650992"/>
            <a:ext cx="996696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333333"/>
                </a:solidFill>
                <a:latin typeface="Arial"/>
              </a:defRPr>
            </a:pPr>
            <a:r>
              <a:t>分離の狙い: 分類ミスと回答品質の問題を独立して対処できる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731520" y="365760"/>
            <a:ext cx="50800" cy="502920"/>
          </a:xfrm>
          <a:prstGeom prst="rect">
            <a:avLst/>
          </a:prstGeom>
          <a:solidFill>
            <a:srgbClr val="A1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914400" y="27432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000000"/>
                </a:solidFill>
                <a:latin typeface="Arial"/>
              </a:defRPr>
            </a:pPr>
            <a:r>
              <a:t>金融計算エンジン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00584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4A4A4A"/>
                </a:solidFill>
                <a:latin typeface="Arial"/>
              </a:defRPr>
            </a:pPr>
            <a:r>
              <a:t>LLM に計算させない — 事前に正確な数値を算出してコンテキストに注入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914400" y="1554480"/>
          <a:ext cx="10332720" cy="294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116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9319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3891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20000"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計算機能</a:t>
                      </a:r>
                    </a:p>
                  </a:txBody>
                  <a:tcPr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内容</a:t>
                      </a:r>
                    </a:p>
                  </a:txBody>
                  <a:tcPr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例</a:t>
                      </a:r>
                    </a:p>
                  </a:txBody>
                  <a:tcPr>
                    <a:solidFill>
                      <a:srgbClr val="00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2000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  <a:latin typeface="Arial"/>
                        </a:defRPr>
                      </a:pPr>
                      <a:r>
                        <a:t>資産集計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  <a:latin typeface="Arial"/>
                        </a:defRPr>
                      </a:pPr>
                      <a:r>
                        <a:t>流動性別に分類（即金/投資/固定）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  <a:latin typeface="Arial"/>
                        </a:defRPr>
                      </a:pPr>
                      <a:r>
                        <a:t>預金290万 + NISA360万 + iDeCo180万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2000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  <a:latin typeface="Arial"/>
                        </a:defRPr>
                      </a:pPr>
                      <a:r>
                        <a:t>購入可能額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  <a:latin typeface="Arial"/>
                        </a:defRPr>
                      </a:pPr>
                      <a:r>
                        <a:t>頭金 + ローンシミュレーション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  <a:latin typeface="Arial"/>
                        </a:defRPr>
                      </a:pPr>
                      <a:r>
                        <a:t>頭金290万 + 5年ローン345万 = 635万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2000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  <a:latin typeface="Arial"/>
                        </a:defRPr>
                      </a:pPr>
                      <a:r>
                        <a:t>リフォーム予算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  <a:latin typeface="Arial"/>
                        </a:defRPr>
                      </a:pPr>
                      <a:r>
                        <a:t>自己資金 + 10年ローン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  <a:latin typeface="Arial"/>
                        </a:defRPr>
                      </a:pPr>
                      <a:r>
                        <a:t>自己資金290万 + ローン690万 = 980万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2000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  <a:latin typeface="Arial"/>
                        </a:defRPr>
                      </a:pPr>
                      <a:r>
                        <a:t>NISA/iDeCo予測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  <a:latin typeface="Arial"/>
                        </a:defRPr>
                      </a:pPr>
                      <a:r>
                        <a:t>積立シミュレーション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  <a:latin typeface="Arial"/>
                        </a:defRPr>
                      </a:pPr>
                      <a:r>
                        <a:t>現在540万 → 20年後の予測額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2000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  <a:latin typeface="Arial"/>
                        </a:defRPr>
                      </a:pPr>
                      <a:r>
                        <a:t>税率計算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  <a:latin typeface="Arial"/>
                        </a:defRPr>
                      </a:pPr>
                      <a:r>
                        <a:t>年収から税率・控除額を算出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  <a:latin typeface="Arial"/>
                        </a:defRPr>
                      </a:pPr>
                      <a:r>
                        <a:t>年収650万 → ふるさと納税上限 約13万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2000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  <a:latin typeface="Arial"/>
                        </a:defRPr>
                      </a:pPr>
                      <a:r>
                        <a:t>緊急資金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  <a:latin typeface="Arial"/>
                        </a:defRPr>
                      </a:pPr>
                      <a:r>
                        <a:t>月支出 × 6ヶ月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  <a:latin typeface="Arial"/>
                        </a:defRPr>
                      </a:pPr>
                      <a:r>
                        <a:t>必要額の自動算出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6" name="Rectangle 5"/>
          <p:cNvSpPr/>
          <p:nvPr/>
        </p:nvSpPr>
        <p:spPr>
          <a:xfrm>
            <a:off x="914400" y="5303520"/>
            <a:ext cx="10332720" cy="548640"/>
          </a:xfrm>
          <a:prstGeom prst="rect">
            <a:avLst/>
          </a:prstGeom>
          <a:solidFill>
            <a:srgbClr val="F3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914400" y="5303520"/>
            <a:ext cx="50800" cy="548640"/>
          </a:xfrm>
          <a:prstGeom prst="rect">
            <a:avLst/>
          </a:prstGeom>
          <a:solidFill>
            <a:srgbClr val="A1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143000" y="5376672"/>
            <a:ext cx="996696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333333"/>
                </a:solidFill>
                <a:latin typeface="Arial"/>
              </a:defRPr>
            </a:pPr>
            <a:r>
              <a:t>設計思想: LLM は「判断」と「説明」に集中させ、「計算」はプログラムで正確に行う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731520" y="365760"/>
            <a:ext cx="50800" cy="502920"/>
          </a:xfrm>
          <a:prstGeom prst="rect">
            <a:avLst/>
          </a:prstGeom>
          <a:solidFill>
            <a:srgbClr val="A1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914400" y="27432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000000"/>
                </a:solidFill>
                <a:latin typeface="Arial"/>
              </a:defRPr>
            </a:pPr>
            <a:r>
              <a:t>5つの専門知識ドメイン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00584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4A4A4A"/>
                </a:solidFill>
                <a:latin typeface="Arial"/>
              </a:defRPr>
            </a:pPr>
            <a:r>
              <a:t>各サブエージェントに注入する知識ベース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463040"/>
            <a:ext cx="2011680" cy="411480"/>
          </a:xfrm>
          <a:prstGeom prst="roundRect">
            <a:avLst/>
          </a:prstGeom>
          <a:solidFill>
            <a:srgbClr val="000000"/>
          </a:solidFill>
          <a:ln w="1270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spcBef>
                <a:spcPts val="0"/>
              </a:spcBef>
              <a:spcAft>
                <a:spcPts val="100"/>
              </a:spcAft>
              <a:defRPr sz="1100" b="1">
                <a:solidFill>
                  <a:srgbClr val="FFFFFF"/>
                </a:solidFill>
                <a:latin typeface="Arial"/>
              </a:defRPr>
            </a:pPr>
            <a:r>
              <a:t>保険エージェント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920240"/>
            <a:ext cx="2011680" cy="45720"/>
          </a:xfrm>
          <a:prstGeom prst="roundRect">
            <a:avLst/>
          </a:prstGeom>
          <a:solidFill>
            <a:srgbClr val="A100FF"/>
          </a:solidFill>
          <a:ln w="12700">
            <a:solidFill>
              <a:srgbClr val="A10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spcBef>
                <a:spcPts val="0"/>
              </a:spcBef>
              <a:spcAft>
                <a:spcPts val="100"/>
              </a:spcAft>
              <a:defRPr sz="100" b="0">
                <a:solidFill>
                  <a:srgbClr val="333333"/>
                </a:solidFill>
                <a:latin typeface="Arial"/>
              </a:defRPr>
            </a:pPr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777240" y="2057400"/>
            <a:ext cx="192024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300"/>
              </a:spcBef>
              <a:spcAft>
                <a:spcPts val="200"/>
              </a:spcAft>
            </a:pPr>
            <a:r>
              <a:rPr sz="1000">
                <a:solidFill>
                  <a:srgbClr val="333333"/>
                </a:solidFill>
                <a:latin typeface="Arial"/>
              </a:rPr>
              <a:t>  dカードGOLD 付帯保険</a:t>
            </a:r>
          </a:p>
          <a:p>
            <a:pPr>
              <a:spcBef>
                <a:spcPts val="300"/>
              </a:spcBef>
              <a:spcAft>
                <a:spcPts val="200"/>
              </a:spcAft>
            </a:pPr>
            <a:r>
              <a:rPr sz="1000">
                <a:solidFill>
                  <a:srgbClr val="333333"/>
                </a:solidFill>
                <a:latin typeface="Arial"/>
              </a:rPr>
              <a:t>  （海外最大1億円）</a:t>
            </a:r>
          </a:p>
          <a:p>
            <a:pPr>
              <a:spcBef>
                <a:spcPts val="300"/>
              </a:spcBef>
              <a:spcAft>
                <a:spcPts val="200"/>
              </a:spcAft>
            </a:pPr>
            <a:r>
              <a:rPr sz="1000">
                <a:solidFill>
                  <a:srgbClr val="333333"/>
                </a:solidFill>
                <a:latin typeface="Arial"/>
              </a:rPr>
              <a:t>  家族特約・ペット・ゴルフ保険</a:t>
            </a:r>
          </a:p>
          <a:p>
            <a:pPr>
              <a:spcBef>
                <a:spcPts val="300"/>
              </a:spcBef>
              <a:spcAft>
                <a:spcPts val="200"/>
              </a:spcAft>
            </a:pPr>
            <a:r>
              <a:rPr sz="1000">
                <a:solidFill>
                  <a:srgbClr val="333333"/>
                </a:solidFill>
                <a:latin typeface="Arial"/>
              </a:rPr>
              <a:t>  リスク評価に基づく提案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944368" y="1463040"/>
            <a:ext cx="2011680" cy="411480"/>
          </a:xfrm>
          <a:prstGeom prst="roundRect">
            <a:avLst/>
          </a:prstGeom>
          <a:solidFill>
            <a:srgbClr val="000000"/>
          </a:solidFill>
          <a:ln w="1270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spcBef>
                <a:spcPts val="0"/>
              </a:spcBef>
              <a:spcAft>
                <a:spcPts val="100"/>
              </a:spcAft>
              <a:defRPr sz="1100" b="1">
                <a:solidFill>
                  <a:srgbClr val="FFFFFF"/>
                </a:solidFill>
                <a:latin typeface="Arial"/>
              </a:defRPr>
            </a:pPr>
            <a:r>
              <a:t>税務エージェント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944368" y="1920240"/>
            <a:ext cx="2011680" cy="45720"/>
          </a:xfrm>
          <a:prstGeom prst="roundRect">
            <a:avLst/>
          </a:prstGeom>
          <a:solidFill>
            <a:srgbClr val="A100FF"/>
          </a:solidFill>
          <a:ln w="12700">
            <a:solidFill>
              <a:srgbClr val="A10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spcBef>
                <a:spcPts val="0"/>
              </a:spcBef>
              <a:spcAft>
                <a:spcPts val="100"/>
              </a:spcAft>
              <a:defRPr sz="100" b="0">
                <a:solidFill>
                  <a:srgbClr val="333333"/>
                </a:solidFill>
                <a:latin typeface="Arial"/>
              </a:defRPr>
            </a:pPr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2990087" y="2057400"/>
            <a:ext cx="192024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300"/>
              </a:spcBef>
              <a:spcAft>
                <a:spcPts val="200"/>
              </a:spcAft>
            </a:pPr>
            <a:r>
              <a:rPr sz="1000">
                <a:solidFill>
                  <a:srgbClr val="333333"/>
                </a:solidFill>
                <a:latin typeface="Arial"/>
              </a:rPr>
              <a:t>  確定申告の自動仕分け</a:t>
            </a:r>
          </a:p>
          <a:p>
            <a:pPr>
              <a:spcBef>
                <a:spcPts val="300"/>
              </a:spcBef>
              <a:spcAft>
                <a:spcPts val="200"/>
              </a:spcAft>
            </a:pPr>
            <a:r>
              <a:rPr sz="1000">
                <a:solidFill>
                  <a:srgbClr val="333333"/>
                </a:solidFill>
                <a:latin typeface="Arial"/>
              </a:rPr>
              <a:t>  （医療/事業/寄付）</a:t>
            </a:r>
          </a:p>
          <a:p>
            <a:pPr>
              <a:spcBef>
                <a:spcPts val="300"/>
              </a:spcBef>
              <a:spcAft>
                <a:spcPts val="200"/>
              </a:spcAft>
            </a:pPr>
            <a:r>
              <a:rPr sz="1000">
                <a:solidFill>
                  <a:srgbClr val="333333"/>
                </a:solidFill>
                <a:latin typeface="Arial"/>
              </a:rPr>
              <a:t>  ふるさと納税・iDeCo</a:t>
            </a:r>
          </a:p>
          <a:p>
            <a:pPr>
              <a:spcBef>
                <a:spcPts val="300"/>
              </a:spcBef>
              <a:spcAft>
                <a:spcPts val="200"/>
              </a:spcAft>
            </a:pPr>
            <a:r>
              <a:rPr sz="1000">
                <a:solidFill>
                  <a:srgbClr val="333333"/>
                </a:solidFill>
                <a:latin typeface="Arial"/>
              </a:rPr>
              <a:t>  住宅ローン控除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157216" y="1463040"/>
            <a:ext cx="2011680" cy="411480"/>
          </a:xfrm>
          <a:prstGeom prst="roundRect">
            <a:avLst/>
          </a:prstGeom>
          <a:solidFill>
            <a:srgbClr val="000000"/>
          </a:solidFill>
          <a:ln w="1270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spcBef>
                <a:spcPts val="0"/>
              </a:spcBef>
              <a:spcAft>
                <a:spcPts val="100"/>
              </a:spcAft>
              <a:defRPr sz="1100" b="1">
                <a:solidFill>
                  <a:srgbClr val="FFFFFF"/>
                </a:solidFill>
                <a:latin typeface="Arial"/>
              </a:defRPr>
            </a:pPr>
            <a:r>
              <a:t>家族エージェント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157216" y="1920240"/>
            <a:ext cx="2011680" cy="45720"/>
          </a:xfrm>
          <a:prstGeom prst="roundRect">
            <a:avLst/>
          </a:prstGeom>
          <a:solidFill>
            <a:srgbClr val="A100FF"/>
          </a:solidFill>
          <a:ln w="12700">
            <a:solidFill>
              <a:srgbClr val="A10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spcBef>
                <a:spcPts val="0"/>
              </a:spcBef>
              <a:spcAft>
                <a:spcPts val="100"/>
              </a:spcAft>
              <a:defRPr sz="100" b="0">
                <a:solidFill>
                  <a:srgbClr val="333333"/>
                </a:solidFill>
                <a:latin typeface="Arial"/>
              </a:defRPr>
            </a:pPr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5202936" y="2057400"/>
            <a:ext cx="192024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300"/>
              </a:spcBef>
              <a:spcAft>
                <a:spcPts val="200"/>
              </a:spcAft>
            </a:pPr>
            <a:r>
              <a:rPr sz="1000">
                <a:solidFill>
                  <a:srgbClr val="333333"/>
                </a:solidFill>
                <a:latin typeface="Arial"/>
              </a:rPr>
              <a:t>  教育費目安</a:t>
            </a:r>
          </a:p>
          <a:p>
            <a:pPr>
              <a:spcBef>
                <a:spcPts val="300"/>
              </a:spcBef>
              <a:spcAft>
                <a:spcPts val="200"/>
              </a:spcAft>
            </a:pPr>
            <a:r>
              <a:rPr sz="1000">
                <a:solidFill>
                  <a:srgbClr val="333333"/>
                </a:solidFill>
                <a:latin typeface="Arial"/>
              </a:rPr>
              <a:t>  （国立250万~私立理系550万）</a:t>
            </a:r>
          </a:p>
          <a:p>
            <a:pPr>
              <a:spcBef>
                <a:spcPts val="300"/>
              </a:spcBef>
              <a:spcAft>
                <a:spcPts val="200"/>
              </a:spcAft>
            </a:pPr>
            <a:r>
              <a:rPr sz="1000">
                <a:solidFill>
                  <a:srgbClr val="333333"/>
                </a:solidFill>
                <a:latin typeface="Arial"/>
              </a:rPr>
              <a:t>  ジュニアNISA→新NISA移行</a:t>
            </a:r>
          </a:p>
          <a:p>
            <a:pPr>
              <a:spcBef>
                <a:spcPts val="300"/>
              </a:spcBef>
              <a:spcAft>
                <a:spcPts val="200"/>
              </a:spcAft>
            </a:pPr>
            <a:r>
              <a:rPr sz="1000">
                <a:solidFill>
                  <a:srgbClr val="333333"/>
                </a:solidFill>
                <a:latin typeface="Arial"/>
              </a:rPr>
              <a:t>  家族カード・相続/贈与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370064" y="1463040"/>
            <a:ext cx="2011680" cy="411480"/>
          </a:xfrm>
          <a:prstGeom prst="roundRect">
            <a:avLst/>
          </a:prstGeom>
          <a:solidFill>
            <a:srgbClr val="000000"/>
          </a:solidFill>
          <a:ln w="1270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spcBef>
                <a:spcPts val="0"/>
              </a:spcBef>
              <a:spcAft>
                <a:spcPts val="100"/>
              </a:spcAft>
              <a:defRPr sz="1100" b="1">
                <a:solidFill>
                  <a:srgbClr val="FFFFFF"/>
                </a:solidFill>
                <a:latin typeface="Arial"/>
              </a:defRPr>
            </a:pPr>
            <a:r>
              <a:t>投資エージェント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370064" y="1920240"/>
            <a:ext cx="2011680" cy="45720"/>
          </a:xfrm>
          <a:prstGeom prst="roundRect">
            <a:avLst/>
          </a:prstGeom>
          <a:solidFill>
            <a:srgbClr val="A100FF"/>
          </a:solidFill>
          <a:ln w="12700">
            <a:solidFill>
              <a:srgbClr val="A10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spcBef>
                <a:spcPts val="0"/>
              </a:spcBef>
              <a:spcAft>
                <a:spcPts val="100"/>
              </a:spcAft>
              <a:defRPr sz="100" b="0">
                <a:solidFill>
                  <a:srgbClr val="333333"/>
                </a:solidFill>
                <a:latin typeface="Arial"/>
              </a:defRPr>
            </a:pPr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7415784" y="2057400"/>
            <a:ext cx="192024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300"/>
              </a:spcBef>
              <a:spcAft>
                <a:spcPts val="200"/>
              </a:spcAft>
            </a:pPr>
            <a:r>
              <a:rPr sz="1000">
                <a:solidFill>
                  <a:srgbClr val="333333"/>
                </a:solidFill>
                <a:latin typeface="Arial"/>
              </a:rPr>
              <a:t>  新NISA（年120万つみたて</a:t>
            </a:r>
          </a:p>
          <a:p>
            <a:pPr>
              <a:spcBef>
                <a:spcPts val="300"/>
              </a:spcBef>
              <a:spcAft>
                <a:spcPts val="200"/>
              </a:spcAft>
            </a:pPr>
            <a:r>
              <a:rPr sz="1000">
                <a:solidFill>
                  <a:srgbClr val="333333"/>
                </a:solidFill>
                <a:latin typeface="Arial"/>
              </a:rPr>
              <a:t>  +240万成長枠）</a:t>
            </a:r>
          </a:p>
          <a:p>
            <a:pPr>
              <a:spcBef>
                <a:spcPts val="300"/>
              </a:spcBef>
              <a:spcAft>
                <a:spcPts val="200"/>
              </a:spcAft>
            </a:pPr>
            <a:r>
              <a:rPr sz="1000">
                <a:solidFill>
                  <a:srgbClr val="333333"/>
                </a:solidFill>
                <a:latin typeface="Arial"/>
              </a:rPr>
              <a:t>  iDeCo・dポイント投資</a:t>
            </a:r>
          </a:p>
          <a:p>
            <a:pPr>
              <a:spcBef>
                <a:spcPts val="300"/>
              </a:spcBef>
              <a:spcAft>
                <a:spcPts val="200"/>
              </a:spcAft>
            </a:pPr>
            <a:r>
              <a:rPr sz="1000">
                <a:solidFill>
                  <a:srgbClr val="333333"/>
                </a:solidFill>
                <a:latin typeface="Arial"/>
              </a:rPr>
              <a:t>  リバランス・将来予測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9582912" y="1463040"/>
            <a:ext cx="2011680" cy="411480"/>
          </a:xfrm>
          <a:prstGeom prst="roundRect">
            <a:avLst/>
          </a:prstGeom>
          <a:solidFill>
            <a:srgbClr val="000000"/>
          </a:solidFill>
          <a:ln w="1270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spcBef>
                <a:spcPts val="0"/>
              </a:spcBef>
              <a:spcAft>
                <a:spcPts val="100"/>
              </a:spcAft>
              <a:defRPr sz="1100" b="1">
                <a:solidFill>
                  <a:srgbClr val="FFFFFF"/>
                </a:solidFill>
                <a:latin typeface="Arial"/>
              </a:defRPr>
            </a:pPr>
            <a:r>
              <a:t>決済エージェント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9582912" y="1920240"/>
            <a:ext cx="2011680" cy="45720"/>
          </a:xfrm>
          <a:prstGeom prst="roundRect">
            <a:avLst/>
          </a:prstGeom>
          <a:solidFill>
            <a:srgbClr val="A100FF"/>
          </a:solidFill>
          <a:ln w="12700">
            <a:solidFill>
              <a:srgbClr val="A10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spcBef>
                <a:spcPts val="0"/>
              </a:spcBef>
              <a:spcAft>
                <a:spcPts val="100"/>
              </a:spcAft>
              <a:defRPr sz="100" b="0">
                <a:solidFill>
                  <a:srgbClr val="333333"/>
                </a:solidFill>
                <a:latin typeface="Arial"/>
              </a:defRPr>
            </a:pPr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9628632" y="2057400"/>
            <a:ext cx="192024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300"/>
              </a:spcBef>
              <a:spcAft>
                <a:spcPts val="200"/>
              </a:spcAft>
            </a:pPr>
            <a:r>
              <a:rPr sz="1000">
                <a:solidFill>
                  <a:srgbClr val="333333"/>
                </a:solidFill>
                <a:latin typeface="Arial"/>
              </a:rPr>
              <a:t>  dカードGOLD</a:t>
            </a:r>
          </a:p>
          <a:p>
            <a:pPr>
              <a:spcBef>
                <a:spcPts val="300"/>
              </a:spcBef>
              <a:spcAft>
                <a:spcPts val="200"/>
              </a:spcAft>
            </a:pPr>
            <a:r>
              <a:rPr sz="1000">
                <a:solidFill>
                  <a:srgbClr val="333333"/>
                </a:solidFill>
                <a:latin typeface="Arial"/>
              </a:rPr>
              <a:t>  （年会費1.1万/還元率10%）</a:t>
            </a:r>
          </a:p>
          <a:p>
            <a:pPr>
              <a:spcBef>
                <a:spcPts val="300"/>
              </a:spcBef>
              <a:spcAft>
                <a:spcPts val="200"/>
              </a:spcAft>
            </a:pPr>
            <a:r>
              <a:rPr sz="1000">
                <a:solidFill>
                  <a:srgbClr val="333333"/>
                </a:solidFill>
                <a:latin typeface="Arial"/>
              </a:rPr>
              <a:t>  d払い（0.5~1.5%還元）</a:t>
            </a:r>
          </a:p>
          <a:p>
            <a:pPr>
              <a:spcBef>
                <a:spcPts val="300"/>
              </a:spcBef>
              <a:spcAft>
                <a:spcPts val="200"/>
              </a:spcAft>
            </a:pPr>
            <a:r>
              <a:rPr sz="1000">
                <a:solidFill>
                  <a:srgbClr val="333333"/>
                </a:solidFill>
                <a:latin typeface="Arial"/>
              </a:rPr>
              <a:t>  サブスク検知・失効アラート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731520" y="365760"/>
            <a:ext cx="50800" cy="502920"/>
          </a:xfrm>
          <a:prstGeom prst="rect">
            <a:avLst/>
          </a:prstGeom>
          <a:solidFill>
            <a:srgbClr val="A1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914400" y="27432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000000"/>
                </a:solidFill>
                <a:latin typeface="Arial"/>
              </a:defRPr>
            </a:pPr>
            <a:r>
              <a:t>デモシナリオ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188720"/>
            <a:ext cx="48463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  <a:defRPr sz="1600" b="1">
                <a:solidFill>
                  <a:srgbClr val="000000"/>
                </a:solidFill>
                <a:latin typeface="Arial"/>
              </a:defRPr>
            </a:pPr>
            <a:r>
              <a:t>3つの自動デモ</a:t>
            </a:r>
          </a:p>
          <a:p>
            <a:pPr algn="l">
              <a:spcBef>
                <a:spcPts val="1000"/>
              </a:spcBef>
              <a:spcAft>
                <a:spcPts val="400"/>
              </a:spcAft>
              <a:defRPr sz="1400" b="1">
                <a:solidFill>
                  <a:srgbClr val="7B00C4"/>
                </a:solidFill>
                <a:latin typeface="Arial"/>
              </a:defRPr>
            </a:pPr>
            <a:r>
              <a:t>1. 空港検知 → 旅行保険</a:t>
            </a:r>
          </a:p>
          <a:p>
            <a:pPr>
              <a:spcBef>
                <a:spcPts val="200"/>
              </a:spcBef>
              <a:spcAft>
                <a:spcPts val="200"/>
              </a:spcAft>
            </a:pPr>
            <a:r>
              <a:rPr sz="1200">
                <a:solidFill>
                  <a:srgbClr val="333333"/>
                </a:solidFill>
                <a:latin typeface="Arial"/>
              </a:rPr>
              <a:t>  位置情報トリガーで海外旅行保険を即提案</a:t>
            </a:r>
          </a:p>
          <a:p>
            <a:pPr>
              <a:spcBef>
                <a:spcPts val="200"/>
              </a:spcBef>
              <a:spcAft>
                <a:spcPts val="200"/>
              </a:spcAft>
            </a:pPr>
            <a:r>
              <a:rPr sz="1200">
                <a:solidFill>
                  <a:srgbClr val="333333"/>
                </a:solidFill>
                <a:latin typeface="Arial"/>
              </a:rPr>
              <a:t>  dカードGOLD付帯 + 家族特約を自動参照</a:t>
            </a:r>
          </a:p>
          <a:p>
            <a:pPr algn="l">
              <a:spcBef>
                <a:spcPts val="1000"/>
              </a:spcBef>
              <a:spcAft>
                <a:spcPts val="400"/>
              </a:spcAft>
              <a:defRPr sz="1400" b="1">
                <a:solidFill>
                  <a:srgbClr val="7B00C4"/>
                </a:solidFill>
                <a:latin typeface="Arial"/>
              </a:defRPr>
            </a:pPr>
            <a:r>
              <a:t>2. 決済データ → 確定申告</a:t>
            </a:r>
          </a:p>
          <a:p>
            <a:pPr>
              <a:spcBef>
                <a:spcPts val="200"/>
              </a:spcBef>
              <a:spcAft>
                <a:spcPts val="200"/>
              </a:spcAft>
            </a:pPr>
            <a:r>
              <a:rPr sz="1200">
                <a:solidFill>
                  <a:srgbClr val="333333"/>
                </a:solidFill>
                <a:latin typeface="Arial"/>
              </a:rPr>
              <a:t>  月次支出を自動分類</a:t>
            </a:r>
          </a:p>
          <a:p>
            <a:pPr>
              <a:spcBef>
                <a:spcPts val="200"/>
              </a:spcBef>
              <a:spcAft>
                <a:spcPts val="200"/>
              </a:spcAft>
            </a:pPr>
            <a:r>
              <a:rPr sz="1200">
                <a:solidFill>
                  <a:srgbClr val="333333"/>
                </a:solidFill>
                <a:latin typeface="Arial"/>
              </a:rPr>
              <a:t>  医療費/事業経費/寄付金を仕分け</a:t>
            </a:r>
          </a:p>
          <a:p>
            <a:pPr algn="l">
              <a:spcBef>
                <a:spcPts val="1000"/>
              </a:spcBef>
              <a:spcAft>
                <a:spcPts val="400"/>
              </a:spcAft>
              <a:defRPr sz="1400" b="1">
                <a:solidFill>
                  <a:srgbClr val="7B00C4"/>
                </a:solidFill>
                <a:latin typeface="Arial"/>
              </a:defRPr>
            </a:pPr>
            <a:r>
              <a:t>3. 家族イベント → 資産最適化</a:t>
            </a:r>
          </a:p>
          <a:p>
            <a:pPr>
              <a:spcBef>
                <a:spcPts val="200"/>
              </a:spcBef>
              <a:spcAft>
                <a:spcPts val="200"/>
              </a:spcAft>
            </a:pPr>
            <a:r>
              <a:rPr sz="1200">
                <a:solidFill>
                  <a:srgbClr val="333333"/>
                </a:solidFill>
                <a:latin typeface="Arial"/>
              </a:rPr>
              <a:t>  子供18歳到達を検知</a:t>
            </a:r>
          </a:p>
          <a:p>
            <a:pPr>
              <a:spcBef>
                <a:spcPts val="200"/>
              </a:spcBef>
              <a:spcAft>
                <a:spcPts val="200"/>
              </a:spcAft>
            </a:pPr>
            <a:r>
              <a:rPr sz="1200">
                <a:solidFill>
                  <a:srgbClr val="333333"/>
                </a:solidFill>
                <a:latin typeface="Arial"/>
              </a:rPr>
              <a:t>  ジュニアNISA → 新NISA 移行提案</a:t>
            </a:r>
          </a:p>
        </p:txBody>
      </p:sp>
      <p:sp>
        <p:nvSpPr>
          <p:cNvPr id="5" name="Rectangle 4"/>
          <p:cNvSpPr/>
          <p:nvPr/>
        </p:nvSpPr>
        <p:spPr>
          <a:xfrm>
            <a:off x="6080760" y="1188720"/>
            <a:ext cx="12700" cy="4480560"/>
          </a:xfrm>
          <a:prstGeom prst="rect">
            <a:avLst/>
          </a:prstGeom>
          <a:solidFill>
            <a:srgbClr val="BDBDB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6400800" y="1188720"/>
            <a:ext cx="48463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  <a:defRPr sz="1600" b="1">
                <a:solidFill>
                  <a:srgbClr val="000000"/>
                </a:solidFill>
                <a:latin typeface="Arial"/>
              </a:defRPr>
            </a:pPr>
            <a:r>
              <a:t>フリー入力対応</a:t>
            </a:r>
          </a:p>
          <a:p>
            <a:pPr algn="l">
              <a:spcBef>
                <a:spcPts val="600"/>
              </a:spcBef>
              <a:spcAft>
                <a:spcPts val="400"/>
              </a:spcAft>
              <a:defRPr sz="1200" b="0">
                <a:solidFill>
                  <a:srgbClr val="4A4A4A"/>
                </a:solidFill>
                <a:latin typeface="Arial"/>
              </a:defRPr>
            </a:pPr>
            <a:r>
              <a:t>キーワード・意図パターンから適切なエージェントを起動</a:t>
            </a:r>
          </a:p>
          <a:p>
            <a:pPr algn="l">
              <a:spcBef>
                <a:spcPts val="0"/>
              </a:spcBef>
              <a:spcAft>
                <a:spcPts val="400"/>
              </a:spcAft>
              <a:defRPr sz="400" b="0">
                <a:solidFill>
                  <a:srgbClr val="333333"/>
                </a:solidFill>
                <a:latin typeface="Arial"/>
              </a:defRPr>
            </a:pPr>
            <a:endParaRPr/>
          </a:p>
          <a:p>
            <a:pPr>
              <a:spcBef>
                <a:spcPts val="600"/>
              </a:spcBef>
              <a:spcAft>
                <a:spcPts val="200"/>
              </a:spcAft>
            </a:pPr>
            <a:r>
              <a:rPr sz="1200" b="1">
                <a:solidFill>
                  <a:srgbClr val="333333"/>
                </a:solidFill>
                <a:latin typeface="Arial"/>
              </a:rPr>
              <a:t>「車を買いたい」</a:t>
            </a:r>
            <a:r>
              <a:rPr sz="1200">
                <a:solidFill>
                  <a:srgbClr val="333333"/>
                </a:solidFill>
                <a:latin typeface="Arial"/>
              </a:rPr>
              <a:t> → 購入可能額シミュレーション</a:t>
            </a:r>
          </a:p>
          <a:p>
            <a:pPr>
              <a:spcBef>
                <a:spcPts val="600"/>
              </a:spcBef>
              <a:spcAft>
                <a:spcPts val="200"/>
              </a:spcAft>
            </a:pPr>
            <a:r>
              <a:rPr sz="1200" b="1">
                <a:solidFill>
                  <a:srgbClr val="333333"/>
                </a:solidFill>
                <a:latin typeface="Arial"/>
              </a:rPr>
              <a:t>「老後の資金は足りますか？」</a:t>
            </a:r>
            <a:r>
              <a:rPr sz="1200">
                <a:solidFill>
                  <a:srgbClr val="333333"/>
                </a:solidFill>
                <a:latin typeface="Arial"/>
              </a:rPr>
              <a:t> → 積立予測</a:t>
            </a:r>
          </a:p>
          <a:p>
            <a:pPr>
              <a:spcBef>
                <a:spcPts val="600"/>
              </a:spcBef>
              <a:spcAft>
                <a:spcPts val="200"/>
              </a:spcAft>
            </a:pPr>
            <a:r>
              <a:rPr sz="1200" b="1">
                <a:solidFill>
                  <a:srgbClr val="333333"/>
                </a:solidFill>
                <a:latin typeface="Arial"/>
              </a:rPr>
              <a:t>「結婚を予定しています」</a:t>
            </a:r>
            <a:r>
              <a:rPr sz="1200">
                <a:solidFill>
                  <a:srgbClr val="333333"/>
                </a:solidFill>
                <a:latin typeface="Arial"/>
              </a:rPr>
              <a:t> → ライフプラン提案</a:t>
            </a:r>
          </a:p>
          <a:p>
            <a:pPr>
              <a:spcBef>
                <a:spcPts val="600"/>
              </a:spcBef>
              <a:spcAft>
                <a:spcPts val="200"/>
              </a:spcAft>
            </a:pPr>
            <a:r>
              <a:rPr sz="1200" b="1">
                <a:solidFill>
                  <a:srgbClr val="333333"/>
                </a:solidFill>
                <a:latin typeface="Arial"/>
              </a:rPr>
              <a:t>「NISAの活用方法を教えて」</a:t>
            </a:r>
            <a:r>
              <a:rPr sz="1200">
                <a:solidFill>
                  <a:srgbClr val="333333"/>
                </a:solidFill>
                <a:latin typeface="Arial"/>
              </a:rPr>
              <a:t> → 配分提案</a:t>
            </a:r>
          </a:p>
          <a:p>
            <a:pPr>
              <a:spcBef>
                <a:spcPts val="600"/>
              </a:spcBef>
              <a:spcAft>
                <a:spcPts val="200"/>
              </a:spcAft>
            </a:pPr>
            <a:r>
              <a:rPr sz="1200" b="1">
                <a:solidFill>
                  <a:srgbClr val="333333"/>
                </a:solidFill>
                <a:latin typeface="Arial"/>
              </a:rPr>
              <a:t>「確定申告で使える控除を教えて」</a:t>
            </a:r>
            <a:r>
              <a:rPr sz="1200">
                <a:solidFill>
                  <a:srgbClr val="333333"/>
                </a:solidFill>
                <a:latin typeface="Arial"/>
              </a:rPr>
              <a:t> → 税務仕分け</a:t>
            </a:r>
          </a:p>
          <a:p>
            <a:pPr>
              <a:spcBef>
                <a:spcPts val="600"/>
              </a:spcBef>
              <a:spcAft>
                <a:spcPts val="200"/>
              </a:spcAft>
            </a:pPr>
            <a:r>
              <a:rPr sz="1200" b="1">
                <a:solidFill>
                  <a:srgbClr val="333333"/>
                </a:solidFill>
                <a:latin typeface="Arial"/>
              </a:rPr>
              <a:t>「子供の大学進学にどう備える」</a:t>
            </a:r>
            <a:r>
              <a:rPr sz="1200">
                <a:solidFill>
                  <a:srgbClr val="333333"/>
                </a:solidFill>
                <a:latin typeface="Arial"/>
              </a:rPr>
              <a:t> → 教育資金計画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731520" y="365760"/>
            <a:ext cx="50800" cy="502920"/>
          </a:xfrm>
          <a:prstGeom prst="rect">
            <a:avLst/>
          </a:prstGeom>
          <a:solidFill>
            <a:srgbClr val="A1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914400" y="27432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000000"/>
                </a:solidFill>
                <a:latin typeface="Arial"/>
              </a:defRPr>
            </a:pPr>
            <a:r>
              <a:t>インフラ構成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00584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4A4A4A"/>
                </a:solidFill>
                <a:latin typeface="Arial"/>
              </a:defRPr>
            </a:pPr>
            <a:r>
              <a:t>AWS CDK で Infrastructure as Code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1554480"/>
            <a:ext cx="48463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  <a:defRPr sz="1600" b="1">
                <a:solidFill>
                  <a:srgbClr val="000000"/>
                </a:solidFill>
                <a:latin typeface="Arial"/>
              </a:defRPr>
            </a:pPr>
            <a:r>
              <a:t>本番構成</a:t>
            </a:r>
          </a:p>
          <a:p>
            <a:pPr>
              <a:spcBef>
                <a:spcPts val="500"/>
              </a:spcBef>
              <a:spcAft>
                <a:spcPts val="200"/>
              </a:spcAft>
            </a:pPr>
            <a:r>
              <a:rPr sz="1300" b="1">
                <a:solidFill>
                  <a:srgbClr val="333333"/>
                </a:solidFill>
                <a:latin typeface="Arial"/>
              </a:rPr>
              <a:t>CloudFront</a:t>
            </a:r>
            <a:r>
              <a:rPr sz="1300">
                <a:solidFill>
                  <a:srgbClr val="333333"/>
                </a:solidFill>
                <a:latin typeface="Arial"/>
              </a:rPr>
              <a:t> — CDN + HTTPS</a:t>
            </a:r>
          </a:p>
          <a:p>
            <a:pPr>
              <a:spcBef>
                <a:spcPts val="500"/>
              </a:spcBef>
              <a:spcAft>
                <a:spcPts val="200"/>
              </a:spcAft>
            </a:pPr>
            <a:r>
              <a:rPr sz="1300" b="1">
                <a:solidFill>
                  <a:srgbClr val="333333"/>
                </a:solidFill>
                <a:latin typeface="Arial"/>
              </a:rPr>
              <a:t>ALB</a:t>
            </a:r>
            <a:r>
              <a:rPr sz="1300">
                <a:solidFill>
                  <a:srgbClr val="333333"/>
                </a:solidFill>
                <a:latin typeface="Arial"/>
              </a:rPr>
              <a:t> — ロードバランシング</a:t>
            </a:r>
          </a:p>
          <a:p>
            <a:pPr>
              <a:spcBef>
                <a:spcPts val="500"/>
              </a:spcBef>
              <a:spcAft>
                <a:spcPts val="200"/>
              </a:spcAft>
            </a:pPr>
            <a:r>
              <a:rPr sz="1300" b="1">
                <a:solidFill>
                  <a:srgbClr val="333333"/>
                </a:solidFill>
                <a:latin typeface="Arial"/>
              </a:rPr>
              <a:t>ECS Fargate</a:t>
            </a:r>
            <a:r>
              <a:rPr sz="1300">
                <a:solidFill>
                  <a:srgbClr val="333333"/>
                </a:solidFill>
                <a:latin typeface="Arial"/>
              </a:rPr>
              <a:t> — コンテナ実行</a:t>
            </a:r>
          </a:p>
          <a:p>
            <a:pPr>
              <a:spcBef>
                <a:spcPts val="500"/>
              </a:spcBef>
              <a:spcAft>
                <a:spcPts val="200"/>
              </a:spcAft>
            </a:pPr>
            <a:r>
              <a:rPr sz="1300" b="1">
                <a:solidFill>
                  <a:srgbClr val="333333"/>
                </a:solidFill>
                <a:latin typeface="Arial"/>
              </a:rPr>
              <a:t>Cognito</a:t>
            </a:r>
            <a:r>
              <a:rPr sz="1300">
                <a:solidFill>
                  <a:srgbClr val="333333"/>
                </a:solidFill>
                <a:latin typeface="Arial"/>
              </a:rPr>
              <a:t> — 認証 (MFA対応)</a:t>
            </a:r>
          </a:p>
          <a:p>
            <a:pPr>
              <a:spcBef>
                <a:spcPts val="500"/>
              </a:spcBef>
              <a:spcAft>
                <a:spcPts val="200"/>
              </a:spcAft>
            </a:pPr>
            <a:r>
              <a:rPr sz="1300" b="1">
                <a:solidFill>
                  <a:srgbClr val="333333"/>
                </a:solidFill>
                <a:latin typeface="Arial"/>
              </a:rPr>
              <a:t>S3</a:t>
            </a:r>
            <a:r>
              <a:rPr sz="1300">
                <a:solidFill>
                  <a:srgbClr val="333333"/>
                </a:solidFill>
                <a:latin typeface="Arial"/>
              </a:rPr>
              <a:t> — 静的アセット</a:t>
            </a:r>
          </a:p>
          <a:p>
            <a:pPr algn="l">
              <a:spcBef>
                <a:spcPts val="0"/>
              </a:spcBef>
              <a:spcAft>
                <a:spcPts val="400"/>
              </a:spcAft>
              <a:defRPr sz="600" b="0">
                <a:solidFill>
                  <a:srgbClr val="333333"/>
                </a:solidFill>
                <a:latin typeface="Arial"/>
              </a:defRPr>
            </a:pPr>
            <a:endParaRPr sz="1300">
              <a:solidFill>
                <a:srgbClr val="333333"/>
              </a:solidFill>
              <a:latin typeface="Arial"/>
            </a:endParaRPr>
          </a:p>
          <a:p>
            <a:pPr algn="l">
              <a:spcBef>
                <a:spcPts val="1000"/>
              </a:spcBef>
              <a:spcAft>
                <a:spcPts val="400"/>
              </a:spcAft>
              <a:defRPr sz="1600" b="1">
                <a:solidFill>
                  <a:srgbClr val="000000"/>
                </a:solidFill>
                <a:latin typeface="Arial"/>
              </a:defRPr>
            </a:pPr>
            <a:r>
              <a:t>コンテナ</a:t>
            </a:r>
          </a:p>
          <a:p>
            <a:pPr>
              <a:spcBef>
                <a:spcPts val="500"/>
              </a:spcBef>
              <a:spcAft>
                <a:spcPts val="200"/>
              </a:spcAft>
            </a:pPr>
            <a:r>
              <a:rPr sz="1300">
                <a:solidFill>
                  <a:srgbClr val="333333"/>
                </a:solidFill>
                <a:latin typeface="Arial"/>
              </a:rPr>
              <a:t>  Docker マルチステージビルド</a:t>
            </a:r>
          </a:p>
          <a:p>
            <a:pPr>
              <a:spcBef>
                <a:spcPts val="200"/>
              </a:spcBef>
              <a:spcAft>
                <a:spcPts val="200"/>
              </a:spcAft>
            </a:pPr>
            <a:r>
              <a:rPr sz="1300">
                <a:solidFill>
                  <a:srgbClr val="333333"/>
                </a:solidFill>
                <a:latin typeface="Arial"/>
              </a:rPr>
              <a:t>  nginx リバースプロキシ</a:t>
            </a:r>
          </a:p>
        </p:txBody>
      </p:sp>
      <p:sp>
        <p:nvSpPr>
          <p:cNvPr id="6" name="Rectangle 5"/>
          <p:cNvSpPr/>
          <p:nvPr/>
        </p:nvSpPr>
        <p:spPr>
          <a:xfrm>
            <a:off x="6080760" y="1554480"/>
            <a:ext cx="12700" cy="4114800"/>
          </a:xfrm>
          <a:prstGeom prst="rect">
            <a:avLst/>
          </a:prstGeom>
          <a:solidFill>
            <a:srgbClr val="BDBDB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6400800" y="1554480"/>
            <a:ext cx="4846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  <a:defRPr sz="1600" b="1">
                <a:solidFill>
                  <a:srgbClr val="000000"/>
                </a:solidFill>
                <a:latin typeface="Arial"/>
              </a:defRPr>
            </a:pPr>
            <a:r>
              <a:t>CDK スタック構成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0" y="2103120"/>
            <a:ext cx="4846320" cy="457200"/>
          </a:xfrm>
          <a:prstGeom prst="roundRect">
            <a:avLst/>
          </a:prstGeom>
          <a:solidFill>
            <a:srgbClr val="F5F5F5"/>
          </a:solidFill>
          <a:ln w="12700">
            <a:solidFill>
              <a:srgbClr val="BDBDB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spcBef>
                <a:spcPts val="0"/>
              </a:spcBef>
              <a:spcAft>
                <a:spcPts val="100"/>
              </a:spcAft>
              <a:defRPr sz="1100" b="1">
                <a:solidFill>
                  <a:srgbClr val="333333"/>
                </a:solidFill>
                <a:latin typeface="Arial"/>
              </a:defRPr>
            </a:pPr>
            <a:r>
              <a:t>NetworkStack — VPC / サブネット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0" y="2697479"/>
            <a:ext cx="4846320" cy="457200"/>
          </a:xfrm>
          <a:prstGeom prst="roundRect">
            <a:avLst/>
          </a:prstGeom>
          <a:solidFill>
            <a:srgbClr val="F5F5F5"/>
          </a:solidFill>
          <a:ln w="12700">
            <a:solidFill>
              <a:srgbClr val="BDBDB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spcBef>
                <a:spcPts val="0"/>
              </a:spcBef>
              <a:spcAft>
                <a:spcPts val="100"/>
              </a:spcAft>
              <a:defRPr sz="1100" b="1">
                <a:solidFill>
                  <a:srgbClr val="333333"/>
                </a:solidFill>
                <a:latin typeface="Arial"/>
              </a:defRPr>
            </a:pPr>
            <a:r>
              <a:t>CognitoStack — 認証基盤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00800" y="3291839"/>
            <a:ext cx="4846320" cy="457200"/>
          </a:xfrm>
          <a:prstGeom prst="roundRect">
            <a:avLst/>
          </a:prstGeom>
          <a:solidFill>
            <a:srgbClr val="F5F5F5"/>
          </a:solidFill>
          <a:ln w="12700">
            <a:solidFill>
              <a:srgbClr val="BDBDB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spcBef>
                <a:spcPts val="0"/>
              </a:spcBef>
              <a:spcAft>
                <a:spcPts val="100"/>
              </a:spcAft>
              <a:defRPr sz="1100" b="1">
                <a:solidFill>
                  <a:srgbClr val="333333"/>
                </a:solidFill>
                <a:latin typeface="Arial"/>
              </a:defRPr>
            </a:pPr>
            <a:r>
              <a:t>AppStack — メインアプリ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00800" y="3886200"/>
            <a:ext cx="4846320" cy="457200"/>
          </a:xfrm>
          <a:prstGeom prst="roundRect">
            <a:avLst/>
          </a:prstGeom>
          <a:solidFill>
            <a:srgbClr val="F5F5F5"/>
          </a:solidFill>
          <a:ln w="12700">
            <a:solidFill>
              <a:srgbClr val="BDBDB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spcBef>
                <a:spcPts val="0"/>
              </a:spcBef>
              <a:spcAft>
                <a:spcPts val="100"/>
              </a:spcAft>
              <a:defRPr sz="1100" b="1">
                <a:solidFill>
                  <a:srgbClr val="333333"/>
                </a:solidFill>
                <a:latin typeface="Arial"/>
              </a:defRPr>
            </a:pPr>
            <a:r>
              <a:t>DevOpsAppStack — DevOpsデモ用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400800" y="4480560"/>
            <a:ext cx="4846320" cy="457200"/>
          </a:xfrm>
          <a:prstGeom prst="roundRect">
            <a:avLst/>
          </a:prstGeom>
          <a:solidFill>
            <a:srgbClr val="F5F5F5"/>
          </a:solidFill>
          <a:ln w="12700">
            <a:solidFill>
              <a:srgbClr val="BDBDB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spcBef>
                <a:spcPts val="0"/>
              </a:spcBef>
              <a:spcAft>
                <a:spcPts val="100"/>
              </a:spcAft>
              <a:defRPr sz="1100" b="1">
                <a:solidFill>
                  <a:srgbClr val="333333"/>
                </a:solidFill>
                <a:latin typeface="Arial"/>
              </a:defRPr>
            </a:pPr>
            <a:r>
              <a:t>ReportStack — 調査レポート用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0" y="5212080"/>
            <a:ext cx="48463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  <a:defRPr sz="1300" b="1">
                <a:solidFill>
                  <a:srgbClr val="7B00C4"/>
                </a:solidFill>
                <a:latin typeface="Arial"/>
              </a:defRPr>
            </a:pPr>
            <a:r>
              <a:t>deploy.sh 一発でデプロイ可能</a:t>
            </a:r>
          </a:p>
          <a:p>
            <a:pPr algn="l">
              <a:spcBef>
                <a:spcPts val="0"/>
              </a:spcBef>
              <a:spcAft>
                <a:spcPts val="400"/>
              </a:spcAft>
              <a:defRPr sz="1200" b="0">
                <a:solidFill>
                  <a:srgbClr val="4A4A4A"/>
                </a:solidFill>
                <a:latin typeface="Arial"/>
              </a:defRPr>
            </a:pPr>
            <a:r>
              <a:t>3つの独立したアプリを同一インフラ上で運用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731520" y="365760"/>
            <a:ext cx="50800" cy="502920"/>
          </a:xfrm>
          <a:prstGeom prst="rect">
            <a:avLst/>
          </a:prstGeom>
          <a:solidFill>
            <a:srgbClr val="A1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914400" y="27432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000000"/>
                </a:solidFill>
                <a:latin typeface="Arial"/>
              </a:defRPr>
            </a:pPr>
            <a:r>
              <a:t>設計思想のまとめ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14400" y="1280160"/>
            <a:ext cx="457200" cy="411480"/>
          </a:xfrm>
          <a:prstGeom prst="roundRect">
            <a:avLst/>
          </a:prstGeom>
          <a:solidFill>
            <a:srgbClr val="A100FF"/>
          </a:solidFill>
          <a:ln w="12700">
            <a:solidFill>
              <a:srgbClr val="A10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spcBef>
                <a:spcPts val="0"/>
              </a:spcBef>
              <a:spcAft>
                <a:spcPts val="100"/>
              </a:spcAft>
              <a:defRPr sz="1400" b="1">
                <a:solidFill>
                  <a:srgbClr val="FFFFFF"/>
                </a:solidFill>
                <a:latin typeface="Arial"/>
              </a:defRPr>
            </a:pPr>
            <a:r>
              <a:t>01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463040" y="1298448"/>
            <a:ext cx="4572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00000"/>
                </a:solidFill>
                <a:latin typeface="Arial"/>
              </a:defRPr>
            </a:pPr>
            <a:r>
              <a:t>デモ→本番の移行コスト最小化</a:t>
            </a:r>
          </a:p>
        </p:txBody>
      </p:sp>
      <p:sp>
        <p:nvSpPr>
          <p:cNvPr id="6" name="Rectangle 5"/>
          <p:cNvSpPr/>
          <p:nvPr/>
        </p:nvSpPr>
        <p:spPr>
          <a:xfrm>
            <a:off x="914400" y="1783080"/>
            <a:ext cx="5212080" cy="12700"/>
          </a:xfrm>
          <a:prstGeom prst="rect">
            <a:avLst/>
          </a:prstGeom>
          <a:solidFill>
            <a:srgbClr val="BDBDB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005840" y="1874519"/>
            <a:ext cx="50292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300"/>
              </a:spcBef>
              <a:spcAft>
                <a:spcPts val="200"/>
              </a:spcAft>
            </a:pPr>
            <a:r>
              <a:rPr sz="1200">
                <a:solidFill>
                  <a:srgbClr val="333333"/>
                </a:solidFill>
                <a:latin typeface="Arial"/>
              </a:rPr>
              <a:t>  MCP + Agent Skill でモジュール化</a:t>
            </a:r>
          </a:p>
          <a:p>
            <a:pPr>
              <a:spcBef>
                <a:spcPts val="300"/>
              </a:spcBef>
              <a:spcAft>
                <a:spcPts val="200"/>
              </a:spcAft>
            </a:pPr>
            <a:r>
              <a:rPr sz="1200">
                <a:solidFill>
                  <a:srgbClr val="333333"/>
                </a:solidFill>
                <a:latin typeface="Arial"/>
              </a:rPr>
              <a:t>  接続先を切り替えるだけで本番へ</a:t>
            </a:r>
          </a:p>
          <a:p>
            <a:pPr>
              <a:spcBef>
                <a:spcPts val="300"/>
              </a:spcBef>
              <a:spcAft>
                <a:spcPts val="200"/>
              </a:spcAft>
            </a:pPr>
            <a:r>
              <a:rPr sz="1200">
                <a:solidFill>
                  <a:srgbClr val="333333"/>
                </a:solidFill>
                <a:latin typeface="Arial"/>
              </a:rPr>
              <a:t>  JSON出力 = 本番APIレスポンスのベース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0" y="1280160"/>
            <a:ext cx="457200" cy="411480"/>
          </a:xfrm>
          <a:prstGeom prst="roundRect">
            <a:avLst/>
          </a:prstGeom>
          <a:solidFill>
            <a:srgbClr val="A100FF"/>
          </a:solidFill>
          <a:ln w="12700">
            <a:solidFill>
              <a:srgbClr val="A10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spcBef>
                <a:spcPts val="0"/>
              </a:spcBef>
              <a:spcAft>
                <a:spcPts val="100"/>
              </a:spcAft>
              <a:defRPr sz="1400" b="1">
                <a:solidFill>
                  <a:srgbClr val="FFFFFF"/>
                </a:solidFill>
                <a:latin typeface="Arial"/>
              </a:defRPr>
            </a:pPr>
            <a:r>
              <a:t>02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949440" y="1298448"/>
            <a:ext cx="4572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00000"/>
                </a:solidFill>
                <a:latin typeface="Arial"/>
              </a:defRPr>
            </a:pPr>
            <a:r>
              <a:t>LLM には「判断」だけさせる</a:t>
            </a:r>
          </a:p>
        </p:txBody>
      </p:sp>
      <p:sp>
        <p:nvSpPr>
          <p:cNvPr id="10" name="Rectangle 9"/>
          <p:cNvSpPr/>
          <p:nvPr/>
        </p:nvSpPr>
        <p:spPr>
          <a:xfrm>
            <a:off x="6400800" y="1783080"/>
            <a:ext cx="5212079" cy="12700"/>
          </a:xfrm>
          <a:prstGeom prst="rect">
            <a:avLst/>
          </a:prstGeom>
          <a:solidFill>
            <a:srgbClr val="BDBDB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492240" y="1874519"/>
            <a:ext cx="50292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300"/>
              </a:spcBef>
              <a:spcAft>
                <a:spcPts val="200"/>
              </a:spcAft>
            </a:pPr>
            <a:r>
              <a:rPr sz="1200">
                <a:solidFill>
                  <a:srgbClr val="333333"/>
                </a:solidFill>
                <a:latin typeface="Arial"/>
              </a:rPr>
              <a:t>  計算はプログラムで正確に</a:t>
            </a:r>
          </a:p>
          <a:p>
            <a:pPr>
              <a:spcBef>
                <a:spcPts val="300"/>
              </a:spcBef>
              <a:spcAft>
                <a:spcPts val="200"/>
              </a:spcAft>
            </a:pPr>
            <a:r>
              <a:rPr sz="1200">
                <a:solidFill>
                  <a:srgbClr val="333333"/>
                </a:solidFill>
                <a:latin typeface="Arial"/>
              </a:rPr>
              <a:t>  知識は構造化してコンテキスト注入</a:t>
            </a:r>
          </a:p>
          <a:p>
            <a:pPr>
              <a:spcBef>
                <a:spcPts val="300"/>
              </a:spcBef>
              <a:spcAft>
                <a:spcPts val="200"/>
              </a:spcAft>
            </a:pPr>
            <a:r>
              <a:rPr sz="1200">
                <a:solidFill>
                  <a:srgbClr val="333333"/>
                </a:solidFill>
                <a:latin typeface="Arial"/>
              </a:rPr>
              <a:t>  2段階呼び出しで正確さと自然さを分離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914400" y="3840479"/>
            <a:ext cx="457200" cy="411480"/>
          </a:xfrm>
          <a:prstGeom prst="roundRect">
            <a:avLst/>
          </a:prstGeom>
          <a:solidFill>
            <a:srgbClr val="A100FF"/>
          </a:solidFill>
          <a:ln w="12700">
            <a:solidFill>
              <a:srgbClr val="A10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spcBef>
                <a:spcPts val="0"/>
              </a:spcBef>
              <a:spcAft>
                <a:spcPts val="100"/>
              </a:spcAft>
              <a:defRPr sz="1400" b="1">
                <a:solidFill>
                  <a:srgbClr val="FFFFFF"/>
                </a:solidFill>
                <a:latin typeface="Arial"/>
              </a:defRPr>
            </a:pPr>
            <a:r>
              <a:t>03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463040" y="3858767"/>
            <a:ext cx="4572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00000"/>
                </a:solidFill>
                <a:latin typeface="Arial"/>
              </a:defRPr>
            </a:pPr>
            <a:r>
              <a:t>キャリアのデータ優位性を設計に反映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14400" y="4343399"/>
            <a:ext cx="5212080" cy="12700"/>
          </a:xfrm>
          <a:prstGeom prst="rect">
            <a:avLst/>
          </a:prstGeom>
          <a:solidFill>
            <a:srgbClr val="BDBDB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1005840" y="4434840"/>
            <a:ext cx="50292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300"/>
              </a:spcBef>
              <a:spcAft>
                <a:spcPts val="200"/>
              </a:spcAft>
            </a:pPr>
            <a:r>
              <a:rPr sz="1200">
                <a:solidFill>
                  <a:srgbClr val="333333"/>
                </a:solidFill>
                <a:latin typeface="Arial"/>
              </a:rPr>
              <a:t>  位置情報 / 決済 / 家族構成</a:t>
            </a:r>
          </a:p>
          <a:p>
            <a:pPr>
              <a:spcBef>
                <a:spcPts val="300"/>
              </a:spcBef>
              <a:spcAft>
                <a:spcPts val="200"/>
              </a:spcAft>
            </a:pPr>
            <a:r>
              <a:rPr sz="1200">
                <a:solidFill>
                  <a:srgbClr val="333333"/>
                </a:solidFill>
                <a:latin typeface="Arial"/>
              </a:rPr>
              <a:t>  銀行やFinTechにない差別化ポイント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00800" y="3840479"/>
            <a:ext cx="457200" cy="411480"/>
          </a:xfrm>
          <a:prstGeom prst="roundRect">
            <a:avLst/>
          </a:prstGeom>
          <a:solidFill>
            <a:srgbClr val="A100FF"/>
          </a:solidFill>
          <a:ln w="12700">
            <a:solidFill>
              <a:srgbClr val="A10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spcBef>
                <a:spcPts val="0"/>
              </a:spcBef>
              <a:spcAft>
                <a:spcPts val="100"/>
              </a:spcAft>
              <a:defRPr sz="1400" b="1">
                <a:solidFill>
                  <a:srgbClr val="FFFFFF"/>
                </a:solidFill>
                <a:latin typeface="Arial"/>
              </a:defRPr>
            </a:pPr>
            <a:r>
              <a:t>04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949440" y="3858767"/>
            <a:ext cx="4572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00000"/>
                </a:solidFill>
                <a:latin typeface="Arial"/>
              </a:defRPr>
            </a:pPr>
            <a:r>
              <a:t>一人で完結できるフルスタック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400800" y="4343399"/>
            <a:ext cx="5212079" cy="12700"/>
          </a:xfrm>
          <a:prstGeom prst="rect">
            <a:avLst/>
          </a:prstGeom>
          <a:solidFill>
            <a:srgbClr val="BDBDB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6492240" y="4434840"/>
            <a:ext cx="50292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300"/>
              </a:spcBef>
              <a:spcAft>
                <a:spcPts val="200"/>
              </a:spcAft>
            </a:pPr>
            <a:r>
              <a:rPr sz="1200">
                <a:solidFill>
                  <a:srgbClr val="333333"/>
                </a:solidFill>
                <a:latin typeface="Arial"/>
              </a:rPr>
              <a:t>  UI → API → LLM連携 → 金融計算 → インフラ</a:t>
            </a:r>
          </a:p>
          <a:p>
            <a:pPr>
              <a:spcBef>
                <a:spcPts val="300"/>
              </a:spcBef>
              <a:spcAft>
                <a:spcPts val="200"/>
              </a:spcAft>
            </a:pPr>
            <a:r>
              <a:rPr sz="1200">
                <a:solidFill>
                  <a:srgbClr val="333333"/>
                </a:solidFill>
                <a:latin typeface="Arial"/>
              </a:rPr>
              <a:t>  要件を渡せば動くものが出てくる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1097280" y="2743200"/>
            <a:ext cx="2286000" cy="50800"/>
          </a:xfrm>
          <a:prstGeom prst="rect">
            <a:avLst/>
          </a:prstGeom>
          <a:solidFill>
            <a:srgbClr val="A1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1097280" y="292608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000000"/>
                </a:solidFill>
                <a:latin typeface="Arial"/>
              </a:defRPr>
            </a:pPr>
            <a:r>
              <a:t>Part 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384048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4A4A4A"/>
                </a:solidFill>
                <a:latin typeface="Arial"/>
              </a:defRPr>
            </a:pPr>
            <a:r>
              <a:t>LLM 最前線: 注目トピック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731520" y="365760"/>
            <a:ext cx="50800" cy="502920"/>
          </a:xfrm>
          <a:prstGeom prst="rect">
            <a:avLst/>
          </a:prstGeom>
          <a:solidFill>
            <a:srgbClr val="A1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914400" y="27432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000000"/>
                </a:solidFill>
                <a:latin typeface="Arial"/>
              </a:defRPr>
            </a:pPr>
            <a:r>
              <a:t>LLM Wiki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00584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4A4A4A"/>
                </a:solidFill>
                <a:latin typeface="Arial"/>
              </a:defRPr>
            </a:pPr>
            <a:r>
              <a:t>Andrej Karpathy（2026年4月）— 新しいナレッジ管理のアプローチ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1463040"/>
            <a:ext cx="10332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7F7F7F"/>
                </a:solidFill>
                <a:latin typeface="Arial"/>
              </a:defRPr>
            </a:pPr>
            <a:r>
              <a:t>"トークン消費の大部分が、もはやコード生成ではなく知識の操作に使われている"</a:t>
            </a:r>
          </a:p>
        </p:txBody>
      </p:sp>
      <p:sp>
        <p:nvSpPr>
          <p:cNvPr id="6" name="Rectangle 5"/>
          <p:cNvSpPr/>
          <p:nvPr/>
        </p:nvSpPr>
        <p:spPr>
          <a:xfrm>
            <a:off x="914400" y="2011680"/>
            <a:ext cx="10332720" cy="12700"/>
          </a:xfrm>
          <a:prstGeom prst="rect">
            <a:avLst/>
          </a:prstGeom>
          <a:solidFill>
            <a:srgbClr val="BDBDB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914400" y="2194560"/>
            <a:ext cx="484632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  <a:defRPr sz="1600" b="1">
                <a:solidFill>
                  <a:srgbClr val="000000"/>
                </a:solidFill>
                <a:latin typeface="Arial"/>
              </a:defRPr>
            </a:pPr>
            <a:r>
              <a:t>概念</a:t>
            </a:r>
          </a:p>
          <a:p>
            <a:pPr algn="l">
              <a:spcBef>
                <a:spcPts val="600"/>
              </a:spcBef>
              <a:spcAft>
                <a:spcPts val="400"/>
              </a:spcAft>
              <a:defRPr sz="1300" b="0">
                <a:solidFill>
                  <a:srgbClr val="333333"/>
                </a:solidFill>
                <a:latin typeface="Arial"/>
              </a:defRPr>
            </a:pPr>
            <a:r>
              <a:t>LLM が生データを事前にコンパイルし、構造化された Markdown Wiki を自動生成・維持する</a:t>
            </a:r>
          </a:p>
          <a:p>
            <a:pPr algn="l">
              <a:spcBef>
                <a:spcPts val="0"/>
              </a:spcBef>
              <a:spcAft>
                <a:spcPts val="400"/>
              </a:spcAft>
              <a:defRPr sz="400" b="0">
                <a:solidFill>
                  <a:srgbClr val="333333"/>
                </a:solidFill>
                <a:latin typeface="Arial"/>
              </a:defRPr>
            </a:pPr>
            <a:endParaRPr/>
          </a:p>
          <a:p>
            <a:pPr algn="l">
              <a:spcBef>
                <a:spcPts val="1000"/>
              </a:spcBef>
              <a:spcAft>
                <a:spcPts val="400"/>
              </a:spcAft>
              <a:defRPr sz="1500" b="1">
                <a:solidFill>
                  <a:srgbClr val="000000"/>
                </a:solidFill>
                <a:latin typeface="Arial"/>
              </a:defRPr>
            </a:pPr>
            <a:r>
              <a:t>3層アーキテクチャ</a:t>
            </a:r>
          </a:p>
          <a:p>
            <a:pPr>
              <a:spcBef>
                <a:spcPts val="600"/>
              </a:spcBef>
              <a:spcAft>
                <a:spcPts val="200"/>
              </a:spcAft>
            </a:pPr>
            <a:r>
              <a:rPr sz="1200" b="1">
                <a:solidFill>
                  <a:srgbClr val="333333"/>
                </a:solidFill>
                <a:latin typeface="Arial"/>
              </a:rPr>
              <a:t>Layer 1: Raw Sources（不変）</a:t>
            </a:r>
          </a:p>
          <a:p>
            <a:pPr>
              <a:spcBef>
                <a:spcPts val="100"/>
              </a:spcBef>
              <a:spcAft>
                <a:spcPts val="200"/>
              </a:spcAft>
            </a:pPr>
            <a:r>
              <a:rPr sz="1100">
                <a:solidFill>
                  <a:srgbClr val="4A4A4A"/>
                </a:solidFill>
                <a:latin typeface="Arial"/>
              </a:rPr>
              <a:t>  PDF/議事録/記事 — LLMが読むが変更しない</a:t>
            </a:r>
          </a:p>
          <a:p>
            <a:pPr>
              <a:spcBef>
                <a:spcPts val="600"/>
              </a:spcBef>
              <a:spcAft>
                <a:spcPts val="200"/>
              </a:spcAft>
            </a:pPr>
            <a:r>
              <a:rPr sz="1200" b="1">
                <a:solidFill>
                  <a:srgbClr val="333333"/>
                </a:solidFill>
                <a:latin typeface="Arial"/>
              </a:rPr>
              <a:t>Layer 2: Wiki（LLM管理）</a:t>
            </a:r>
          </a:p>
          <a:p>
            <a:pPr>
              <a:spcBef>
                <a:spcPts val="100"/>
              </a:spcBef>
              <a:spcAft>
                <a:spcPts val="200"/>
              </a:spcAft>
            </a:pPr>
            <a:r>
              <a:rPr sz="1100">
                <a:solidFill>
                  <a:srgbClr val="4A4A4A"/>
                </a:solidFill>
                <a:latin typeface="Arial"/>
              </a:rPr>
              <a:t>  Markdown概念ページ群 — LLMが書き・更新・リンク</a:t>
            </a:r>
          </a:p>
          <a:p>
            <a:pPr>
              <a:spcBef>
                <a:spcPts val="600"/>
              </a:spcBef>
              <a:spcAft>
                <a:spcPts val="200"/>
              </a:spcAft>
            </a:pPr>
            <a:r>
              <a:rPr sz="1200" b="1">
                <a:solidFill>
                  <a:srgbClr val="333333"/>
                </a:solidFill>
                <a:latin typeface="Arial"/>
              </a:rPr>
              <a:t>Layer 3: Schema（ルール）</a:t>
            </a:r>
          </a:p>
          <a:p>
            <a:pPr>
              <a:spcBef>
                <a:spcPts val="100"/>
              </a:spcBef>
              <a:spcAft>
                <a:spcPts val="200"/>
              </a:spcAft>
            </a:pPr>
            <a:r>
              <a:rPr sz="1100">
                <a:solidFill>
                  <a:srgbClr val="4A4A4A"/>
                </a:solidFill>
                <a:latin typeface="Arial"/>
              </a:rPr>
              <a:t>  構造化の設定ファイル（CLAUDE.md等）</a:t>
            </a:r>
          </a:p>
        </p:txBody>
      </p:sp>
      <p:sp>
        <p:nvSpPr>
          <p:cNvPr id="8" name="Rectangle 7"/>
          <p:cNvSpPr/>
          <p:nvPr/>
        </p:nvSpPr>
        <p:spPr>
          <a:xfrm>
            <a:off x="6080760" y="2194560"/>
            <a:ext cx="12700" cy="3749039"/>
          </a:xfrm>
          <a:prstGeom prst="rect">
            <a:avLst/>
          </a:prstGeom>
          <a:solidFill>
            <a:srgbClr val="BDBDB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6400800" y="2194560"/>
            <a:ext cx="4846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  <a:defRPr sz="1600" b="1">
                <a:solidFill>
                  <a:srgbClr val="000000"/>
                </a:solidFill>
                <a:latin typeface="Arial"/>
              </a:defRPr>
            </a:pPr>
            <a:r>
              <a:t>RAG との違い</a:t>
            </a:r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6400800" y="2743200"/>
          <a:ext cx="4846320" cy="160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71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7373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7373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00000"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endParaRPr/>
                    </a:p>
                  </a:txBody>
                  <a:tcPr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RAG</a:t>
                      </a:r>
                    </a:p>
                  </a:txBody>
                  <a:tcPr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LLM Wiki</a:t>
                      </a:r>
                    </a:p>
                  </a:txBody>
                  <a:tcPr>
                    <a:solidFill>
                      <a:srgbClr val="00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0000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  <a:latin typeface="Arial"/>
                        </a:defRPr>
                      </a:pPr>
                      <a:r>
                        <a:t>知識の蓄積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  <a:latin typeface="Arial"/>
                        </a:defRPr>
                      </a:pPr>
                      <a:r>
                        <a:t>なし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  <a:latin typeface="Arial"/>
                        </a:defRPr>
                      </a:pPr>
                      <a:r>
                        <a:t>複利的に成長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0000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  <a:latin typeface="Arial"/>
                        </a:defRPr>
                      </a:pPr>
                      <a:r>
                        <a:t>コスト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  <a:latin typeface="Arial"/>
                        </a:defRPr>
                      </a:pPr>
                      <a:r>
                        <a:t>毎回同じ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  <a:latin typeface="Arial"/>
                        </a:defRPr>
                      </a:pPr>
                      <a:r>
                        <a:t>初回コンパイルのみ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0000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  <a:latin typeface="Arial"/>
                        </a:defRPr>
                      </a:pPr>
                      <a:r>
                        <a:t>精度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  <a:latin typeface="Arial"/>
                        </a:defRPr>
                      </a:pPr>
                      <a:r>
                        <a:t>検索精度に依存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  <a:latin typeface="Arial"/>
                        </a:defRPr>
                      </a:pPr>
                      <a:r>
                        <a:t>構造化で高精度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11" name="Rectangle 10"/>
          <p:cNvSpPr/>
          <p:nvPr/>
        </p:nvSpPr>
        <p:spPr>
          <a:xfrm>
            <a:off x="6400800" y="4754880"/>
            <a:ext cx="4846320" cy="640080"/>
          </a:xfrm>
          <a:prstGeom prst="rect">
            <a:avLst/>
          </a:prstGeom>
          <a:solidFill>
            <a:srgbClr val="F3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6400800" y="4754880"/>
            <a:ext cx="50800" cy="640080"/>
          </a:xfrm>
          <a:prstGeom prst="rect">
            <a:avLst/>
          </a:prstGeom>
          <a:solidFill>
            <a:srgbClr val="A1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6629400" y="4828032"/>
            <a:ext cx="4480560" cy="4937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333333"/>
                </a:solidFill>
                <a:latin typeface="Arial"/>
              </a:defRPr>
            </a:pPr>
            <a:r>
              <a:t>核心: LLM を「検索エンジン」ではなく</a:t>
            </a:r>
            <a:br/>
            <a:r>
              <a:t>「ナレッジコンパイラ」として使う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731520" y="365760"/>
            <a:ext cx="50800" cy="502920"/>
          </a:xfrm>
          <a:prstGeom prst="rect">
            <a:avLst/>
          </a:prstGeom>
          <a:solidFill>
            <a:srgbClr val="A1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914400" y="27432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000000"/>
                </a:solidFill>
                <a:latin typeface="Arial"/>
              </a:defRPr>
            </a:pPr>
            <a:r>
              <a:t>ハーネスエンジニアリング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00584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4A4A4A"/>
                </a:solidFill>
                <a:latin typeface="Arial"/>
              </a:defRPr>
            </a:pPr>
            <a:r>
              <a:t>2026年2月~ OpenAI提唱 — エンジニアの役割の進化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71600" y="1417320"/>
            <a:ext cx="2468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7F7F7F"/>
                </a:solidFill>
                <a:latin typeface="Arial"/>
              </a:defRPr>
            </a:pPr>
            <a:r>
              <a:t>2023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097280" y="1691640"/>
            <a:ext cx="3017520" cy="822960"/>
          </a:xfrm>
          <a:prstGeom prst="roundRect">
            <a:avLst/>
          </a:prstGeom>
          <a:solidFill>
            <a:srgbClr val="F5F5F5"/>
          </a:solidFill>
          <a:ln w="12700">
            <a:solidFill>
              <a:srgbClr val="BDBDB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spcBef>
                <a:spcPts val="0"/>
              </a:spcBef>
              <a:spcAft>
                <a:spcPts val="100"/>
              </a:spcAft>
              <a:defRPr sz="1200" b="1">
                <a:solidFill>
                  <a:srgbClr val="333333"/>
                </a:solidFill>
                <a:latin typeface="Arial"/>
              </a:defRPr>
            </a:pPr>
            <a:r>
              <a:t>Prompt Engineer</a:t>
            </a:r>
          </a:p>
          <a:p>
            <a:pPr algn="ctr">
              <a:spcBef>
                <a:spcPts val="0"/>
              </a:spcBef>
              <a:spcAft>
                <a:spcPts val="100"/>
              </a:spcAft>
              <a:defRPr sz="1200" b="0">
                <a:solidFill>
                  <a:srgbClr val="333333"/>
                </a:solidFill>
                <a:latin typeface="Arial"/>
              </a:defRPr>
            </a:pPr>
            <a:r>
              <a:t>プロンプトを書く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0" y="1874519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7F7F7F"/>
                </a:solidFill>
                <a:latin typeface="Arial"/>
              </a:defRPr>
            </a:pPr>
            <a:r>
              <a:t>→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846320" y="1417320"/>
            <a:ext cx="2468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7F7F7F"/>
                </a:solidFill>
                <a:latin typeface="Arial"/>
              </a:defRPr>
            </a:pPr>
            <a:r>
              <a:t>2024-25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0" y="1691640"/>
            <a:ext cx="3017520" cy="822960"/>
          </a:xfrm>
          <a:prstGeom prst="roundRect">
            <a:avLst/>
          </a:prstGeom>
          <a:solidFill>
            <a:srgbClr val="F5F5F5"/>
          </a:solidFill>
          <a:ln w="12700">
            <a:solidFill>
              <a:srgbClr val="BDBDB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spcBef>
                <a:spcPts val="0"/>
              </a:spcBef>
              <a:spcAft>
                <a:spcPts val="100"/>
              </a:spcAft>
              <a:defRPr sz="1200" b="1">
                <a:solidFill>
                  <a:srgbClr val="333333"/>
                </a:solidFill>
                <a:latin typeface="Arial"/>
              </a:defRPr>
            </a:pPr>
            <a:r>
              <a:t>Context Engineer</a:t>
            </a:r>
          </a:p>
          <a:p>
            <a:pPr algn="ctr">
              <a:spcBef>
                <a:spcPts val="0"/>
              </a:spcBef>
              <a:spcAft>
                <a:spcPts val="100"/>
              </a:spcAft>
              <a:defRPr sz="1200" b="0">
                <a:solidFill>
                  <a:srgbClr val="333333"/>
                </a:solidFill>
                <a:latin typeface="Arial"/>
              </a:defRPr>
            </a:pPr>
            <a:r>
              <a:t>モデルに何を見せるか管理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589520" y="1874519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7F7F7F"/>
                </a:solidFill>
                <a:latin typeface="Arial"/>
              </a:defRPr>
            </a:pPr>
            <a:r>
              <a:t>→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321040" y="1417320"/>
            <a:ext cx="2468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7F7F7F"/>
                </a:solidFill>
                <a:latin typeface="Arial"/>
              </a:defRPr>
            </a:pPr>
            <a:r>
              <a:t>2026~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046719" y="1691640"/>
            <a:ext cx="3017520" cy="822960"/>
          </a:xfrm>
          <a:prstGeom prst="roundRect">
            <a:avLst/>
          </a:prstGeom>
          <a:solidFill>
            <a:srgbClr val="A100FF"/>
          </a:solidFill>
          <a:ln w="12700">
            <a:solidFill>
              <a:srgbClr val="A10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spcBef>
                <a:spcPts val="0"/>
              </a:spcBef>
              <a:spcAft>
                <a:spcPts val="100"/>
              </a:spcAft>
              <a:defRPr sz="1200" b="1">
                <a:solidFill>
                  <a:srgbClr val="FFFFFF"/>
                </a:solidFill>
                <a:latin typeface="Arial"/>
              </a:defRPr>
            </a:pPr>
            <a:r>
              <a:t>Harness Engineer</a:t>
            </a:r>
          </a:p>
          <a:p>
            <a:pPr algn="ctr">
              <a:spcBef>
                <a:spcPts val="0"/>
              </a:spcBef>
              <a:spcAft>
                <a:spcPts val="100"/>
              </a:spcAft>
              <a:defRPr sz="1200" b="0">
                <a:solidFill>
                  <a:srgbClr val="FFFFFF"/>
                </a:solidFill>
                <a:latin typeface="Arial"/>
              </a:defRPr>
            </a:pPr>
            <a:r>
              <a:t>エージェント環境全体を設計</a:t>
            </a:r>
          </a:p>
        </p:txBody>
      </p:sp>
      <p:sp>
        <p:nvSpPr>
          <p:cNvPr id="13" name="Rectangle 12"/>
          <p:cNvSpPr/>
          <p:nvPr/>
        </p:nvSpPr>
        <p:spPr>
          <a:xfrm>
            <a:off x="914400" y="2743200"/>
            <a:ext cx="10332720" cy="12700"/>
          </a:xfrm>
          <a:prstGeom prst="rect">
            <a:avLst/>
          </a:prstGeom>
          <a:solidFill>
            <a:srgbClr val="BDBDB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914400" y="2926080"/>
            <a:ext cx="484632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  <a:defRPr sz="1500" b="1">
                <a:solidFill>
                  <a:srgbClr val="000000"/>
                </a:solidFill>
                <a:latin typeface="Arial"/>
              </a:defRPr>
            </a:pPr>
            <a:r>
              <a:t>Agent = Model + Harness</a:t>
            </a:r>
          </a:p>
          <a:p>
            <a:pPr>
              <a:spcBef>
                <a:spcPts val="800"/>
              </a:spcBef>
              <a:spcAft>
                <a:spcPts val="200"/>
              </a:spcAft>
            </a:pPr>
            <a:r>
              <a:rPr sz="1200" b="1">
                <a:solidFill>
                  <a:srgbClr val="333333"/>
                </a:solidFill>
                <a:latin typeface="Arial"/>
              </a:rPr>
              <a:t>Model:</a:t>
            </a:r>
            <a:r>
              <a:rPr sz="1200">
                <a:solidFill>
                  <a:srgbClr val="333333"/>
                </a:solidFill>
                <a:latin typeface="Arial"/>
              </a:rPr>
              <a:t> テキストを生成する（確率的・不安定）</a:t>
            </a:r>
          </a:p>
          <a:p>
            <a:pPr>
              <a:spcBef>
                <a:spcPts val="400"/>
              </a:spcBef>
              <a:spcAft>
                <a:spcPts val="200"/>
              </a:spcAft>
            </a:pPr>
            <a:r>
              <a:rPr sz="1200" b="1">
                <a:solidFill>
                  <a:srgbClr val="333333"/>
                </a:solidFill>
                <a:latin typeface="Arial"/>
              </a:rPr>
              <a:t>Harness:</a:t>
            </a:r>
            <a:r>
              <a:rPr sz="1200">
                <a:solidFill>
                  <a:srgbClr val="333333"/>
                </a:solidFill>
                <a:latin typeface="Arial"/>
              </a:rPr>
              <a:t> 環境設計（権限/ツール/停止条件/リカバリー）</a:t>
            </a:r>
          </a:p>
          <a:p>
            <a:pPr algn="l">
              <a:spcBef>
                <a:spcPts val="0"/>
              </a:spcBef>
              <a:spcAft>
                <a:spcPts val="400"/>
              </a:spcAft>
              <a:defRPr sz="400" b="0">
                <a:solidFill>
                  <a:srgbClr val="333333"/>
                </a:solidFill>
                <a:latin typeface="Arial"/>
              </a:defRPr>
            </a:pPr>
            <a:endParaRPr sz="1200">
              <a:solidFill>
                <a:srgbClr val="333333"/>
              </a:solidFill>
              <a:latin typeface="Arial"/>
            </a:endParaRPr>
          </a:p>
          <a:p>
            <a:pPr algn="l">
              <a:spcBef>
                <a:spcPts val="600"/>
              </a:spcBef>
              <a:spcAft>
                <a:spcPts val="400"/>
              </a:spcAft>
              <a:defRPr sz="1200" b="1">
                <a:solidFill>
                  <a:srgbClr val="7B00C4"/>
                </a:solidFill>
                <a:latin typeface="Arial"/>
              </a:defRPr>
            </a:pPr>
            <a:r>
              <a:t>  馬具で馬(LLM)の力を意図した方向に走らせる仕組み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080760" y="2926080"/>
            <a:ext cx="12700" cy="2377439"/>
          </a:xfrm>
          <a:prstGeom prst="rect">
            <a:avLst/>
          </a:prstGeom>
          <a:solidFill>
            <a:srgbClr val="BDBDB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6400800" y="2926080"/>
            <a:ext cx="484632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  <a:defRPr sz="1500" b="1">
                <a:solidFill>
                  <a:srgbClr val="000000"/>
                </a:solidFill>
                <a:latin typeface="Arial"/>
              </a:defRPr>
            </a:pPr>
            <a:r>
              <a:t>構成要素</a:t>
            </a:r>
          </a:p>
          <a:p>
            <a:pPr>
              <a:spcBef>
                <a:spcPts val="500"/>
              </a:spcBef>
              <a:spcAft>
                <a:spcPts val="200"/>
              </a:spcAft>
            </a:pPr>
            <a:r>
              <a:rPr sz="1200" b="1">
                <a:solidFill>
                  <a:srgbClr val="333333"/>
                </a:solidFill>
                <a:latin typeface="Arial"/>
              </a:rPr>
              <a:t>CLAUDE.md / AGENTS.md</a:t>
            </a:r>
            <a:r>
              <a:rPr sz="1200">
                <a:solidFill>
                  <a:srgbClr val="333333"/>
                </a:solidFill>
                <a:latin typeface="Arial"/>
              </a:rPr>
              <a:t> — ルールの言語化</a:t>
            </a:r>
          </a:p>
          <a:p>
            <a:pPr>
              <a:spcBef>
                <a:spcPts val="500"/>
              </a:spcBef>
              <a:spcAft>
                <a:spcPts val="200"/>
              </a:spcAft>
            </a:pPr>
            <a:r>
              <a:rPr sz="1200" b="1">
                <a:solidFill>
                  <a:srgbClr val="333333"/>
                </a:solidFill>
                <a:latin typeface="Arial"/>
              </a:rPr>
              <a:t>Hook</a:t>
            </a:r>
            <a:r>
              <a:rPr sz="1200">
                <a:solidFill>
                  <a:srgbClr val="333333"/>
                </a:solidFill>
                <a:latin typeface="Arial"/>
              </a:rPr>
              <a:t> — 行動の自動検証</a:t>
            </a:r>
          </a:p>
          <a:p>
            <a:pPr>
              <a:spcBef>
                <a:spcPts val="500"/>
              </a:spcBef>
              <a:spcAft>
                <a:spcPts val="200"/>
              </a:spcAft>
            </a:pPr>
            <a:r>
              <a:rPr sz="1200" b="1">
                <a:solidFill>
                  <a:srgbClr val="333333"/>
                </a:solidFill>
                <a:latin typeface="Arial"/>
              </a:rPr>
              <a:t>Permission Model</a:t>
            </a:r>
            <a:r>
              <a:rPr sz="1200">
                <a:solidFill>
                  <a:srgbClr val="333333"/>
                </a:solidFill>
                <a:latin typeface="Arial"/>
              </a:rPr>
              <a:t> — 操作権限の段階制御</a:t>
            </a:r>
          </a:p>
          <a:p>
            <a:pPr>
              <a:spcBef>
                <a:spcPts val="500"/>
              </a:spcBef>
              <a:spcAft>
                <a:spcPts val="200"/>
              </a:spcAft>
            </a:pPr>
            <a:r>
              <a:rPr sz="1200" b="1">
                <a:solidFill>
                  <a:srgbClr val="333333"/>
                </a:solidFill>
                <a:latin typeface="Arial"/>
              </a:rPr>
              <a:t>Verification Loop</a:t>
            </a:r>
            <a:r>
              <a:rPr sz="1200">
                <a:solidFill>
                  <a:srgbClr val="333333"/>
                </a:solidFill>
                <a:latin typeface="Arial"/>
              </a:rPr>
              <a:t> — 出力の自動テスト</a:t>
            </a:r>
          </a:p>
        </p:txBody>
      </p:sp>
      <p:sp>
        <p:nvSpPr>
          <p:cNvPr id="17" name="Rectangle 16"/>
          <p:cNvSpPr/>
          <p:nvPr/>
        </p:nvSpPr>
        <p:spPr>
          <a:xfrm>
            <a:off x="914400" y="5577840"/>
            <a:ext cx="10332720" cy="548640"/>
          </a:xfrm>
          <a:prstGeom prst="rect">
            <a:avLst/>
          </a:prstGeom>
          <a:solidFill>
            <a:srgbClr val="F3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914400" y="5577840"/>
            <a:ext cx="50800" cy="548640"/>
          </a:xfrm>
          <a:prstGeom prst="rect">
            <a:avLst/>
          </a:prstGeom>
          <a:solidFill>
            <a:srgbClr val="A1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1143000" y="5650992"/>
            <a:ext cx="996696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333333"/>
                </a:solidFill>
                <a:latin typeface="Arial"/>
              </a:defRPr>
            </a:pPr>
            <a:r>
              <a:t>OpenAI Codex チーム（3~7人）: 5ヶ月で ~100万行生成、~1,500 PR マージ — 手書きコードゼロ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914400" y="256032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000" b="1">
                <a:solidFill>
                  <a:srgbClr val="000000"/>
                </a:solidFill>
                <a:latin typeface="Arial"/>
              </a:defRPr>
            </a:pPr>
            <a:r>
              <a:t>Q&amp;A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347472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7F7F7F"/>
                </a:solidFill>
                <a:latin typeface="Arial"/>
              </a:defRPr>
            </a:pPr>
            <a:r>
              <a:t>ご質問・ご意見をお待ちしております。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A1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914400" y="228600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400" b="1">
                <a:solidFill>
                  <a:srgbClr val="FFFFFF"/>
                </a:solidFill>
                <a:latin typeface="Arial"/>
              </a:defRPr>
            </a:pPr>
            <a:r>
              <a:t>ありがとうございました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329184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0">
                <a:solidFill>
                  <a:srgbClr val="FFFFFF"/>
                </a:solidFill>
                <a:latin typeface="Arial"/>
              </a:defRPr>
            </a:pPr>
            <a:r>
              <a:t>姜（JIANG）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1169</Words>
  <Application>Microsoft Macintosh PowerPoint</Application>
  <PresentationFormat>Widescreen</PresentationFormat>
  <Paragraphs>273</Paragraphs>
  <Slides>19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2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kuanghuan tan</cp:lastModifiedBy>
  <cp:revision>2</cp:revision>
  <dcterms:created xsi:type="dcterms:W3CDTF">2013-01-27T09:14:16Z</dcterms:created>
  <dcterms:modified xsi:type="dcterms:W3CDTF">2026-04-13T06:54:25Z</dcterms:modified>
  <cp:category/>
</cp:coreProperties>
</file>